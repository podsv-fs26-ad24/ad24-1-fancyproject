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70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B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73353" autoAdjust="0"/>
  </p:normalViewPr>
  <p:slideViewPr>
    <p:cSldViewPr snapToGrid="0">
      <p:cViewPr>
        <p:scale>
          <a:sx n="66" d="100"/>
          <a:sy n="66" d="100"/>
        </p:scale>
        <p:origin x="11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E8F30-5CF5-4EBA-917C-927EC7C5D4B9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5A755-CA7C-4238-969B-E04DCE6C94E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9215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2C22B-E185-9F99-1D89-6B42BBF0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E65BE4-5C5E-D892-AABB-5E16379F6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5431FB1-891F-B74C-2DC3-94D91E963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CF14BE-84B0-D95A-F8F4-9096864FE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5A755-CA7C-4238-969B-E04DCE6C94E5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194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5A755-CA7C-4238-969B-E04DCE6C94E5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693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5233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8780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657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005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378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775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768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9937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317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198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354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5BE3AF6-94EB-4434-A3D6-C2DAFCAB34BB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A117A2E-11F6-439E-A1D2-FC563C50AB1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1551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podsv-fs26-ad24.github.io/ad24-1-fancyproject/story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66705-1B87-4517-6DD4-25B471C8A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" y="1301734"/>
            <a:ext cx="9144000" cy="3464993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Why Do Some Songs Blow Up on </a:t>
            </a:r>
            <a:r>
              <a:rPr lang="en-GB" b="1" dirty="0">
                <a:solidFill>
                  <a:srgbClr val="1DB954"/>
                </a:solidFill>
              </a:rPr>
              <a:t>Spotify</a:t>
            </a:r>
            <a:r>
              <a:rPr lang="en-GB" b="1" dirty="0"/>
              <a:t> While Most Are Never Heard?</a:t>
            </a:r>
            <a:br>
              <a:rPr lang="en-GB" b="1" dirty="0"/>
            </a:b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1697A6-C872-3F22-2AC5-7B8E00C6C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00" y="4441487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GB" sz="1600" dirty="0">
                <a:solidFill>
                  <a:schemeClr val="tx1">
                    <a:lumMod val="75000"/>
                  </a:schemeClr>
                </a:solidFill>
              </a:rPr>
              <a:t>Project-oriented Digital Story Telling</a:t>
            </a:r>
          </a:p>
          <a:p>
            <a:pPr algn="l"/>
            <a:r>
              <a:rPr lang="en-GB" sz="1600" dirty="0">
                <a:solidFill>
                  <a:schemeClr val="tx1">
                    <a:lumMod val="75000"/>
                  </a:schemeClr>
                </a:solidFill>
              </a:rPr>
              <a:t>Cécile Sulzer, Charlotte Windlin, Angelina Zambroni</a:t>
            </a:r>
          </a:p>
          <a:p>
            <a:pPr algn="l"/>
            <a:r>
              <a:rPr lang="en-GB" sz="1600" dirty="0">
                <a:solidFill>
                  <a:schemeClr val="tx1">
                    <a:lumMod val="75000"/>
                  </a:schemeClr>
                </a:solidFill>
              </a:rPr>
              <a:t>1.06.2026</a:t>
            </a:r>
            <a:endParaRPr lang="de-CH" sz="1600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5" name="Grafik 4" descr="Musiknoten mit einfarbiger Füllung">
            <a:extLst>
              <a:ext uri="{FF2B5EF4-FFF2-40B4-BE49-F238E27FC236}">
                <a16:creationId xmlns:a16="http://schemas.microsoft.com/office/drawing/2014/main" id="{A3075171-8DB8-945C-4EAB-5BA6FAFE7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1238417">
            <a:off x="9698216" y="45473"/>
            <a:ext cx="914400" cy="914400"/>
          </a:xfrm>
          <a:prstGeom prst="rect">
            <a:avLst/>
          </a:prstGeom>
        </p:spPr>
      </p:pic>
      <p:pic>
        <p:nvPicPr>
          <p:cNvPr id="6" name="Grafik 5" descr="Musiknoten mit einfarbiger Füllung">
            <a:extLst>
              <a:ext uri="{FF2B5EF4-FFF2-40B4-BE49-F238E27FC236}">
                <a16:creationId xmlns:a16="http://schemas.microsoft.com/office/drawing/2014/main" id="{197CBFD2-AD46-CB8A-D3E1-A35BB3C124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43200" y="-54744"/>
            <a:ext cx="914400" cy="914400"/>
          </a:xfrm>
          <a:prstGeom prst="rect">
            <a:avLst/>
          </a:prstGeom>
        </p:spPr>
      </p:pic>
      <p:pic>
        <p:nvPicPr>
          <p:cNvPr id="7" name="Grafik 6" descr="Musiknoten mit einfarbiger Füllung">
            <a:extLst>
              <a:ext uri="{FF2B5EF4-FFF2-40B4-BE49-F238E27FC236}">
                <a16:creationId xmlns:a16="http://schemas.microsoft.com/office/drawing/2014/main" id="{03513446-7296-A232-3E90-1F3433018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713195">
            <a:off x="11243200" y="844534"/>
            <a:ext cx="914400" cy="914400"/>
          </a:xfrm>
          <a:prstGeom prst="rect">
            <a:avLst/>
          </a:prstGeom>
        </p:spPr>
      </p:pic>
      <p:pic>
        <p:nvPicPr>
          <p:cNvPr id="8" name="Grafik 7" descr="Musiknoten mit einfarbiger Füllung">
            <a:extLst>
              <a:ext uri="{FF2B5EF4-FFF2-40B4-BE49-F238E27FC236}">
                <a16:creationId xmlns:a16="http://schemas.microsoft.com/office/drawing/2014/main" id="{DC4C87A5-5F8F-E12E-D089-B9424E996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1000772">
            <a:off x="11296341" y="1723963"/>
            <a:ext cx="914400" cy="914400"/>
          </a:xfrm>
          <a:prstGeom prst="rect">
            <a:avLst/>
          </a:prstGeom>
        </p:spPr>
      </p:pic>
      <p:pic>
        <p:nvPicPr>
          <p:cNvPr id="9" name="Grafik 8" descr="Musiknoten mit einfarbiger Füllung">
            <a:extLst>
              <a:ext uri="{FF2B5EF4-FFF2-40B4-BE49-F238E27FC236}">
                <a16:creationId xmlns:a16="http://schemas.microsoft.com/office/drawing/2014/main" id="{69F2FC5E-8324-2D28-EF7D-E881EF2BB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205180">
            <a:off x="10478158" y="322643"/>
            <a:ext cx="914400" cy="914400"/>
          </a:xfrm>
          <a:prstGeom prst="rect">
            <a:avLst/>
          </a:prstGeom>
        </p:spPr>
      </p:pic>
      <p:pic>
        <p:nvPicPr>
          <p:cNvPr id="10" name="Grafik 9" descr="Musiknoten mit einfarbiger Füllung">
            <a:extLst>
              <a:ext uri="{FF2B5EF4-FFF2-40B4-BE49-F238E27FC236}">
                <a16:creationId xmlns:a16="http://schemas.microsoft.com/office/drawing/2014/main" id="{2C0BFCE6-717A-4097-5D3C-CEC842E9C8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127997">
            <a:off x="10332635" y="1035747"/>
            <a:ext cx="914400" cy="9144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F9FB12E-6492-CC78-72E6-89DD056E9FDB}"/>
              </a:ext>
            </a:extLst>
          </p:cNvPr>
          <p:cNvCxnSpPr/>
          <p:nvPr/>
        </p:nvCxnSpPr>
        <p:spPr>
          <a:xfrm>
            <a:off x="126380" y="4073912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el 1">
            <a:extLst>
              <a:ext uri="{FF2B5EF4-FFF2-40B4-BE49-F238E27FC236}">
                <a16:creationId xmlns:a16="http://schemas.microsoft.com/office/drawing/2014/main" id="{EAD38F15-9257-1528-A0FA-D767E3A2E8DF}"/>
              </a:ext>
            </a:extLst>
          </p:cNvPr>
          <p:cNvSpPr txBox="1">
            <a:spLocks/>
          </p:cNvSpPr>
          <p:nvPr/>
        </p:nvSpPr>
        <p:spPr>
          <a:xfrm>
            <a:off x="5921483" y="5434467"/>
            <a:ext cx="616058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1DB954"/>
                </a:solidFill>
              </a:rPr>
              <a:t>COLOR: </a:t>
            </a:r>
            <a:r>
              <a:rPr lang="de-CH" dirty="0"/>
              <a:t>#1DB954</a:t>
            </a:r>
            <a:endParaRPr lang="de-CH" dirty="0">
              <a:solidFill>
                <a:srgbClr val="1DB9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64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0FB3C-433C-C94E-803D-F8C322DD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Topic &amp; Main Goal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19068-838E-2A2E-46F7-C00F605C9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Explore the relationship between measurable audio features and track popularity</a:t>
            </a:r>
          </a:p>
          <a:p>
            <a:r>
              <a:rPr lang="en-US" noProof="0" dirty="0"/>
              <a:t>Compare how audio profiles differ across music genres</a:t>
            </a:r>
          </a:p>
          <a:p>
            <a:r>
              <a:rPr lang="en-US" noProof="0" dirty="0"/>
              <a:t>Identify what a "popular" song sounds like, and how that varies by genre</a:t>
            </a:r>
          </a:p>
          <a:p>
            <a:endParaRPr lang="en-US" noProof="0" dirty="0"/>
          </a:p>
          <a:p>
            <a:pPr marL="0" indent="0">
              <a:buNone/>
            </a:pPr>
            <a:r>
              <a:rPr lang="en-US" noProof="0" dirty="0">
                <a:solidFill>
                  <a:srgbClr val="1DB954"/>
                </a:solidFill>
              </a:rPr>
              <a:t>Central question: </a:t>
            </a:r>
            <a:r>
              <a:rPr lang="en-US" i="1" noProof="0" dirty="0">
                <a:solidFill>
                  <a:srgbClr val="1DB954"/>
                </a:solidFill>
              </a:rPr>
              <a:t>What makes a Spotify track popular?</a:t>
            </a:r>
            <a:endParaRPr lang="en-US" noProof="0" dirty="0">
              <a:solidFill>
                <a:srgbClr val="1DB954"/>
              </a:solidFill>
            </a:endParaRPr>
          </a:p>
          <a:p>
            <a:endParaRPr lang="en-US" noProof="0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5F704FE-829E-1A15-7EA5-73D1F6AAD58C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05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011A-D973-DA55-2675-657F635FA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0E45A-E9EE-7EDF-64DC-4E5E43B6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Group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826766E-7025-5838-7D98-A96BF97B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210" y="942595"/>
            <a:ext cx="5157787" cy="4972810"/>
          </a:xfrm>
        </p:spPr>
        <p:txBody>
          <a:bodyPr>
            <a:normAutofit/>
          </a:bodyPr>
          <a:lstStyle/>
          <a:p>
            <a:r>
              <a:rPr lang="en-GB" b="0" dirty="0">
                <a:solidFill>
                  <a:srgbClr val="1DB954"/>
                </a:solidFill>
              </a:rPr>
              <a:t>Casual music fans </a:t>
            </a:r>
          </a:p>
          <a:p>
            <a:endParaRPr lang="en-GB" b="0" dirty="0">
              <a:solidFill>
                <a:srgbClr val="1DB954"/>
              </a:solidFill>
            </a:endParaRPr>
          </a:p>
          <a:p>
            <a:r>
              <a:rPr lang="en-GB" dirty="0"/>
              <a:t>Lena Bachmann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Communication design student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Daily Spotify listener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No coding or data 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Wants to understand why some songs blow up</a:t>
            </a:r>
            <a:endParaRPr lang="de-CH" b="0" dirty="0"/>
          </a:p>
          <a:p>
            <a:endParaRPr lang="en-GB" b="0" dirty="0">
              <a:solidFill>
                <a:srgbClr val="1DB954"/>
              </a:solidFill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89E46DF3-637F-1051-360E-B5E0F222914A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Young girl student smiling against university. | Premium Photo">
            <a:extLst>
              <a:ext uri="{FF2B5EF4-FFF2-40B4-BE49-F238E27FC236}">
                <a16:creationId xmlns:a16="http://schemas.microsoft.com/office/drawing/2014/main" id="{672FDDBF-73A0-7942-E526-8E68BCBD6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20" y="1943480"/>
            <a:ext cx="5962650" cy="39719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9E90CBF-469C-5BD9-1848-03CD30F3B829}"/>
              </a:ext>
            </a:extLst>
          </p:cNvPr>
          <p:cNvSpPr txBox="1"/>
          <p:nvPr/>
        </p:nvSpPr>
        <p:spPr>
          <a:xfrm>
            <a:off x="276662" y="6045086"/>
            <a:ext cx="5918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/>
              <a:t>https://www.magnific.com/premium-photo/young-girl-student-smiling-against-university_5670223.html</a:t>
            </a:r>
          </a:p>
        </p:txBody>
      </p:sp>
    </p:spTree>
    <p:extLst>
      <p:ext uri="{BB962C8B-B14F-4D97-AF65-F5344CB8AC3E}">
        <p14:creationId xmlns:p14="http://schemas.microsoft.com/office/powerpoint/2010/main" val="148470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358F4-22A1-15AE-BF5C-734017E5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Group</a:t>
            </a:r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7C3A20E-1F10-DBB6-EB5E-1D9469FC8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1526" y="823423"/>
            <a:ext cx="5183188" cy="4999398"/>
          </a:xfrm>
        </p:spPr>
        <p:txBody>
          <a:bodyPr>
            <a:normAutofit/>
          </a:bodyPr>
          <a:lstStyle/>
          <a:p>
            <a:r>
              <a:rPr lang="en-GB" b="0" dirty="0">
                <a:solidFill>
                  <a:srgbClr val="1DB954"/>
                </a:solidFill>
              </a:rPr>
              <a:t>Independent / bedroom musicians </a:t>
            </a:r>
          </a:p>
          <a:p>
            <a:endParaRPr lang="en-GB" b="0" dirty="0">
              <a:solidFill>
                <a:srgbClr val="1DB954"/>
              </a:solidFill>
            </a:endParaRPr>
          </a:p>
          <a:p>
            <a:r>
              <a:rPr lang="en-GB" dirty="0"/>
              <a:t>Jonas Müller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Bedroom electronic music producer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Releases on SoundCloud and Spotify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0" dirty="0"/>
              <a:t>No data science background</a:t>
            </a:r>
          </a:p>
          <a:p>
            <a:endParaRPr lang="en-GB" b="0" dirty="0">
              <a:solidFill>
                <a:srgbClr val="1DB954"/>
              </a:solidFill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DC311B0-F224-C9D3-2939-AD6CAAFC44FD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B78F14-FFE0-E380-89F5-047ACDB66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33" y="1990778"/>
            <a:ext cx="5904000" cy="39379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77B52107-EE2B-3A6B-EDB5-4AD175A1F884}"/>
              </a:ext>
            </a:extLst>
          </p:cNvPr>
          <p:cNvSpPr txBox="1"/>
          <p:nvPr/>
        </p:nvSpPr>
        <p:spPr>
          <a:xfrm>
            <a:off x="1005732" y="6105678"/>
            <a:ext cx="46346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/>
              <a:t>https://www.digitalmusicnews.com/2021/10/29/how-to-record-music-at-home/</a:t>
            </a:r>
          </a:p>
        </p:txBody>
      </p:sp>
    </p:spTree>
    <p:extLst>
      <p:ext uri="{BB962C8B-B14F-4D97-AF65-F5344CB8AC3E}">
        <p14:creationId xmlns:p14="http://schemas.microsoft.com/office/powerpoint/2010/main" val="123288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8613F-78DB-A83A-55C7-62C0F1F5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Narrative Elements 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148F8E-F95F-C22E-D68D-B51D8B81B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1DB954"/>
                </a:solidFill>
              </a:rPr>
              <a:t>Narrator: </a:t>
            </a:r>
            <a:r>
              <a:rPr lang="en-GB" dirty="0"/>
              <a:t>Editorial voice, causal framing, credibility close</a:t>
            </a:r>
          </a:p>
          <a:p>
            <a:pPr marL="0" indent="0">
              <a:buNone/>
            </a:pPr>
            <a:endParaRPr lang="en-GB" dirty="0"/>
          </a:p>
          <a:p>
            <a:r>
              <a:rPr lang="de-CH" dirty="0">
                <a:solidFill>
                  <a:srgbClr val="1DB954"/>
                </a:solidFill>
              </a:rPr>
              <a:t>Space &amp; Time: </a:t>
            </a:r>
            <a:r>
              <a:rPr lang="en-GB" dirty="0"/>
              <a:t>mood map, radar chart, popularity as time proxy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 err="1">
                <a:solidFill>
                  <a:srgbClr val="1DB954"/>
                </a:solidFill>
              </a:rPr>
              <a:t>Sequentiality</a:t>
            </a:r>
            <a:r>
              <a:rPr lang="de-CH" dirty="0">
                <a:solidFill>
                  <a:srgbClr val="1DB954"/>
                </a:solidFill>
              </a:rPr>
              <a:t>:</a:t>
            </a:r>
            <a:r>
              <a:rPr lang="de-CH" dirty="0"/>
              <a:t> </a:t>
            </a:r>
            <a:r>
              <a:rPr lang="en-GB" dirty="0"/>
              <a:t>Martini-Glass: linear scroll → reader exploration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 err="1">
                <a:solidFill>
                  <a:srgbClr val="1DB954"/>
                </a:solidFill>
              </a:rPr>
              <a:t>Tellability</a:t>
            </a:r>
            <a:r>
              <a:rPr lang="de-CH" dirty="0">
                <a:solidFill>
                  <a:srgbClr val="1DB954"/>
                </a:solidFill>
              </a:rPr>
              <a:t>: </a:t>
            </a:r>
            <a:r>
              <a:rPr lang="de-CH" dirty="0"/>
              <a:t>happy ≠ </a:t>
            </a:r>
            <a:r>
              <a:rPr lang="de-CH" dirty="0" err="1"/>
              <a:t>popular</a:t>
            </a:r>
            <a:r>
              <a:rPr lang="de-CH" dirty="0"/>
              <a:t>", personas, </a:t>
            </a:r>
            <a:r>
              <a:rPr lang="de-CH" dirty="0" err="1"/>
              <a:t>participatory</a:t>
            </a:r>
            <a:r>
              <a:rPr lang="de-CH" dirty="0"/>
              <a:t> </a:t>
            </a:r>
            <a:r>
              <a:rPr lang="de-CH" dirty="0" err="1"/>
              <a:t>slider</a:t>
            </a:r>
            <a:endParaRPr lang="de-CH" dirty="0"/>
          </a:p>
          <a:p>
            <a:endParaRPr lang="de-CH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D36321B-A43F-3CAF-B376-F4016724475B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26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8A301-862B-0CAB-3E00-29E9EB90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Feedback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228FB6-22B6-368D-F7E1-9677C9A85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NUR PROBEPRSÄSI</a:t>
            </a:r>
            <a:endParaRPr lang="de-CH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7F08056-383C-524B-7935-B6C988D61BBB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55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9FA99-FF8F-94B6-88E4-6B32F52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Dataset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C563FD-5B93-FF7F-9BED-8114D0FE3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CH" dirty="0"/>
              <a:t>Source: </a:t>
            </a:r>
            <a:r>
              <a:rPr lang="de-CH" dirty="0" err="1"/>
              <a:t>Kaggle</a:t>
            </a:r>
            <a:r>
              <a:rPr lang="de-CH" dirty="0"/>
              <a:t> — Spotify Tracks Dataset</a:t>
            </a:r>
          </a:p>
          <a:p>
            <a:pPr>
              <a:lnSpc>
                <a:spcPct val="100000"/>
              </a:lnSpc>
            </a:pPr>
            <a:r>
              <a:rPr lang="de-CH" dirty="0"/>
              <a:t>114,000 </a:t>
            </a:r>
            <a:r>
              <a:rPr lang="de-CH" dirty="0" err="1"/>
              <a:t>tracks</a:t>
            </a:r>
            <a:r>
              <a:rPr lang="de-CH" dirty="0"/>
              <a:t> </a:t>
            </a:r>
            <a:r>
              <a:rPr lang="de-CH" dirty="0" err="1"/>
              <a:t>across</a:t>
            </a:r>
            <a:r>
              <a:rPr lang="de-CH" dirty="0"/>
              <a:t> 113 </a:t>
            </a:r>
            <a:r>
              <a:rPr lang="de-CH" dirty="0" err="1"/>
              <a:t>genres</a:t>
            </a:r>
            <a:r>
              <a:rPr lang="de-CH" dirty="0"/>
              <a:t> (89,741 after </a:t>
            </a:r>
            <a:r>
              <a:rPr lang="de-CH" dirty="0" err="1"/>
              <a:t>deduplication</a:t>
            </a:r>
            <a:r>
              <a:rPr lang="de-CH" dirty="0"/>
              <a:t>)</a:t>
            </a:r>
          </a:p>
          <a:p>
            <a:pPr>
              <a:lnSpc>
                <a:spcPct val="100000"/>
              </a:lnSpc>
            </a:pPr>
            <a:r>
              <a:rPr lang="de-CH" dirty="0"/>
              <a:t>Target variable: </a:t>
            </a:r>
            <a:r>
              <a:rPr lang="de-CH" dirty="0" err="1">
                <a:solidFill>
                  <a:srgbClr val="1DB954"/>
                </a:solidFill>
              </a:rPr>
              <a:t>Popularity</a:t>
            </a:r>
            <a:r>
              <a:rPr lang="de-CH" dirty="0"/>
              <a:t> (Spotify score 0–100)</a:t>
            </a:r>
          </a:p>
          <a:p>
            <a:pPr>
              <a:lnSpc>
                <a:spcPct val="100000"/>
              </a:lnSpc>
            </a:pPr>
            <a:r>
              <a:rPr lang="de-CH" dirty="0"/>
              <a:t>9 </a:t>
            </a:r>
            <a:r>
              <a:rPr lang="de-CH" dirty="0" err="1"/>
              <a:t>audio</a:t>
            </a:r>
            <a:r>
              <a:rPr lang="de-CH" dirty="0"/>
              <a:t> </a:t>
            </a:r>
            <a:r>
              <a:rPr lang="de-CH" dirty="0" err="1"/>
              <a:t>features</a:t>
            </a:r>
            <a:r>
              <a:rPr lang="de-CH" dirty="0"/>
              <a:t> per track:</a:t>
            </a:r>
          </a:p>
          <a:p>
            <a:pPr lvl="1">
              <a:lnSpc>
                <a:spcPct val="100000"/>
              </a:lnSpc>
            </a:pPr>
            <a:r>
              <a:rPr lang="de-CH" dirty="0" err="1">
                <a:solidFill>
                  <a:srgbClr val="1DB954"/>
                </a:solidFill>
              </a:rPr>
              <a:t>Danceability</a:t>
            </a:r>
            <a:r>
              <a:rPr lang="de-CH" dirty="0">
                <a:solidFill>
                  <a:srgbClr val="1DB954"/>
                </a:solidFill>
              </a:rPr>
              <a:t>, Energy, </a:t>
            </a:r>
            <a:r>
              <a:rPr lang="de-CH" dirty="0" err="1">
                <a:solidFill>
                  <a:srgbClr val="1DB954"/>
                </a:solidFill>
              </a:rPr>
              <a:t>Loudness</a:t>
            </a:r>
            <a:r>
              <a:rPr lang="de-CH" dirty="0">
                <a:solidFill>
                  <a:srgbClr val="1DB954"/>
                </a:solidFill>
              </a:rPr>
              <a:t>, Valence</a:t>
            </a:r>
          </a:p>
          <a:p>
            <a:pPr lvl="1">
              <a:lnSpc>
                <a:spcPct val="100000"/>
              </a:lnSpc>
            </a:pPr>
            <a:r>
              <a:rPr lang="de-CH" dirty="0" err="1">
                <a:solidFill>
                  <a:srgbClr val="1DB954"/>
                </a:solidFill>
              </a:rPr>
              <a:t>Acousticness</a:t>
            </a:r>
            <a:r>
              <a:rPr lang="de-CH" dirty="0">
                <a:solidFill>
                  <a:srgbClr val="1DB954"/>
                </a:solidFill>
              </a:rPr>
              <a:t>, Instrumentalness, </a:t>
            </a:r>
            <a:r>
              <a:rPr lang="de-CH" dirty="0" err="1">
                <a:solidFill>
                  <a:srgbClr val="1DB954"/>
                </a:solidFill>
              </a:rPr>
              <a:t>Speechiness</a:t>
            </a:r>
            <a:endParaRPr lang="de-CH" dirty="0">
              <a:solidFill>
                <a:srgbClr val="1DB954"/>
              </a:solidFill>
            </a:endParaRPr>
          </a:p>
          <a:p>
            <a:pPr lvl="1">
              <a:lnSpc>
                <a:spcPct val="100000"/>
              </a:lnSpc>
            </a:pPr>
            <a:r>
              <a:rPr lang="de-CH" dirty="0" err="1">
                <a:solidFill>
                  <a:srgbClr val="1DB954"/>
                </a:solidFill>
              </a:rPr>
              <a:t>Liveness</a:t>
            </a:r>
            <a:r>
              <a:rPr lang="de-CH" dirty="0">
                <a:solidFill>
                  <a:srgbClr val="1DB954"/>
                </a:solidFill>
              </a:rPr>
              <a:t>, Tempo</a:t>
            </a:r>
          </a:p>
          <a:p>
            <a:pPr>
              <a:lnSpc>
                <a:spcPct val="100000"/>
              </a:lnSpc>
            </a:pPr>
            <a:r>
              <a:rPr lang="de-CH" dirty="0" err="1"/>
              <a:t>No</a:t>
            </a:r>
            <a:r>
              <a:rPr lang="de-CH" dirty="0"/>
              <a:t> release date → </a:t>
            </a:r>
            <a:r>
              <a:rPr lang="de-CH" dirty="0" err="1"/>
              <a:t>analysis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a </a:t>
            </a:r>
            <a:r>
              <a:rPr lang="de-CH" dirty="0" err="1"/>
              <a:t>snapshot</a:t>
            </a:r>
            <a:r>
              <a:rPr lang="de-CH" dirty="0"/>
              <a:t>, not a time </a:t>
            </a:r>
            <a:r>
              <a:rPr lang="de-CH" dirty="0" err="1"/>
              <a:t>series</a:t>
            </a:r>
            <a:endParaRPr lang="de-CH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D89F930C-FF3F-186B-0EE8-E56E392FCBA5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65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068C5-CE27-717B-588A-ACA75AE0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Findings</a:t>
            </a:r>
            <a:endParaRPr lang="de-CH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77179A5-05A8-9EDA-0EC6-B1B44850FE6B}"/>
              </a:ext>
            </a:extLst>
          </p:cNvPr>
          <p:cNvCxnSpPr/>
          <p:nvPr/>
        </p:nvCxnSpPr>
        <p:spPr>
          <a:xfrm>
            <a:off x="3436159" y="3901526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38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40C109-3D2F-5751-18B3-4B55BC11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1DB954"/>
                </a:solidFill>
              </a:rPr>
              <a:t>Finding 01</a:t>
            </a:r>
            <a:br>
              <a:rPr lang="en-GB" dirty="0"/>
            </a:br>
            <a:r>
              <a:rPr lang="en-GB" dirty="0"/>
              <a:t>Most Songs Are Never Heard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DBCBEE-EE63-E044-BCB7-52BF954D2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DIAGRAMM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7132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2C969-6F50-6F34-D676-41237C9C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1DB954"/>
                </a:solidFill>
              </a:rPr>
              <a:t>Finding 02</a:t>
            </a:r>
            <a:br>
              <a:rPr lang="en-GB" dirty="0"/>
            </a:br>
            <a:r>
              <a:rPr lang="en-GB" dirty="0"/>
              <a:t>Audio Features Don’t Predict Popularity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D9E4DA-1B81-F383-C776-21374B43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DIAGRAMM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718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0CB40-2787-8754-84DF-09F547FE9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46633" cy="1325563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1DB954"/>
                </a:solidFill>
              </a:rPr>
              <a:t>Finding 03</a:t>
            </a:r>
            <a:br>
              <a:rPr lang="en-GB" dirty="0"/>
            </a:br>
            <a:r>
              <a:rPr lang="en-GB" dirty="0"/>
              <a:t>Genres Have Radically Different Audio Profiles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076416-AD19-B5F2-AE15-5B01CEBF9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DIAGRAMM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98310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5DA78-6992-B526-134A-ED6C9315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1DB954"/>
                </a:solidFill>
              </a:rPr>
              <a:t>Finding 04</a:t>
            </a:r>
            <a:br>
              <a:rPr lang="en-GB" dirty="0"/>
            </a:br>
            <a:r>
              <a:rPr lang="en-GB" dirty="0"/>
              <a:t>Hit vs. Non-Hits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F3AF14-34C0-CA25-1321-4AD3BE68C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DIAGRAMM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50283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BC296F-7263-B69A-D0BD-85ED936FB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1DB954"/>
                </a:solidFill>
              </a:rPr>
              <a:t>Additional Feature</a:t>
            </a:r>
            <a:br>
              <a:rPr lang="en-GB" dirty="0"/>
            </a:br>
            <a:r>
              <a:rPr lang="en-GB" dirty="0"/>
              <a:t>What Would Your Song Score?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E60E7F-51E5-7D9C-7754-47E744965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how it works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9224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2C6830-D2FE-A8CF-9A18-045593FDC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Technicalities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55CCA2-F31D-CB44-2398-5EC54F62C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CH" b="1" dirty="0"/>
              <a:t>Language:</a:t>
            </a:r>
            <a:r>
              <a:rPr lang="de-CH" dirty="0"/>
              <a:t> Python </a:t>
            </a:r>
          </a:p>
          <a:p>
            <a:pPr>
              <a:lnSpc>
                <a:spcPct val="100000"/>
              </a:lnSpc>
            </a:pPr>
            <a:r>
              <a:rPr lang="de-CH" b="1" dirty="0"/>
              <a:t>Data </a:t>
            </a:r>
            <a:r>
              <a:rPr lang="de-CH" b="1" dirty="0" err="1"/>
              <a:t>processing</a:t>
            </a:r>
            <a:r>
              <a:rPr lang="de-CH" b="1" dirty="0"/>
              <a:t>:</a:t>
            </a:r>
            <a:r>
              <a:rPr lang="de-CH" dirty="0"/>
              <a:t> </a:t>
            </a:r>
            <a:r>
              <a:rPr lang="de-CH" dirty="0" err="1"/>
              <a:t>pandas</a:t>
            </a:r>
            <a:r>
              <a:rPr lang="de-CH" dirty="0"/>
              <a:t>, </a:t>
            </a:r>
            <a:r>
              <a:rPr lang="de-CH" dirty="0" err="1"/>
              <a:t>seaborn</a:t>
            </a:r>
            <a:r>
              <a:rPr lang="de-CH" dirty="0"/>
              <a:t>, </a:t>
            </a:r>
            <a:r>
              <a:rPr lang="de-CH" dirty="0" err="1"/>
              <a:t>matplotlib</a:t>
            </a:r>
            <a:endParaRPr lang="de-CH" dirty="0"/>
          </a:p>
          <a:p>
            <a:pPr>
              <a:lnSpc>
                <a:spcPct val="100000"/>
              </a:lnSpc>
            </a:pPr>
            <a:r>
              <a:rPr lang="de-CH" b="1" dirty="0" err="1"/>
              <a:t>Visualizations</a:t>
            </a:r>
            <a:r>
              <a:rPr lang="de-CH" b="1" dirty="0"/>
              <a:t>:</a:t>
            </a:r>
            <a:r>
              <a:rPr lang="de-CH" dirty="0"/>
              <a:t> Bokeh - </a:t>
            </a:r>
            <a:r>
              <a:rPr lang="de-CH" dirty="0" err="1"/>
              <a:t>interactive</a:t>
            </a:r>
            <a:r>
              <a:rPr lang="de-CH" dirty="0"/>
              <a:t> </a:t>
            </a:r>
            <a:r>
              <a:rPr lang="de-CH" dirty="0" err="1"/>
              <a:t>charts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JS </a:t>
            </a:r>
            <a:r>
              <a:rPr lang="de-CH" dirty="0" err="1"/>
              <a:t>callbacks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server</a:t>
            </a:r>
            <a:r>
              <a:rPr lang="de-CH" dirty="0"/>
              <a:t> </a:t>
            </a:r>
            <a:r>
              <a:rPr lang="de-CH" dirty="0" err="1"/>
              <a:t>needed</a:t>
            </a:r>
            <a:endParaRPr lang="de-CH" dirty="0"/>
          </a:p>
          <a:p>
            <a:pPr>
              <a:lnSpc>
                <a:spcPct val="100000"/>
              </a:lnSpc>
            </a:pPr>
            <a:r>
              <a:rPr lang="de-CH" b="1" dirty="0"/>
              <a:t>Publishing:</a:t>
            </a:r>
            <a:r>
              <a:rPr lang="de-CH" dirty="0"/>
              <a:t> Quarto - </a:t>
            </a:r>
            <a:r>
              <a:rPr lang="de-CH" dirty="0" err="1"/>
              <a:t>static</a:t>
            </a:r>
            <a:r>
              <a:rPr lang="de-CH" dirty="0"/>
              <a:t> </a:t>
            </a:r>
            <a:r>
              <a:rPr lang="de-CH" dirty="0" err="1"/>
              <a:t>site</a:t>
            </a:r>
            <a:r>
              <a:rPr lang="de-CH" dirty="0"/>
              <a:t> </a:t>
            </a:r>
            <a:r>
              <a:rPr lang="de-CH" dirty="0" err="1"/>
              <a:t>deployed</a:t>
            </a:r>
            <a:r>
              <a:rPr lang="de-CH" dirty="0"/>
              <a:t> on GitHub Pages</a:t>
            </a:r>
          </a:p>
          <a:p>
            <a:pPr>
              <a:lnSpc>
                <a:spcPct val="100000"/>
              </a:lnSpc>
            </a:pPr>
            <a:r>
              <a:rPr lang="de-CH" b="1" dirty="0" err="1"/>
              <a:t>Interactivity</a:t>
            </a:r>
            <a:r>
              <a:rPr lang="de-CH" b="1" dirty="0"/>
              <a:t>:</a:t>
            </a:r>
            <a:r>
              <a:rPr lang="de-CH" dirty="0"/>
              <a:t> Bokeh </a:t>
            </a:r>
            <a:r>
              <a:rPr lang="de-CH" dirty="0" err="1"/>
              <a:t>widgets</a:t>
            </a:r>
            <a:r>
              <a:rPr lang="de-CH" dirty="0"/>
              <a:t> </a:t>
            </a:r>
            <a:r>
              <a:rPr lang="de-CH" dirty="0" err="1"/>
              <a:t>run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browser</a:t>
            </a:r>
            <a:r>
              <a:rPr lang="de-CH" dirty="0"/>
              <a:t> via </a:t>
            </a:r>
            <a:r>
              <a:rPr lang="de-CH" dirty="0" err="1"/>
              <a:t>BokehJS</a:t>
            </a:r>
            <a:endParaRPr lang="de-CH" dirty="0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87BE949-7CB5-BCDB-0419-F40E9F653B10}"/>
              </a:ext>
            </a:extLst>
          </p:cNvPr>
          <p:cNvCxnSpPr/>
          <p:nvPr/>
        </p:nvCxnSpPr>
        <p:spPr>
          <a:xfrm>
            <a:off x="928354" y="1420653"/>
            <a:ext cx="5709425" cy="0"/>
          </a:xfrm>
          <a:prstGeom prst="line">
            <a:avLst/>
          </a:prstGeom>
          <a:ln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7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85232-E416-B727-6F12-39905DC1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46" y="1693889"/>
            <a:ext cx="10515600" cy="1927198"/>
          </a:xfrm>
        </p:spPr>
        <p:txBody>
          <a:bodyPr>
            <a:normAutofit/>
          </a:bodyPr>
          <a:lstStyle/>
          <a:p>
            <a:r>
              <a:rPr lang="en-GB" sz="5400" dirty="0"/>
              <a:t>The data tells a </a:t>
            </a:r>
            <a:r>
              <a:rPr lang="en-GB" sz="5400" dirty="0">
                <a:solidFill>
                  <a:srgbClr val="1DB954"/>
                </a:solidFill>
              </a:rPr>
              <a:t>consistent story</a:t>
            </a:r>
            <a:r>
              <a:rPr lang="en-GB" sz="5400" dirty="0"/>
              <a:t>,</a:t>
            </a:r>
            <a:br>
              <a:rPr lang="en-GB" sz="5400" dirty="0"/>
            </a:br>
            <a:r>
              <a:rPr lang="en-GB" sz="5400" dirty="0"/>
              <a:t>but not the one most people expect</a:t>
            </a:r>
            <a:endParaRPr lang="de-CH" sz="54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0195C9-82D9-A8C5-0702-ABC1FEB3E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490" y="4656918"/>
            <a:ext cx="10515600" cy="1500187"/>
          </a:xfrm>
        </p:spPr>
        <p:txBody>
          <a:bodyPr/>
          <a:lstStyle/>
          <a:p>
            <a:r>
              <a:rPr lang="de-CH" dirty="0">
                <a:solidFill>
                  <a:srgbClr val="1DB95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https://podsv-fs26-ad24.github.io/ad24-1-fancyproject/story.html</a:t>
            </a:r>
            <a:endParaRPr lang="de-CH" dirty="0">
              <a:solidFill>
                <a:srgbClr val="1DB954"/>
              </a:solidFill>
            </a:endParaRPr>
          </a:p>
          <a:p>
            <a:endParaRPr lang="de-CH" dirty="0"/>
          </a:p>
        </p:txBody>
      </p:sp>
      <p:pic>
        <p:nvPicPr>
          <p:cNvPr id="4" name="Grafik 3" descr="Musiknoten mit einfarbiger Füllung">
            <a:extLst>
              <a:ext uri="{FF2B5EF4-FFF2-40B4-BE49-F238E27FC236}">
                <a16:creationId xmlns:a16="http://schemas.microsoft.com/office/drawing/2014/main" id="{15276533-4B85-A83C-65BB-20F080C41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38417">
            <a:off x="9698216" y="45473"/>
            <a:ext cx="914400" cy="914400"/>
          </a:xfrm>
          <a:prstGeom prst="rect">
            <a:avLst/>
          </a:prstGeom>
        </p:spPr>
      </p:pic>
      <p:pic>
        <p:nvPicPr>
          <p:cNvPr id="5" name="Grafik 4" descr="Musiknoten mit einfarbiger Füllung">
            <a:extLst>
              <a:ext uri="{FF2B5EF4-FFF2-40B4-BE49-F238E27FC236}">
                <a16:creationId xmlns:a16="http://schemas.microsoft.com/office/drawing/2014/main" id="{D89146A2-F3C8-E847-7B89-4D9A1ECF7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3200" y="-54744"/>
            <a:ext cx="914400" cy="914400"/>
          </a:xfrm>
          <a:prstGeom prst="rect">
            <a:avLst/>
          </a:prstGeom>
        </p:spPr>
      </p:pic>
      <p:pic>
        <p:nvPicPr>
          <p:cNvPr id="6" name="Grafik 5" descr="Musiknoten mit einfarbiger Füllung">
            <a:extLst>
              <a:ext uri="{FF2B5EF4-FFF2-40B4-BE49-F238E27FC236}">
                <a16:creationId xmlns:a16="http://schemas.microsoft.com/office/drawing/2014/main" id="{4E4F0334-B7F6-2F94-2796-7A2E0FAFD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13195">
            <a:off x="11243200" y="844534"/>
            <a:ext cx="914400" cy="914400"/>
          </a:xfrm>
          <a:prstGeom prst="rect">
            <a:avLst/>
          </a:prstGeom>
        </p:spPr>
      </p:pic>
      <p:pic>
        <p:nvPicPr>
          <p:cNvPr id="7" name="Grafik 6" descr="Musiknoten mit einfarbiger Füllung">
            <a:extLst>
              <a:ext uri="{FF2B5EF4-FFF2-40B4-BE49-F238E27FC236}">
                <a16:creationId xmlns:a16="http://schemas.microsoft.com/office/drawing/2014/main" id="{07B435AE-1BD4-D7E4-008B-E6110FA2B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00772">
            <a:off x="11296341" y="1723963"/>
            <a:ext cx="914400" cy="914400"/>
          </a:xfrm>
          <a:prstGeom prst="rect">
            <a:avLst/>
          </a:prstGeom>
        </p:spPr>
      </p:pic>
      <p:pic>
        <p:nvPicPr>
          <p:cNvPr id="8" name="Grafik 7" descr="Musiknoten mit einfarbiger Füllung">
            <a:extLst>
              <a:ext uri="{FF2B5EF4-FFF2-40B4-BE49-F238E27FC236}">
                <a16:creationId xmlns:a16="http://schemas.microsoft.com/office/drawing/2014/main" id="{81F26034-2CBA-E56F-6C84-DF0005BF8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05180">
            <a:off x="10478158" y="322643"/>
            <a:ext cx="914400" cy="914400"/>
          </a:xfrm>
          <a:prstGeom prst="rect">
            <a:avLst/>
          </a:prstGeom>
        </p:spPr>
      </p:pic>
      <p:pic>
        <p:nvPicPr>
          <p:cNvPr id="9" name="Grafik 8" descr="Musiknoten mit einfarbiger Füllung">
            <a:extLst>
              <a:ext uri="{FF2B5EF4-FFF2-40B4-BE49-F238E27FC236}">
                <a16:creationId xmlns:a16="http://schemas.microsoft.com/office/drawing/2014/main" id="{FC29ABDA-5BCD-721A-EEA9-CCF85FF64E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27997">
            <a:off x="10332635" y="10357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44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389</Words>
  <Application>Microsoft Office PowerPoint</Application>
  <PresentationFormat>Breitbild</PresentationFormat>
  <Paragraphs>68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Why Do Some Songs Blow Up on Spotify While Most Are Never Heard? </vt:lpstr>
      <vt:lpstr>Topic &amp; Main Goal</vt:lpstr>
      <vt:lpstr>Target Group</vt:lpstr>
      <vt:lpstr>Target Group</vt:lpstr>
      <vt:lpstr>Narrative Elements </vt:lpstr>
      <vt:lpstr>Feedback</vt:lpstr>
      <vt:lpstr>The Dataset</vt:lpstr>
      <vt:lpstr>Findings</vt:lpstr>
      <vt:lpstr>Finding 01 Most Songs Are Never Heard</vt:lpstr>
      <vt:lpstr>Finding 02 Audio Features Don’t Predict Popularity</vt:lpstr>
      <vt:lpstr>Finding 03 Genres Have Radically Different Audio Profiles</vt:lpstr>
      <vt:lpstr>Finding 04 Hit vs. Non-Hits</vt:lpstr>
      <vt:lpstr>Additional Feature What Would Your Song Score?</vt:lpstr>
      <vt:lpstr>Technicalities</vt:lpstr>
      <vt:lpstr>The data tells a consistent story, but not the one most people expect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Zambroni Angelina (zambrang)</dc:creator>
  <cp:lastModifiedBy>Zambroni Angelina (zambrang)</cp:lastModifiedBy>
  <cp:revision>3</cp:revision>
  <dcterms:created xsi:type="dcterms:W3CDTF">2026-05-04T12:58:02Z</dcterms:created>
  <dcterms:modified xsi:type="dcterms:W3CDTF">2026-05-08T10:15:19Z</dcterms:modified>
</cp:coreProperties>
</file>