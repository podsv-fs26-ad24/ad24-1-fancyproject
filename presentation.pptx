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9" r:id="rId8"/>
    <p:sldId id="263" r:id="rId9"/>
    <p:sldId id="264" r:id="rId10"/>
    <p:sldId id="265" r:id="rId11"/>
    <p:sldId id="266" r:id="rId12"/>
    <p:sldId id="270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B9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0" autoAdjust="0"/>
    <p:restoredTop sz="94660"/>
  </p:normalViewPr>
  <p:slideViewPr>
    <p:cSldViewPr snapToGrid="0">
      <p:cViewPr varScale="1">
        <p:scale>
          <a:sx n="85" d="100"/>
          <a:sy n="85" d="100"/>
        </p:scale>
        <p:origin x="476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06.05.2026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52338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06.05.2026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87802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06.05.2026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657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06.05.2026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0055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06.05.2026</a:t>
            </a:fld>
            <a:endParaRPr lang="de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3780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06.05.2026</a:t>
            </a:fld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17758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06.05.2026</a:t>
            </a:fld>
            <a:endParaRPr lang="de-C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7680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06.05.2026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99374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06.05.2026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73178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06.05.2026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91980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06.05.2026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63541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45BE3AF6-94EB-4434-A3D6-C2DAFCAB34BB}" type="datetimeFigureOut">
              <a:rPr lang="de-CH" smtClean="0"/>
              <a:t>06.05.2026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415512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hyperlink" Target="https://podsv-fs26-ad24.github.io/ad24-1-fancyproject/story.html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C66705-1B87-4517-6DD4-25B471C8A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159" y="1301734"/>
            <a:ext cx="9144000" cy="3464993"/>
          </a:xfrm>
        </p:spPr>
        <p:txBody>
          <a:bodyPr>
            <a:normAutofit/>
          </a:bodyPr>
          <a:lstStyle/>
          <a:p>
            <a:pPr algn="l"/>
            <a:r>
              <a:rPr lang="en-GB" b="1" dirty="0"/>
              <a:t>Why Do Some Songs Blow Up on </a:t>
            </a:r>
            <a:r>
              <a:rPr lang="en-GB" b="1" dirty="0">
                <a:solidFill>
                  <a:srgbClr val="1DB954"/>
                </a:solidFill>
              </a:rPr>
              <a:t>Spotify</a:t>
            </a:r>
            <a:r>
              <a:rPr lang="en-GB" b="1" dirty="0"/>
              <a:t> While Most Are Never Heard?</a:t>
            </a:r>
            <a:br>
              <a:rPr lang="en-GB" b="1" dirty="0"/>
            </a:br>
            <a:endParaRPr lang="de-CH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51697A6-C872-3F22-2AC5-7B8E00C6C2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400" y="4441487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GB" sz="1600" dirty="0">
                <a:solidFill>
                  <a:schemeClr val="tx1">
                    <a:lumMod val="75000"/>
                  </a:schemeClr>
                </a:solidFill>
              </a:rPr>
              <a:t>Project-oriented Digital Story Telling</a:t>
            </a:r>
          </a:p>
          <a:p>
            <a:pPr algn="l"/>
            <a:r>
              <a:rPr lang="en-GB" sz="1600" dirty="0">
                <a:solidFill>
                  <a:schemeClr val="tx1">
                    <a:lumMod val="75000"/>
                  </a:schemeClr>
                </a:solidFill>
              </a:rPr>
              <a:t>Cécile Sulzer, Charlotte Windlin, Angelina Zambroni</a:t>
            </a:r>
          </a:p>
          <a:p>
            <a:pPr algn="l"/>
            <a:r>
              <a:rPr lang="en-GB" sz="1600" dirty="0">
                <a:solidFill>
                  <a:schemeClr val="tx1">
                    <a:lumMod val="75000"/>
                  </a:schemeClr>
                </a:solidFill>
              </a:rPr>
              <a:t>1.06.2026</a:t>
            </a:r>
            <a:endParaRPr lang="de-CH" sz="1600" dirty="0">
              <a:solidFill>
                <a:schemeClr val="tx1">
                  <a:lumMod val="75000"/>
                </a:schemeClr>
              </a:solidFill>
            </a:endParaRPr>
          </a:p>
        </p:txBody>
      </p:sp>
      <p:pic>
        <p:nvPicPr>
          <p:cNvPr id="5" name="Grafik 4" descr="Musiknoten mit einfarbiger Füllung">
            <a:extLst>
              <a:ext uri="{FF2B5EF4-FFF2-40B4-BE49-F238E27FC236}">
                <a16:creationId xmlns:a16="http://schemas.microsoft.com/office/drawing/2014/main" id="{A3075171-8DB8-945C-4EAB-5BA6FAFE7E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21238417">
            <a:off x="9698216" y="45473"/>
            <a:ext cx="914400" cy="914400"/>
          </a:xfrm>
          <a:prstGeom prst="rect">
            <a:avLst/>
          </a:prstGeom>
        </p:spPr>
      </p:pic>
      <p:pic>
        <p:nvPicPr>
          <p:cNvPr id="6" name="Grafik 5" descr="Musiknoten mit einfarbiger Füllung">
            <a:extLst>
              <a:ext uri="{FF2B5EF4-FFF2-40B4-BE49-F238E27FC236}">
                <a16:creationId xmlns:a16="http://schemas.microsoft.com/office/drawing/2014/main" id="{197CBFD2-AD46-CB8A-D3E1-A35BB3C124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43200" y="-54744"/>
            <a:ext cx="914400" cy="914400"/>
          </a:xfrm>
          <a:prstGeom prst="rect">
            <a:avLst/>
          </a:prstGeom>
        </p:spPr>
      </p:pic>
      <p:pic>
        <p:nvPicPr>
          <p:cNvPr id="7" name="Grafik 6" descr="Musiknoten mit einfarbiger Füllung">
            <a:extLst>
              <a:ext uri="{FF2B5EF4-FFF2-40B4-BE49-F238E27FC236}">
                <a16:creationId xmlns:a16="http://schemas.microsoft.com/office/drawing/2014/main" id="{03513446-7296-A232-3E90-1F3433018C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713195">
            <a:off x="11243200" y="844534"/>
            <a:ext cx="914400" cy="914400"/>
          </a:xfrm>
          <a:prstGeom prst="rect">
            <a:avLst/>
          </a:prstGeom>
        </p:spPr>
      </p:pic>
      <p:pic>
        <p:nvPicPr>
          <p:cNvPr id="8" name="Grafik 7" descr="Musiknoten mit einfarbiger Füllung">
            <a:extLst>
              <a:ext uri="{FF2B5EF4-FFF2-40B4-BE49-F238E27FC236}">
                <a16:creationId xmlns:a16="http://schemas.microsoft.com/office/drawing/2014/main" id="{DC4C87A5-5F8F-E12E-D089-B9424E996A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21000772">
            <a:off x="11296341" y="1723963"/>
            <a:ext cx="914400" cy="914400"/>
          </a:xfrm>
          <a:prstGeom prst="rect">
            <a:avLst/>
          </a:prstGeom>
        </p:spPr>
      </p:pic>
      <p:pic>
        <p:nvPicPr>
          <p:cNvPr id="9" name="Grafik 8" descr="Musiknoten mit einfarbiger Füllung">
            <a:extLst>
              <a:ext uri="{FF2B5EF4-FFF2-40B4-BE49-F238E27FC236}">
                <a16:creationId xmlns:a16="http://schemas.microsoft.com/office/drawing/2014/main" id="{69F2FC5E-8324-2D28-EF7D-E881EF2BB2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205180">
            <a:off x="10478158" y="322643"/>
            <a:ext cx="914400" cy="914400"/>
          </a:xfrm>
          <a:prstGeom prst="rect">
            <a:avLst/>
          </a:prstGeom>
        </p:spPr>
      </p:pic>
      <p:pic>
        <p:nvPicPr>
          <p:cNvPr id="10" name="Grafik 9" descr="Musiknoten mit einfarbiger Füllung">
            <a:extLst>
              <a:ext uri="{FF2B5EF4-FFF2-40B4-BE49-F238E27FC236}">
                <a16:creationId xmlns:a16="http://schemas.microsoft.com/office/drawing/2014/main" id="{2C0BFCE6-717A-4097-5D3C-CEC842E9C8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20127997">
            <a:off x="10332635" y="1035747"/>
            <a:ext cx="914400" cy="914400"/>
          </a:xfrm>
          <a:prstGeom prst="rect">
            <a:avLst/>
          </a:prstGeom>
        </p:spPr>
      </p:pic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0F9FB12E-6492-CC78-72E6-89DD056E9FDB}"/>
              </a:ext>
            </a:extLst>
          </p:cNvPr>
          <p:cNvCxnSpPr/>
          <p:nvPr/>
        </p:nvCxnSpPr>
        <p:spPr>
          <a:xfrm>
            <a:off x="126380" y="4073912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el 1">
            <a:extLst>
              <a:ext uri="{FF2B5EF4-FFF2-40B4-BE49-F238E27FC236}">
                <a16:creationId xmlns:a16="http://schemas.microsoft.com/office/drawing/2014/main" id="{EAD38F15-9257-1528-A0FA-D767E3A2E8DF}"/>
              </a:ext>
            </a:extLst>
          </p:cNvPr>
          <p:cNvSpPr txBox="1">
            <a:spLocks/>
          </p:cNvSpPr>
          <p:nvPr/>
        </p:nvSpPr>
        <p:spPr>
          <a:xfrm>
            <a:off x="5921483" y="5434467"/>
            <a:ext cx="616058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>
                <a:solidFill>
                  <a:srgbClr val="1DB954"/>
                </a:solidFill>
              </a:rPr>
              <a:t>COLOR: </a:t>
            </a:r>
            <a:r>
              <a:rPr lang="de-CH" dirty="0"/>
              <a:t>#1DB954</a:t>
            </a:r>
            <a:endParaRPr lang="de-CH" dirty="0">
              <a:solidFill>
                <a:srgbClr val="1DB95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6438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90FB3C-433C-C94E-803D-F8C322DDC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Topic &amp; Main Goal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E19068-838E-2A2E-46F7-C00F605C9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Explore the relationship between measurable audio features and track popularity</a:t>
            </a:r>
          </a:p>
          <a:p>
            <a:r>
              <a:rPr lang="en-US" noProof="0" dirty="0"/>
              <a:t>Compare how audio profiles differ across music genres</a:t>
            </a:r>
          </a:p>
          <a:p>
            <a:r>
              <a:rPr lang="en-US" noProof="0" dirty="0"/>
              <a:t>Identify what a "popular" song sounds like, and how that varies by genre</a:t>
            </a:r>
          </a:p>
          <a:p>
            <a:endParaRPr lang="en-US" noProof="0" dirty="0"/>
          </a:p>
          <a:p>
            <a:pPr marL="0" indent="0">
              <a:buNone/>
            </a:pPr>
            <a:r>
              <a:rPr lang="en-US" noProof="0" dirty="0">
                <a:solidFill>
                  <a:srgbClr val="1DB954"/>
                </a:solidFill>
              </a:rPr>
              <a:t>Central question: </a:t>
            </a:r>
            <a:r>
              <a:rPr lang="en-US" i="1" noProof="0" dirty="0">
                <a:solidFill>
                  <a:srgbClr val="1DB954"/>
                </a:solidFill>
              </a:rPr>
              <a:t>What makes a Spotify track popular?</a:t>
            </a:r>
            <a:endParaRPr lang="en-US" noProof="0" dirty="0">
              <a:solidFill>
                <a:srgbClr val="1DB954"/>
              </a:solidFill>
            </a:endParaRPr>
          </a:p>
          <a:p>
            <a:endParaRPr lang="en-US" noProof="0" dirty="0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5F704FE-829E-1A15-7EA5-73D1F6AAD58C}"/>
              </a:ext>
            </a:extLst>
          </p:cNvPr>
          <p:cNvCxnSpPr/>
          <p:nvPr/>
        </p:nvCxnSpPr>
        <p:spPr>
          <a:xfrm>
            <a:off x="928354" y="1420653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70536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4358F4-22A1-15AE-BF5C-734017E5D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Target Group</a:t>
            </a:r>
            <a:endParaRPr lang="de-CH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54E8F39-0F9D-8C6B-65AC-CF79C9DD9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20653"/>
            <a:ext cx="5157787" cy="823912"/>
          </a:xfrm>
        </p:spPr>
        <p:txBody>
          <a:bodyPr>
            <a:normAutofit/>
          </a:bodyPr>
          <a:lstStyle/>
          <a:p>
            <a:r>
              <a:rPr lang="en-GB" b="0" dirty="0">
                <a:solidFill>
                  <a:srgbClr val="1DB954"/>
                </a:solidFill>
              </a:rPr>
              <a:t>Casual music fans 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00D7E44-AB92-AADE-0737-099417E7ED9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sz="4400" b="1" dirty="0"/>
              <a:t>Lena Bachmann </a:t>
            </a:r>
          </a:p>
          <a:p>
            <a:r>
              <a:rPr lang="en-GB" sz="4400" dirty="0"/>
              <a:t>Communication design student </a:t>
            </a:r>
          </a:p>
          <a:p>
            <a:r>
              <a:rPr lang="en-GB" sz="4400" dirty="0"/>
              <a:t>Daily Spotify listener </a:t>
            </a:r>
          </a:p>
          <a:p>
            <a:r>
              <a:rPr lang="en-GB" sz="4400" dirty="0"/>
              <a:t>No coding or data background</a:t>
            </a:r>
          </a:p>
          <a:p>
            <a:r>
              <a:rPr lang="en-GB" sz="4400" dirty="0"/>
              <a:t>Wants to understand why some songs blow up</a:t>
            </a:r>
            <a:endParaRPr lang="de-CH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87C3A20E-1F10-DBB6-EB5E-1D9469FC86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20653"/>
            <a:ext cx="5183188" cy="823912"/>
          </a:xfrm>
        </p:spPr>
        <p:txBody>
          <a:bodyPr>
            <a:normAutofit/>
          </a:bodyPr>
          <a:lstStyle/>
          <a:p>
            <a:r>
              <a:rPr lang="en-GB" b="0" dirty="0">
                <a:solidFill>
                  <a:srgbClr val="1DB954"/>
                </a:solidFill>
              </a:rPr>
              <a:t>Independent / bedroom musicians 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2A56044-D775-7BAE-4738-EC255FC75DB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sz="4400" b="1" dirty="0"/>
              <a:t>Jonas Müller </a:t>
            </a:r>
          </a:p>
          <a:p>
            <a:r>
              <a:rPr lang="en-GB" sz="4400" dirty="0"/>
              <a:t>Bedroom electronic music producer</a:t>
            </a:r>
          </a:p>
          <a:p>
            <a:r>
              <a:rPr lang="en-GB" sz="4400" dirty="0"/>
              <a:t>Releases on SoundCloud and Spotify</a:t>
            </a:r>
          </a:p>
          <a:p>
            <a:r>
              <a:rPr lang="en-GB" sz="4400" dirty="0"/>
              <a:t>No data science background</a:t>
            </a:r>
          </a:p>
          <a:p>
            <a:r>
              <a:rPr lang="en-GB" sz="4400" dirty="0"/>
              <a:t>Most interested in the </a:t>
            </a:r>
            <a:r>
              <a:rPr lang="en-GB" sz="4400" b="1" dirty="0"/>
              <a:t>hit vs. non-hit comparison</a:t>
            </a:r>
            <a:r>
              <a:rPr lang="en-GB" sz="4400" dirty="0"/>
              <a:t> and genre-level breakdowns</a:t>
            </a:r>
          </a:p>
          <a:p>
            <a:endParaRPr lang="de-CH" dirty="0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DC311B0-F224-C9D3-2939-AD6CAAFC44FD}"/>
              </a:ext>
            </a:extLst>
          </p:cNvPr>
          <p:cNvCxnSpPr/>
          <p:nvPr/>
        </p:nvCxnSpPr>
        <p:spPr>
          <a:xfrm>
            <a:off x="928354" y="1420653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2881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08613F-78DB-A83A-55C7-62C0F1F5D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Narrative Elements 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7148F8E-F95F-C22E-D68D-B51D8B81B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D36321B-A43F-3CAF-B376-F4016724475B}"/>
              </a:ext>
            </a:extLst>
          </p:cNvPr>
          <p:cNvCxnSpPr/>
          <p:nvPr/>
        </p:nvCxnSpPr>
        <p:spPr>
          <a:xfrm>
            <a:off x="928354" y="1420653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3266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B8A301-862B-0CAB-3E00-29E9EB905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Feedback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228FB6-22B6-368D-F7E1-9677C9A85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NUR PROBEPRSÄSI</a:t>
            </a:r>
            <a:endParaRPr lang="de-CH" dirty="0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7F08056-383C-524B-7935-B6C988D61BBB}"/>
              </a:ext>
            </a:extLst>
          </p:cNvPr>
          <p:cNvCxnSpPr/>
          <p:nvPr/>
        </p:nvCxnSpPr>
        <p:spPr>
          <a:xfrm>
            <a:off x="928354" y="1420653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555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59FA99-FF8F-94B6-88E4-6B32F52B5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Dataset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C563FD-5B93-FF7F-9BED-8114D0FE3F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D89F930C-FF3F-186B-0EE8-E56E392FCBA5}"/>
              </a:ext>
            </a:extLst>
          </p:cNvPr>
          <p:cNvCxnSpPr/>
          <p:nvPr/>
        </p:nvCxnSpPr>
        <p:spPr>
          <a:xfrm>
            <a:off x="928354" y="1420653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6657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1068C5-CE27-717B-588A-ACA75AE09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Findings</a:t>
            </a:r>
            <a:endParaRPr lang="de-CH" dirty="0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977179A5-05A8-9EDA-0EC6-B1B44850FE6B}"/>
              </a:ext>
            </a:extLst>
          </p:cNvPr>
          <p:cNvCxnSpPr/>
          <p:nvPr/>
        </p:nvCxnSpPr>
        <p:spPr>
          <a:xfrm>
            <a:off x="3436159" y="3901526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0386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40C109-3D2F-5751-18B3-4B55BC11D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solidFill>
                  <a:srgbClr val="1DB954"/>
                </a:solidFill>
              </a:rPr>
              <a:t>Finding 01</a:t>
            </a:r>
            <a:br>
              <a:rPr lang="en-GB" dirty="0"/>
            </a:br>
            <a:r>
              <a:rPr lang="en-GB" dirty="0"/>
              <a:t>Most Songs Are Never Heard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DBCBEE-EE63-E044-BCB7-52BF954D2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DIAGRAMM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6713295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42C969-6F50-6F34-D676-41237C9CE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solidFill>
                  <a:srgbClr val="1DB954"/>
                </a:solidFill>
              </a:rPr>
              <a:t>Finding 02</a:t>
            </a:r>
            <a:br>
              <a:rPr lang="en-GB" dirty="0"/>
            </a:br>
            <a:r>
              <a:rPr lang="en-GB" dirty="0"/>
              <a:t>Audio Features Don’t Predict Popularity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D9E4DA-1B81-F383-C776-21374B43C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DIAGRAMM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07186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A0CB40-2787-8754-84DF-09F547FE9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46633" cy="1325563"/>
          </a:xfrm>
        </p:spPr>
        <p:txBody>
          <a:bodyPr>
            <a:normAutofit/>
          </a:bodyPr>
          <a:lstStyle/>
          <a:p>
            <a:r>
              <a:rPr lang="en-GB" sz="2800" dirty="0">
                <a:solidFill>
                  <a:srgbClr val="1DB954"/>
                </a:solidFill>
              </a:rPr>
              <a:t>Finding 03</a:t>
            </a:r>
            <a:br>
              <a:rPr lang="en-GB" dirty="0"/>
            </a:br>
            <a:r>
              <a:rPr lang="en-GB" dirty="0"/>
              <a:t>Genres Have Radically Different Audio Profiles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076416-AD19-B5F2-AE15-5B01CEBF9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DIAGRAMM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983100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B5DA78-6992-B526-134A-ED6C9315E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solidFill>
                  <a:srgbClr val="1DB954"/>
                </a:solidFill>
              </a:rPr>
              <a:t>Finding 04</a:t>
            </a:r>
            <a:br>
              <a:rPr lang="en-GB" dirty="0"/>
            </a:br>
            <a:r>
              <a:rPr lang="en-GB" dirty="0"/>
              <a:t>Hit vs. Non-Hits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F3AF14-34C0-CA25-1321-4AD3BE68C2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DIAGRAMM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6502830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BC296F-7263-B69A-D0BD-85ED936FB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solidFill>
                  <a:srgbClr val="1DB954"/>
                </a:solidFill>
              </a:rPr>
              <a:t>Additional Feature</a:t>
            </a:r>
            <a:br>
              <a:rPr lang="en-GB" dirty="0"/>
            </a:br>
            <a:r>
              <a:rPr lang="en-GB" dirty="0"/>
              <a:t>What Would Your Song Score?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EE60E7F-51E5-7D9C-7754-47E744965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Show how it works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692240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2C6830-D2FE-A8CF-9A18-045593FDC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Technicalities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55CCA2-F31D-CB44-2398-5EC54F62CF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87BE949-7CB5-BCDB-0419-F40E9F653B10}"/>
              </a:ext>
            </a:extLst>
          </p:cNvPr>
          <p:cNvCxnSpPr/>
          <p:nvPr/>
        </p:nvCxnSpPr>
        <p:spPr>
          <a:xfrm>
            <a:off x="928354" y="1420653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9704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C85232-E416-B727-6F12-39905DC19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46" y="1693889"/>
            <a:ext cx="10515600" cy="1927198"/>
          </a:xfrm>
        </p:spPr>
        <p:txBody>
          <a:bodyPr>
            <a:normAutofit/>
          </a:bodyPr>
          <a:lstStyle/>
          <a:p>
            <a:r>
              <a:rPr lang="en-GB" sz="5400" dirty="0"/>
              <a:t>The data tells a </a:t>
            </a:r>
            <a:r>
              <a:rPr lang="en-GB" sz="5400" dirty="0">
                <a:solidFill>
                  <a:srgbClr val="1DB954"/>
                </a:solidFill>
              </a:rPr>
              <a:t>consistent story</a:t>
            </a:r>
            <a:r>
              <a:rPr lang="en-GB" sz="5400" dirty="0"/>
              <a:t>,</a:t>
            </a:r>
            <a:br>
              <a:rPr lang="en-GB" sz="5400" dirty="0"/>
            </a:br>
            <a:r>
              <a:rPr lang="en-GB" sz="5400" dirty="0"/>
              <a:t>but not the one most people expect</a:t>
            </a:r>
            <a:endParaRPr lang="de-CH" sz="540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80195C9-82D9-A8C5-0702-ABC1FEB3E9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2490" y="4656918"/>
            <a:ext cx="10515600" cy="1500187"/>
          </a:xfrm>
        </p:spPr>
        <p:txBody>
          <a:bodyPr/>
          <a:lstStyle/>
          <a:p>
            <a:r>
              <a:rPr lang="de-CH" dirty="0">
                <a:solidFill>
                  <a:srgbClr val="1DB954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https://podsv-fs26-ad24.github.io/ad24-1-fancyproject/story.html</a:t>
            </a:r>
            <a:endParaRPr lang="de-CH" dirty="0">
              <a:solidFill>
                <a:srgbClr val="1DB954"/>
              </a:solidFill>
            </a:endParaRPr>
          </a:p>
          <a:p>
            <a:endParaRPr lang="de-CH" dirty="0"/>
          </a:p>
        </p:txBody>
      </p:sp>
      <p:pic>
        <p:nvPicPr>
          <p:cNvPr id="4" name="Grafik 3" descr="Musiknoten mit einfarbiger Füllung">
            <a:extLst>
              <a:ext uri="{FF2B5EF4-FFF2-40B4-BE49-F238E27FC236}">
                <a16:creationId xmlns:a16="http://schemas.microsoft.com/office/drawing/2014/main" id="{15276533-4B85-A83C-65BB-20F080C412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238417">
            <a:off x="9698216" y="45473"/>
            <a:ext cx="914400" cy="914400"/>
          </a:xfrm>
          <a:prstGeom prst="rect">
            <a:avLst/>
          </a:prstGeom>
        </p:spPr>
      </p:pic>
      <p:pic>
        <p:nvPicPr>
          <p:cNvPr id="5" name="Grafik 4" descr="Musiknoten mit einfarbiger Füllung">
            <a:extLst>
              <a:ext uri="{FF2B5EF4-FFF2-40B4-BE49-F238E27FC236}">
                <a16:creationId xmlns:a16="http://schemas.microsoft.com/office/drawing/2014/main" id="{D89146A2-F3C8-E847-7B89-4D9A1ECF71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3200" y="-54744"/>
            <a:ext cx="914400" cy="914400"/>
          </a:xfrm>
          <a:prstGeom prst="rect">
            <a:avLst/>
          </a:prstGeom>
        </p:spPr>
      </p:pic>
      <p:pic>
        <p:nvPicPr>
          <p:cNvPr id="6" name="Grafik 5" descr="Musiknoten mit einfarbiger Füllung">
            <a:extLst>
              <a:ext uri="{FF2B5EF4-FFF2-40B4-BE49-F238E27FC236}">
                <a16:creationId xmlns:a16="http://schemas.microsoft.com/office/drawing/2014/main" id="{4E4F0334-B7F6-2F94-2796-7A2E0FAFD6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713195">
            <a:off x="11243200" y="844534"/>
            <a:ext cx="914400" cy="914400"/>
          </a:xfrm>
          <a:prstGeom prst="rect">
            <a:avLst/>
          </a:prstGeom>
        </p:spPr>
      </p:pic>
      <p:pic>
        <p:nvPicPr>
          <p:cNvPr id="7" name="Grafik 6" descr="Musiknoten mit einfarbiger Füllung">
            <a:extLst>
              <a:ext uri="{FF2B5EF4-FFF2-40B4-BE49-F238E27FC236}">
                <a16:creationId xmlns:a16="http://schemas.microsoft.com/office/drawing/2014/main" id="{07B435AE-1BD4-D7E4-008B-E6110FA2B8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000772">
            <a:off x="11296341" y="1723963"/>
            <a:ext cx="914400" cy="914400"/>
          </a:xfrm>
          <a:prstGeom prst="rect">
            <a:avLst/>
          </a:prstGeom>
        </p:spPr>
      </p:pic>
      <p:pic>
        <p:nvPicPr>
          <p:cNvPr id="8" name="Grafik 7" descr="Musiknoten mit einfarbiger Füllung">
            <a:extLst>
              <a:ext uri="{FF2B5EF4-FFF2-40B4-BE49-F238E27FC236}">
                <a16:creationId xmlns:a16="http://schemas.microsoft.com/office/drawing/2014/main" id="{81F26034-2CBA-E56F-6C84-DF0005BF87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05180">
            <a:off x="10478158" y="322643"/>
            <a:ext cx="914400" cy="914400"/>
          </a:xfrm>
          <a:prstGeom prst="rect">
            <a:avLst/>
          </a:prstGeom>
        </p:spPr>
      </p:pic>
      <p:pic>
        <p:nvPicPr>
          <p:cNvPr id="9" name="Grafik 8" descr="Musiknoten mit einfarbiger Füllung">
            <a:extLst>
              <a:ext uri="{FF2B5EF4-FFF2-40B4-BE49-F238E27FC236}">
                <a16:creationId xmlns:a16="http://schemas.microsoft.com/office/drawing/2014/main" id="{FC29ABDA-5BCD-721A-EEA9-CCF85FF64E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127997">
            <a:off x="10332635" y="103574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1444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223</Words>
  <Application>Microsoft Office PowerPoint</Application>
  <PresentationFormat>Breitbild</PresentationFormat>
  <Paragraphs>42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Why Do Some Songs Blow Up on Spotify While Most Are Never Heard? </vt:lpstr>
      <vt:lpstr>Topic &amp; Main Goal</vt:lpstr>
      <vt:lpstr>Target Group</vt:lpstr>
      <vt:lpstr>Narrative Elements </vt:lpstr>
      <vt:lpstr>Feedback</vt:lpstr>
      <vt:lpstr>The Dataset</vt:lpstr>
      <vt:lpstr>Findings</vt:lpstr>
      <vt:lpstr>Finding 01 Most Songs Are Never Heard</vt:lpstr>
      <vt:lpstr>Finding 02 Audio Features Don’t Predict Popularity</vt:lpstr>
      <vt:lpstr>Finding 03 Genres Have Radically Different Audio Profiles</vt:lpstr>
      <vt:lpstr>Finding 04 Hit vs. Non-Hits</vt:lpstr>
      <vt:lpstr>Additional Feature What Would Your Song Score?</vt:lpstr>
      <vt:lpstr>Technicalities</vt:lpstr>
      <vt:lpstr>The data tells a consistent story, but not the one most people expect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Zambroni Angelina (zambrang)</dc:creator>
  <cp:lastModifiedBy>Zambroni Angelina (zambrang)</cp:lastModifiedBy>
  <cp:revision>2</cp:revision>
  <dcterms:created xsi:type="dcterms:W3CDTF">2026-05-04T12:58:02Z</dcterms:created>
  <dcterms:modified xsi:type="dcterms:W3CDTF">2026-05-06T08:28:12Z</dcterms:modified>
</cp:coreProperties>
</file>