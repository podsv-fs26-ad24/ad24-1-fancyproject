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18"/>
  </p:notesMasterIdLst>
  <p:sldIdLst>
    <p:sldId id="256" r:id="rId2"/>
    <p:sldId id="257" r:id="rId3"/>
    <p:sldId id="258" r:id="rId4"/>
    <p:sldId id="267" r:id="rId5"/>
    <p:sldId id="259" r:id="rId6"/>
    <p:sldId id="260" r:id="rId7"/>
    <p:sldId id="268" r:id="rId8"/>
    <p:sldId id="269" r:id="rId9"/>
    <p:sldId id="271" r:id="rId10"/>
    <p:sldId id="272" r:id="rId11"/>
    <p:sldId id="273" r:id="rId12"/>
    <p:sldId id="263" r:id="rId13"/>
    <p:sldId id="275" r:id="rId14"/>
    <p:sldId id="277" r:id="rId15"/>
    <p:sldId id="266" r:id="rId16"/>
    <p:sldId id="276" r:id="rId17"/>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131F"/>
    <a:srgbClr val="1DB9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1758D3-7866-4D4B-BB0D-B26FAF1A8D47}" v="33" dt="2026-05-28T14:20:30.8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1717" autoAdjust="0"/>
  </p:normalViewPr>
  <p:slideViewPr>
    <p:cSldViewPr snapToGrid="0" snapToObjects="1">
      <p:cViewPr varScale="1">
        <p:scale>
          <a:sx n="50" d="100"/>
          <a:sy n="50" d="100"/>
        </p:scale>
        <p:origin x="230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ina Zambroni" userId="cf46a4c8bb0f8bd6" providerId="LiveId" clId="{C1DD09FA-1151-4F8F-89B0-29613C02C11E}"/>
    <pc:docChg chg="custSel addSld delSld modSld sldOrd">
      <pc:chgData name="Angelina Zambroni" userId="cf46a4c8bb0f8bd6" providerId="LiveId" clId="{C1DD09FA-1151-4F8F-89B0-29613C02C11E}" dt="2026-05-28T14:22:15.775" v="400" actId="20577"/>
      <pc:docMkLst>
        <pc:docMk/>
      </pc:docMkLst>
      <pc:sldChg chg="modSp mod modNotesTx">
        <pc:chgData name="Angelina Zambroni" userId="cf46a4c8bb0f8bd6" providerId="LiveId" clId="{C1DD09FA-1151-4F8F-89B0-29613C02C11E}" dt="2026-05-28T11:01:18.996" v="104" actId="20577"/>
        <pc:sldMkLst>
          <pc:docMk/>
          <pc:sldMk cId="0" sldId="256"/>
        </pc:sldMkLst>
        <pc:spChg chg="mod">
          <ac:chgData name="Angelina Zambroni" userId="cf46a4c8bb0f8bd6" providerId="LiveId" clId="{C1DD09FA-1151-4F8F-89B0-29613C02C11E}" dt="2026-05-28T10:44:48.488" v="2" actId="207"/>
          <ac:spMkLst>
            <pc:docMk/>
            <pc:sldMk cId="0" sldId="256"/>
            <ac:spMk id="5" creationId="{00000000-0000-0000-0000-000000000000}"/>
          </ac:spMkLst>
        </pc:spChg>
      </pc:sldChg>
      <pc:sldChg chg="modNotesTx">
        <pc:chgData name="Angelina Zambroni" userId="cf46a4c8bb0f8bd6" providerId="LiveId" clId="{C1DD09FA-1151-4F8F-89B0-29613C02C11E}" dt="2026-05-28T14:17:58.405" v="295" actId="20577"/>
        <pc:sldMkLst>
          <pc:docMk/>
          <pc:sldMk cId="0" sldId="258"/>
        </pc:sldMkLst>
      </pc:sldChg>
      <pc:sldChg chg="del">
        <pc:chgData name="Angelina Zambroni" userId="cf46a4c8bb0f8bd6" providerId="LiveId" clId="{C1DD09FA-1151-4F8F-89B0-29613C02C11E}" dt="2026-05-28T11:08:26.941" v="235" actId="47"/>
        <pc:sldMkLst>
          <pc:docMk/>
          <pc:sldMk cId="0" sldId="261"/>
        </pc:sldMkLst>
      </pc:sldChg>
      <pc:sldChg chg="modSp mod">
        <pc:chgData name="Angelina Zambroni" userId="cf46a4c8bb0f8bd6" providerId="LiveId" clId="{C1DD09FA-1151-4F8F-89B0-29613C02C11E}" dt="2026-05-28T11:09:02.755" v="247" actId="20577"/>
        <pc:sldMkLst>
          <pc:docMk/>
          <pc:sldMk cId="0" sldId="263"/>
        </pc:sldMkLst>
        <pc:spChg chg="mod">
          <ac:chgData name="Angelina Zambroni" userId="cf46a4c8bb0f8bd6" providerId="LiveId" clId="{C1DD09FA-1151-4F8F-89B0-29613C02C11E}" dt="2026-05-28T11:09:02.755" v="247" actId="20577"/>
          <ac:spMkLst>
            <pc:docMk/>
            <pc:sldMk cId="0" sldId="263"/>
            <ac:spMk id="3" creationId="{00000000-0000-0000-0000-000000000000}"/>
          </ac:spMkLst>
        </pc:spChg>
      </pc:sldChg>
      <pc:sldChg chg="del">
        <pc:chgData name="Angelina Zambroni" userId="cf46a4c8bb0f8bd6" providerId="LiveId" clId="{C1DD09FA-1151-4F8F-89B0-29613C02C11E}" dt="2026-05-28T11:07:30.993" v="233" actId="47"/>
        <pc:sldMkLst>
          <pc:docMk/>
          <pc:sldMk cId="0" sldId="264"/>
        </pc:sldMkLst>
      </pc:sldChg>
      <pc:sldChg chg="modSp del mod">
        <pc:chgData name="Angelina Zambroni" userId="cf46a4c8bb0f8bd6" providerId="LiveId" clId="{C1DD09FA-1151-4F8F-89B0-29613C02C11E}" dt="2026-05-28T14:10:54.169" v="277" actId="47"/>
        <pc:sldMkLst>
          <pc:docMk/>
          <pc:sldMk cId="0" sldId="265"/>
        </pc:sldMkLst>
        <pc:spChg chg="mod">
          <ac:chgData name="Angelina Zambroni" userId="cf46a4c8bb0f8bd6" providerId="LiveId" clId="{C1DD09FA-1151-4F8F-89B0-29613C02C11E}" dt="2026-05-28T11:09:13.268" v="251" actId="20577"/>
          <ac:spMkLst>
            <pc:docMk/>
            <pc:sldMk cId="0" sldId="265"/>
            <ac:spMk id="3" creationId="{00000000-0000-0000-0000-000000000000}"/>
          </ac:spMkLst>
        </pc:spChg>
        <pc:spChg chg="mod">
          <ac:chgData name="Angelina Zambroni" userId="cf46a4c8bb0f8bd6" providerId="LiveId" clId="{C1DD09FA-1151-4F8F-89B0-29613C02C11E}" dt="2026-05-28T11:09:24.763" v="252" actId="14100"/>
          <ac:spMkLst>
            <pc:docMk/>
            <pc:sldMk cId="0" sldId="265"/>
            <ac:spMk id="4" creationId="{00000000-0000-0000-0000-000000000000}"/>
          </ac:spMkLst>
        </pc:spChg>
        <pc:spChg chg="mod">
          <ac:chgData name="Angelina Zambroni" userId="cf46a4c8bb0f8bd6" providerId="LiveId" clId="{C1DD09FA-1151-4F8F-89B0-29613C02C11E}" dt="2026-05-28T14:08:29.660" v="260" actId="14100"/>
          <ac:spMkLst>
            <pc:docMk/>
            <pc:sldMk cId="0" sldId="265"/>
            <ac:spMk id="15" creationId="{00000000-0000-0000-0000-000000000000}"/>
          </ac:spMkLst>
        </pc:spChg>
        <pc:spChg chg="mod">
          <ac:chgData name="Angelina Zambroni" userId="cf46a4c8bb0f8bd6" providerId="LiveId" clId="{C1DD09FA-1151-4F8F-89B0-29613C02C11E}" dt="2026-05-28T14:08:29.660" v="260" actId="14100"/>
          <ac:spMkLst>
            <pc:docMk/>
            <pc:sldMk cId="0" sldId="265"/>
            <ac:spMk id="16" creationId="{00000000-0000-0000-0000-000000000000}"/>
          </ac:spMkLst>
        </pc:spChg>
        <pc:spChg chg="mod">
          <ac:chgData name="Angelina Zambroni" userId="cf46a4c8bb0f8bd6" providerId="LiveId" clId="{C1DD09FA-1151-4F8F-89B0-29613C02C11E}" dt="2026-05-28T14:08:29.660" v="260" actId="14100"/>
          <ac:spMkLst>
            <pc:docMk/>
            <pc:sldMk cId="0" sldId="265"/>
            <ac:spMk id="17" creationId="{00000000-0000-0000-0000-000000000000}"/>
          </ac:spMkLst>
        </pc:spChg>
        <pc:spChg chg="mod">
          <ac:chgData name="Angelina Zambroni" userId="cf46a4c8bb0f8bd6" providerId="LiveId" clId="{C1DD09FA-1151-4F8F-89B0-29613C02C11E}" dt="2026-05-28T14:08:29.660" v="260" actId="14100"/>
          <ac:spMkLst>
            <pc:docMk/>
            <pc:sldMk cId="0" sldId="265"/>
            <ac:spMk id="18" creationId="{00000000-0000-0000-0000-000000000000}"/>
          </ac:spMkLst>
        </pc:spChg>
        <pc:spChg chg="mod">
          <ac:chgData name="Angelina Zambroni" userId="cf46a4c8bb0f8bd6" providerId="LiveId" clId="{C1DD09FA-1151-4F8F-89B0-29613C02C11E}" dt="2026-05-28T14:08:29.660" v="260" actId="14100"/>
          <ac:spMkLst>
            <pc:docMk/>
            <pc:sldMk cId="0" sldId="265"/>
            <ac:spMk id="19" creationId="{00000000-0000-0000-0000-000000000000}"/>
          </ac:spMkLst>
        </pc:spChg>
      </pc:sldChg>
      <pc:sldChg chg="modNotesTx">
        <pc:chgData name="Angelina Zambroni" userId="cf46a4c8bb0f8bd6" providerId="LiveId" clId="{C1DD09FA-1151-4F8F-89B0-29613C02C11E}" dt="2026-05-28T11:02:02.281" v="105" actId="20577"/>
        <pc:sldMkLst>
          <pc:docMk/>
          <pc:sldMk cId="2727207097" sldId="267"/>
        </pc:sldMkLst>
      </pc:sldChg>
      <pc:sldChg chg="modSp mod modNotesTx">
        <pc:chgData name="Angelina Zambroni" userId="cf46a4c8bb0f8bd6" providerId="LiveId" clId="{C1DD09FA-1151-4F8F-89B0-29613C02C11E}" dt="2026-05-28T11:08:39.593" v="237" actId="20577"/>
        <pc:sldMkLst>
          <pc:docMk/>
          <pc:sldMk cId="1388587145" sldId="268"/>
        </pc:sldMkLst>
        <pc:spChg chg="mod">
          <ac:chgData name="Angelina Zambroni" userId="cf46a4c8bb0f8bd6" providerId="LiveId" clId="{C1DD09FA-1151-4F8F-89B0-29613C02C11E}" dt="2026-05-28T11:08:39.593" v="237" actId="20577"/>
          <ac:spMkLst>
            <pc:docMk/>
            <pc:sldMk cId="1388587145" sldId="268"/>
            <ac:spMk id="3" creationId="{336051B0-3FAC-BA2B-D682-D743479D371B}"/>
          </ac:spMkLst>
        </pc:spChg>
      </pc:sldChg>
      <pc:sldChg chg="modSp mod">
        <pc:chgData name="Angelina Zambroni" userId="cf46a4c8bb0f8bd6" providerId="LiveId" clId="{C1DD09FA-1151-4F8F-89B0-29613C02C11E}" dt="2026-05-28T11:08:43.408" v="239" actId="20577"/>
        <pc:sldMkLst>
          <pc:docMk/>
          <pc:sldMk cId="1243856706" sldId="269"/>
        </pc:sldMkLst>
        <pc:spChg chg="mod">
          <ac:chgData name="Angelina Zambroni" userId="cf46a4c8bb0f8bd6" providerId="LiveId" clId="{C1DD09FA-1151-4F8F-89B0-29613C02C11E}" dt="2026-05-28T11:08:43.408" v="239" actId="20577"/>
          <ac:spMkLst>
            <pc:docMk/>
            <pc:sldMk cId="1243856706" sldId="269"/>
            <ac:spMk id="3" creationId="{F4BFA256-F69D-BA1A-47BE-D0199DEDC3DC}"/>
          </ac:spMkLst>
        </pc:spChg>
      </pc:sldChg>
      <pc:sldChg chg="modSp mod">
        <pc:chgData name="Angelina Zambroni" userId="cf46a4c8bb0f8bd6" providerId="LiveId" clId="{C1DD09FA-1151-4F8F-89B0-29613C02C11E}" dt="2026-05-28T11:08:49.512" v="241" actId="20577"/>
        <pc:sldMkLst>
          <pc:docMk/>
          <pc:sldMk cId="2658139269" sldId="271"/>
        </pc:sldMkLst>
        <pc:spChg chg="mod">
          <ac:chgData name="Angelina Zambroni" userId="cf46a4c8bb0f8bd6" providerId="LiveId" clId="{C1DD09FA-1151-4F8F-89B0-29613C02C11E}" dt="2026-05-28T11:08:49.512" v="241" actId="20577"/>
          <ac:spMkLst>
            <pc:docMk/>
            <pc:sldMk cId="2658139269" sldId="271"/>
            <ac:spMk id="3" creationId="{19B96ECA-535D-BC13-5842-53E6E1A2C2BA}"/>
          </ac:spMkLst>
        </pc:spChg>
      </pc:sldChg>
      <pc:sldChg chg="modSp mod">
        <pc:chgData name="Angelina Zambroni" userId="cf46a4c8bb0f8bd6" providerId="LiveId" clId="{C1DD09FA-1151-4F8F-89B0-29613C02C11E}" dt="2026-05-28T11:08:54.331" v="243" actId="20577"/>
        <pc:sldMkLst>
          <pc:docMk/>
          <pc:sldMk cId="3079710046" sldId="272"/>
        </pc:sldMkLst>
        <pc:spChg chg="mod">
          <ac:chgData name="Angelina Zambroni" userId="cf46a4c8bb0f8bd6" providerId="LiveId" clId="{C1DD09FA-1151-4F8F-89B0-29613C02C11E}" dt="2026-05-28T11:08:54.331" v="243" actId="20577"/>
          <ac:spMkLst>
            <pc:docMk/>
            <pc:sldMk cId="3079710046" sldId="272"/>
            <ac:spMk id="3" creationId="{32005FE5-DCCA-5725-5CB6-0342B35EE769}"/>
          </ac:spMkLst>
        </pc:spChg>
      </pc:sldChg>
      <pc:sldChg chg="modSp mod">
        <pc:chgData name="Angelina Zambroni" userId="cf46a4c8bb0f8bd6" providerId="LiveId" clId="{C1DD09FA-1151-4F8F-89B0-29613C02C11E}" dt="2026-05-28T11:08:58.369" v="245" actId="20577"/>
        <pc:sldMkLst>
          <pc:docMk/>
          <pc:sldMk cId="1116819339" sldId="273"/>
        </pc:sldMkLst>
        <pc:spChg chg="mod">
          <ac:chgData name="Angelina Zambroni" userId="cf46a4c8bb0f8bd6" providerId="LiveId" clId="{C1DD09FA-1151-4F8F-89B0-29613C02C11E}" dt="2026-05-28T11:08:58.369" v="245" actId="20577"/>
          <ac:spMkLst>
            <pc:docMk/>
            <pc:sldMk cId="1116819339" sldId="273"/>
            <ac:spMk id="3" creationId="{7799890A-83CC-12AB-3B0D-E5D14D74C776}"/>
          </ac:spMkLst>
        </pc:spChg>
      </pc:sldChg>
      <pc:sldChg chg="del">
        <pc:chgData name="Angelina Zambroni" userId="cf46a4c8bb0f8bd6" providerId="LiveId" clId="{C1DD09FA-1151-4F8F-89B0-29613C02C11E}" dt="2026-05-28T11:07:36.623" v="234" actId="47"/>
        <pc:sldMkLst>
          <pc:docMk/>
          <pc:sldMk cId="655383835" sldId="274"/>
        </pc:sldMkLst>
      </pc:sldChg>
      <pc:sldChg chg="addSp delSp modSp mod modNotesTx">
        <pc:chgData name="Angelina Zambroni" userId="cf46a4c8bb0f8bd6" providerId="LiveId" clId="{C1DD09FA-1151-4F8F-89B0-29613C02C11E}" dt="2026-05-28T14:10:51.132" v="276" actId="20577"/>
        <pc:sldMkLst>
          <pc:docMk/>
          <pc:sldMk cId="4033021085" sldId="275"/>
        </pc:sldMkLst>
        <pc:spChg chg="mod">
          <ac:chgData name="Angelina Zambroni" userId="cf46a4c8bb0f8bd6" providerId="LiveId" clId="{C1DD09FA-1151-4F8F-89B0-29613C02C11E}" dt="2026-05-28T11:09:08.572" v="249" actId="20577"/>
          <ac:spMkLst>
            <pc:docMk/>
            <pc:sldMk cId="4033021085" sldId="275"/>
            <ac:spMk id="3" creationId="{D58A57BD-EE93-EBB1-9143-7A5772DF1B7E}"/>
          </ac:spMkLst>
        </pc:spChg>
        <pc:spChg chg="add mod">
          <ac:chgData name="Angelina Zambroni" userId="cf46a4c8bb0f8bd6" providerId="LiveId" clId="{C1DD09FA-1151-4F8F-89B0-29613C02C11E}" dt="2026-05-28T14:08:49.985" v="265" actId="14100"/>
          <ac:spMkLst>
            <pc:docMk/>
            <pc:sldMk cId="4033021085" sldId="275"/>
            <ac:spMk id="6" creationId="{414696B3-60C9-056F-0755-42EA146BE11E}"/>
          </ac:spMkLst>
        </pc:spChg>
        <pc:spChg chg="add mod">
          <ac:chgData name="Angelina Zambroni" userId="cf46a4c8bb0f8bd6" providerId="LiveId" clId="{C1DD09FA-1151-4F8F-89B0-29613C02C11E}" dt="2026-05-28T14:08:49.985" v="265" actId="14100"/>
          <ac:spMkLst>
            <pc:docMk/>
            <pc:sldMk cId="4033021085" sldId="275"/>
            <ac:spMk id="7" creationId="{2808335D-C8FD-796F-1602-4CD49B51A664}"/>
          </ac:spMkLst>
        </pc:spChg>
        <pc:spChg chg="add mod">
          <ac:chgData name="Angelina Zambroni" userId="cf46a4c8bb0f8bd6" providerId="LiveId" clId="{C1DD09FA-1151-4F8F-89B0-29613C02C11E}" dt="2026-05-28T14:09:30.757" v="273" actId="1076"/>
          <ac:spMkLst>
            <pc:docMk/>
            <pc:sldMk cId="4033021085" sldId="275"/>
            <ac:spMk id="8" creationId="{40CCAEC8-400C-1F2D-45E4-68E316B3E3D4}"/>
          </ac:spMkLst>
        </pc:spChg>
        <pc:spChg chg="mod">
          <ac:chgData name="Angelina Zambroni" userId="cf46a4c8bb0f8bd6" providerId="LiveId" clId="{C1DD09FA-1151-4F8F-89B0-29613C02C11E}" dt="2026-05-28T14:09:04.491" v="266" actId="14100"/>
          <ac:spMkLst>
            <pc:docMk/>
            <pc:sldMk cId="4033021085" sldId="275"/>
            <ac:spMk id="9" creationId="{37B6BF2F-E573-ECD9-24F5-7D6438C6DFD3}"/>
          </ac:spMkLst>
        </pc:spChg>
        <pc:spChg chg="mod">
          <ac:chgData name="Angelina Zambroni" userId="cf46a4c8bb0f8bd6" providerId="LiveId" clId="{C1DD09FA-1151-4F8F-89B0-29613C02C11E}" dt="2026-05-28T14:07:54.555" v="254" actId="1076"/>
          <ac:spMkLst>
            <pc:docMk/>
            <pc:sldMk cId="4033021085" sldId="275"/>
            <ac:spMk id="10" creationId="{5205D7D7-C62C-31E9-16BB-8881DEA863C2}"/>
          </ac:spMkLst>
        </pc:spChg>
        <pc:spChg chg="mod">
          <ac:chgData name="Angelina Zambroni" userId="cf46a4c8bb0f8bd6" providerId="LiveId" clId="{C1DD09FA-1151-4F8F-89B0-29613C02C11E}" dt="2026-05-28T14:08:18.981" v="259" actId="20577"/>
          <ac:spMkLst>
            <pc:docMk/>
            <pc:sldMk cId="4033021085" sldId="275"/>
            <ac:spMk id="11" creationId="{8A31EF5A-9C5E-4C49-D2F5-74833F250F66}"/>
          </ac:spMkLst>
        </pc:spChg>
        <pc:spChg chg="mod">
          <ac:chgData name="Angelina Zambroni" userId="cf46a4c8bb0f8bd6" providerId="LiveId" clId="{C1DD09FA-1151-4F8F-89B0-29613C02C11E}" dt="2026-05-28T14:08:00.877" v="256" actId="20577"/>
          <ac:spMkLst>
            <pc:docMk/>
            <pc:sldMk cId="4033021085" sldId="275"/>
            <ac:spMk id="12" creationId="{7C7465C8-EEB3-0A4C-6ADA-F696C16831EF}"/>
          </ac:spMkLst>
        </pc:spChg>
        <pc:spChg chg="mod">
          <ac:chgData name="Angelina Zambroni" userId="cf46a4c8bb0f8bd6" providerId="LiveId" clId="{C1DD09FA-1151-4F8F-89B0-29613C02C11E}" dt="2026-05-28T14:08:05.441" v="257" actId="20577"/>
          <ac:spMkLst>
            <pc:docMk/>
            <pc:sldMk cId="4033021085" sldId="275"/>
            <ac:spMk id="13" creationId="{9D912629-FD83-02BE-CC7F-96E41BD955AA}"/>
          </ac:spMkLst>
        </pc:spChg>
        <pc:spChg chg="del mod">
          <ac:chgData name="Angelina Zambroni" userId="cf46a4c8bb0f8bd6" providerId="LiveId" clId="{C1DD09FA-1151-4F8F-89B0-29613C02C11E}" dt="2026-05-28T14:08:12.752" v="258" actId="478"/>
          <ac:spMkLst>
            <pc:docMk/>
            <pc:sldMk cId="4033021085" sldId="275"/>
            <ac:spMk id="14" creationId="{BA266DD8-6CB2-CCC8-B8E9-77AF1B9D1DBB}"/>
          </ac:spMkLst>
        </pc:spChg>
        <pc:spChg chg="add mod">
          <ac:chgData name="Angelina Zambroni" userId="cf46a4c8bb0f8bd6" providerId="LiveId" clId="{C1DD09FA-1151-4F8F-89B0-29613C02C11E}" dt="2026-05-28T14:09:41.504" v="274" actId="1076"/>
          <ac:spMkLst>
            <pc:docMk/>
            <pc:sldMk cId="4033021085" sldId="275"/>
            <ac:spMk id="15" creationId="{5D8DF3B3-00A3-EC68-3EFF-935C238573DE}"/>
          </ac:spMkLst>
        </pc:spChg>
        <pc:spChg chg="add mod">
          <ac:chgData name="Angelina Zambroni" userId="cf46a4c8bb0f8bd6" providerId="LiveId" clId="{C1DD09FA-1151-4F8F-89B0-29613C02C11E}" dt="2026-05-28T14:09:47.940" v="275" actId="1076"/>
          <ac:spMkLst>
            <pc:docMk/>
            <pc:sldMk cId="4033021085" sldId="275"/>
            <ac:spMk id="16" creationId="{61646DBF-EDED-5A6B-50D6-250046284D44}"/>
          </ac:spMkLst>
        </pc:spChg>
      </pc:sldChg>
      <pc:sldChg chg="modSp mod">
        <pc:chgData name="Angelina Zambroni" userId="cf46a4c8bb0f8bd6" providerId="LiveId" clId="{C1DD09FA-1151-4F8F-89B0-29613C02C11E}" dt="2026-05-28T11:07:08.241" v="232" actId="20577"/>
        <pc:sldMkLst>
          <pc:docMk/>
          <pc:sldMk cId="2468001066" sldId="276"/>
        </pc:sldMkLst>
        <pc:spChg chg="mod">
          <ac:chgData name="Angelina Zambroni" userId="cf46a4c8bb0f8bd6" providerId="LiveId" clId="{C1DD09FA-1151-4F8F-89B0-29613C02C11E}" dt="2026-05-28T11:07:08.241" v="232" actId="20577"/>
          <ac:spMkLst>
            <pc:docMk/>
            <pc:sldMk cId="2468001066" sldId="276"/>
            <ac:spMk id="11" creationId="{58185CE2-058B-DFC0-AF6D-AACB05532123}"/>
          </ac:spMkLst>
        </pc:spChg>
      </pc:sldChg>
      <pc:sldChg chg="delSp modSp add mod ord modNotesTx">
        <pc:chgData name="Angelina Zambroni" userId="cf46a4c8bb0f8bd6" providerId="LiveId" clId="{C1DD09FA-1151-4F8F-89B0-29613C02C11E}" dt="2026-05-28T14:22:15.775" v="400" actId="20577"/>
        <pc:sldMkLst>
          <pc:docMk/>
          <pc:sldMk cId="984752140" sldId="277"/>
        </pc:sldMkLst>
        <pc:spChg chg="del">
          <ac:chgData name="Angelina Zambroni" userId="cf46a4c8bb0f8bd6" providerId="LiveId" clId="{C1DD09FA-1151-4F8F-89B0-29613C02C11E}" dt="2026-05-28T10:58:08.790" v="6" actId="478"/>
          <ac:spMkLst>
            <pc:docMk/>
            <pc:sldMk cId="984752140" sldId="277"/>
            <ac:spMk id="3" creationId="{5B8906F3-6CF0-904C-7984-5B6AC6A153E3}"/>
          </ac:spMkLst>
        </pc:spChg>
        <pc:spChg chg="mod">
          <ac:chgData name="Angelina Zambroni" userId="cf46a4c8bb0f8bd6" providerId="LiveId" clId="{C1DD09FA-1151-4F8F-89B0-29613C02C11E}" dt="2026-05-28T10:58:17.410" v="39" actId="20577"/>
          <ac:spMkLst>
            <pc:docMk/>
            <pc:sldMk cId="984752140" sldId="277"/>
            <ac:spMk id="4" creationId="{6EAE4281-319C-54B9-2BE2-ACE952772A13}"/>
          </ac:spMkLst>
        </pc:spChg>
        <pc:spChg chg="mod">
          <ac:chgData name="Angelina Zambroni" userId="cf46a4c8bb0f8bd6" providerId="LiveId" clId="{C1DD09FA-1151-4F8F-89B0-29613C02C11E}" dt="2026-05-28T10:58:24.322" v="64" actId="20577"/>
          <ac:spMkLst>
            <pc:docMk/>
            <pc:sldMk cId="984752140" sldId="277"/>
            <ac:spMk id="5" creationId="{8C1FD3A5-4AB8-03F7-241E-1B2475056A97}"/>
          </ac:spMkLst>
        </pc:spChg>
        <pc:spChg chg="del">
          <ac:chgData name="Angelina Zambroni" userId="cf46a4c8bb0f8bd6" providerId="LiveId" clId="{C1DD09FA-1151-4F8F-89B0-29613C02C11E}" dt="2026-05-28T10:58:31.179" v="65" actId="478"/>
          <ac:spMkLst>
            <pc:docMk/>
            <pc:sldMk cId="984752140" sldId="277"/>
            <ac:spMk id="7" creationId="{6EA35C80-1E03-AC69-C7AB-C06E991CCEE1}"/>
          </ac:spMkLst>
        </pc:spChg>
        <pc:spChg chg="mod">
          <ac:chgData name="Angelina Zambroni" userId="cf46a4c8bb0f8bd6" providerId="LiveId" clId="{C1DD09FA-1151-4F8F-89B0-29613C02C11E}" dt="2026-05-28T10:58:35.476" v="66" actId="1076"/>
          <ac:spMkLst>
            <pc:docMk/>
            <pc:sldMk cId="984752140" sldId="277"/>
            <ac:spMk id="8" creationId="{9A3D38A6-C159-240F-E8A7-D61E8738850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9571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b="1" dirty="0"/>
              <a:t>Angi</a:t>
            </a:r>
          </a:p>
          <a:p>
            <a:br>
              <a:rPr lang="en-US" dirty="0"/>
            </a:br>
            <a:r>
              <a:rPr lang="en-GB" dirty="0"/>
              <a:t>"23 plays. My track has 23 plays. And I'm pretty sure fourteen of those are my mom."</a:t>
            </a:r>
          </a:p>
          <a:p>
            <a:r>
              <a:rPr lang="en-GB" dirty="0"/>
              <a:t>"I put three weeks into this. Mixed it twice. I think it genuinely sounds good. I shared the link, I posted it — nothing. It just sits there. And I don't even know what I'm doing wrong. Is it too slow? Not danceable enough? Wrong vibe? How do other songs just... blow up?"</a:t>
            </a:r>
          </a:p>
          <a:p>
            <a:r>
              <a:rPr lang="en-GB" b="1" dirty="0"/>
              <a:t>[Scrolling on phone/laptop, then something catches your eye:]</a:t>
            </a:r>
            <a:endParaRPr lang="en-GB" dirty="0"/>
          </a:p>
          <a:p>
            <a:r>
              <a:rPr lang="en-GB" dirty="0"/>
              <a:t>"Okay wait —"</a:t>
            </a:r>
          </a:p>
          <a:p>
            <a:r>
              <a:rPr lang="en-GB" i="1" dirty="0"/>
              <a:t>"There are over 100 million songs on Spotify. Every day, tens of thousands more are uploaded. And yet, the vast majority of them exist in near-total silence."</a:t>
            </a:r>
            <a:endParaRPr lang="en-GB" dirty="0"/>
          </a:p>
          <a:p>
            <a:r>
              <a:rPr lang="en-GB" b="1" dirty="0"/>
              <a:t>[Look up briefly:]</a:t>
            </a:r>
            <a:endParaRPr lang="en-GB" dirty="0"/>
          </a:p>
          <a:p>
            <a:r>
              <a:rPr lang="en-GB" dirty="0"/>
              <a:t>"...yeah okay that's me. Let's see."</a:t>
            </a:r>
          </a:p>
          <a:p>
            <a:r>
              <a:rPr lang="en-GB" b="1" dirty="0"/>
              <a:t>§1</a:t>
            </a:r>
            <a:r>
              <a:rPr lang="en-GB" dirty="0"/>
              <a:t> — "10.5% of tracks have zero plays. Great, I'm in good company."</a:t>
            </a:r>
          </a:p>
          <a:p>
            <a:r>
              <a:rPr lang="en-GB" b="1" dirty="0"/>
              <a:t>§2</a:t>
            </a:r>
            <a:r>
              <a:rPr lang="en-GB" dirty="0"/>
              <a:t> — "None of the audio features really predict popularity... okay."</a:t>
            </a:r>
          </a:p>
          <a:p>
            <a:r>
              <a:rPr lang="en-GB" b="1" dirty="0"/>
              <a:t>§3</a:t>
            </a:r>
            <a:r>
              <a:rPr lang="en-GB" dirty="0"/>
              <a:t> — "Metal and classical are basically opposites, interesting."</a:t>
            </a:r>
          </a:p>
          <a:p>
            <a:r>
              <a:rPr lang="en-GB" b="1" dirty="0"/>
              <a:t>§4</a:t>
            </a:r>
            <a:r>
              <a:rPr lang="en-GB" dirty="0"/>
              <a:t> — "Hits are louder and more danceable on average... let me check my track."</a:t>
            </a:r>
          </a:p>
          <a:p>
            <a:r>
              <a:rPr lang="en-GB" b="1" dirty="0"/>
              <a:t>§5</a:t>
            </a:r>
            <a:r>
              <a:rPr lang="en-GB" dirty="0"/>
              <a:t> — "Every genre on a mood map. I'm probably somewhere sad and calm."</a:t>
            </a:r>
          </a:p>
          <a:p>
            <a:r>
              <a:rPr lang="en-GB" i="1" dirty="0"/>
              <a:t>Land on the slider:</a:t>
            </a:r>
            <a:endParaRPr lang="en-GB" dirty="0"/>
          </a:p>
          <a:p>
            <a:r>
              <a:rPr lang="en-GB" dirty="0"/>
              <a:t>"And here you can put in your own stats and see how you score."</a:t>
            </a:r>
          </a:p>
          <a:p>
            <a:r>
              <a:rPr lang="en-GB" b="1" dirty="0"/>
              <a:t>[Look up at the audience. Break character just slightly — not fully, just enough to bring them in:]</a:t>
            </a:r>
            <a:endParaRPr lang="en-GB" dirty="0"/>
          </a:p>
          <a:p>
            <a:r>
              <a:rPr lang="en-GB" dirty="0"/>
              <a:t>"...I need a second because I want to actually do this properly. Let us first show you how we built the thing, and then we're coming back to this."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 that's the product. A scrollable, interactive data story, published on GitHub Pages, open to anyone. Not a dashboard, not a static report. A narrative experience.</a:t>
            </a:r>
          </a:p>
          <a:p>
            <a:r>
              <a:rPr lang="en-GB" dirty="0"/>
              <a:t>Six sections that build on each other: popularity distribution, audio features, genre profiles, hits versus non-hits, the mood map — and section six, the slider.</a:t>
            </a:r>
          </a:p>
          <a:p>
            <a:r>
              <a:rPr lang="en-GB" dirty="0"/>
              <a:t>Every single element was a deliberate design choice. Let's go through them."</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any design decision, we asked: who is this actually for?</a:t>
            </a:r>
          </a:p>
          <a:p>
            <a:r>
              <a:rPr lang="en-GB" dirty="0"/>
              <a:t>We built two personas. </a:t>
            </a:r>
          </a:p>
          <a:p>
            <a:r>
              <a:rPr lang="en-GB" dirty="0"/>
              <a:t>Lena is a communication design student. Daily Spotify listener, no data background, wants to understand why songs blow up. If we throw correlation coefficients at her, she's gone in thirty seconds.</a:t>
            </a:r>
          </a:p>
          <a:p>
            <a:r>
              <a:rPr lang="en-GB" dirty="0"/>
              <a:t>She drove one core constraint: plain language throughout, narrative framing instead of raw stats, section titles written as active insights rather than chart labels."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8D375-94C6-15FF-023E-2FF77182B7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DBD31-2B89-FE2A-658F-0223555737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07C83A-C4D4-56A7-CEBB-549F3BC81DE5}"/>
              </a:ext>
            </a:extLst>
          </p:cNvPr>
          <p:cNvSpPr>
            <a:spLocks noGrp="1"/>
          </p:cNvSpPr>
          <p:nvPr>
            <p:ph type="body" idx="1"/>
          </p:nvPr>
        </p:nvSpPr>
        <p:spPr/>
        <p:txBody>
          <a:bodyPr/>
          <a:lstStyle/>
          <a:p>
            <a:r>
              <a:rPr lang="en-GB" dirty="0"/>
              <a:t>"Our second persona is Jonas — a bedroom producer who uploads to SoundCloud and Spotify. Curious about what makes songs popular, no data science background, personal stake in the question.</a:t>
            </a:r>
          </a:p>
          <a:p>
            <a:r>
              <a:rPr lang="en-GB" dirty="0"/>
              <a:t>Jonas is why the interactive slider in section six exists. The insight from building him was: this person doesn't just want to read about data. They want to know — what about </a:t>
            </a:r>
            <a:r>
              <a:rPr lang="en-GB" i="1" dirty="0"/>
              <a:t>my</a:t>
            </a:r>
            <a:r>
              <a:rPr lang="en-GB" dirty="0"/>
              <a:t> song?</a:t>
            </a:r>
          </a:p>
          <a:p>
            <a:r>
              <a:rPr lang="en-GB" dirty="0"/>
              <a:t>That one question drove the most complex feature in the whole project.</a:t>
            </a:r>
          </a:p>
          <a:p>
            <a:endParaRPr lang="en-US" dirty="0"/>
          </a:p>
        </p:txBody>
      </p:sp>
      <p:sp>
        <p:nvSpPr>
          <p:cNvPr id="4" name="Slide Number Placeholder 3">
            <a:extLst>
              <a:ext uri="{FF2B5EF4-FFF2-40B4-BE49-F238E27FC236}">
                <a16:creationId xmlns:a16="http://schemas.microsoft.com/office/drawing/2014/main" id="{619B9BE6-1F5B-0CFB-70C2-DEEC96BD530D}"/>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32543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"Knowing our audience, we had to decide what to build. We went with an explanatory format — meaning we guide the reader through the insights rather than just dumping the data on them.</a:t>
            </a:r>
          </a:p>
          <a:p>
            <a:r>
              <a:rPr lang="en-GB" dirty="0"/>
              <a:t>But explanatory alone isn't enough to justify a full data story over a dashboard. The difference is narrative — a dashboard has the data and the visuals, but it has no narrator, no sequence, no reason to keep reading. A data story has all three. That's why we chose this format."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structured the story as a martini glass — you start author-driven, meaning we control the order and the arc through sections one to five. Then in section six, the slider, the reader takes over completely and explores with their own values.</a:t>
            </a:r>
          </a:p>
          <a:p>
            <a:r>
              <a:rPr lang="en-GB" dirty="0"/>
              <a:t>That shift from guided to free was a conscious decision. We wanted to build trust with the reader first before handing them the controls."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2448-D1AC-52A6-BF9E-3418FEAB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C891C-B0A3-5502-51EC-F6738C0EE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6E060-79FA-AD1F-17F1-466302AA0113}"/>
              </a:ext>
            </a:extLst>
          </p:cNvPr>
          <p:cNvSpPr>
            <a:spLocks noGrp="1"/>
          </p:cNvSpPr>
          <p:nvPr>
            <p:ph type="body" idx="1"/>
          </p:nvPr>
        </p:nvSpPr>
        <p:spPr/>
        <p:txBody>
          <a:bodyPr/>
          <a:lstStyle/>
          <a:p>
            <a:r>
              <a:rPr lang="en-GB" b="0" dirty="0"/>
              <a:t>Each chart type has a reason for it’s usage</a:t>
            </a:r>
          </a:p>
          <a:p>
            <a:r>
              <a:rPr lang="en-GB" dirty="0"/>
              <a:t>"Section one has one variable: the popularity score. A histogram was the obvious choice because we needed to show the shape of the distribution — the skew, the spike at zero, the long tail. That shape is the whole point of the section."</a:t>
            </a:r>
            <a:endParaRPr lang="en-US" dirty="0"/>
          </a:p>
        </p:txBody>
      </p:sp>
      <p:sp>
        <p:nvSpPr>
          <p:cNvPr id="4" name="Slide Number Placeholder 3">
            <a:extLst>
              <a:ext uri="{FF2B5EF4-FFF2-40B4-BE49-F238E27FC236}">
                <a16:creationId xmlns:a16="http://schemas.microsoft.com/office/drawing/2014/main" id="{E6AAFC24-3307-7104-3A12-536C8F762A59}"/>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8518700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98A40-9762-C43B-1AF6-E636AECF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7D8434-4D2D-500C-9DDD-2518065870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48A1B1-6DF8-60CA-5073-A0AF914D0937}"/>
              </a:ext>
            </a:extLst>
          </p:cNvPr>
          <p:cNvSpPr>
            <a:spLocks noGrp="1"/>
          </p:cNvSpPr>
          <p:nvPr>
            <p:ph type="body" idx="1"/>
          </p:nvPr>
        </p:nvSpPr>
        <p:spPr/>
        <p:txBody>
          <a:bodyPr/>
          <a:lstStyle/>
          <a:p>
            <a:r>
              <a:rPr lang="en-GB" dirty="0"/>
              <a:t>"Section two had two jobs — show how each feature relates to popularity, and show how all features relate to each other. Scatterplot for the first, heatmap for the second. Two different questions, two different charts."</a:t>
            </a:r>
            <a:endParaRPr lang="en-US" dirty="0"/>
          </a:p>
        </p:txBody>
      </p:sp>
      <p:sp>
        <p:nvSpPr>
          <p:cNvPr id="4" name="Slide Number Placeholder 3">
            <a:extLst>
              <a:ext uri="{FF2B5EF4-FFF2-40B4-BE49-F238E27FC236}">
                <a16:creationId xmlns:a16="http://schemas.microsoft.com/office/drawing/2014/main" id="{173D585A-5DAE-E299-E4BA-B4FD0103BE01}"/>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105815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6FA-3D0D-A137-FCC5-B2D1BD0666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83998-F7EC-46AF-192D-21797C8488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7B8481-AFDD-379F-AD97-D7C59C5DBD7B}"/>
              </a:ext>
            </a:extLst>
          </p:cNvPr>
          <p:cNvSpPr>
            <a:spLocks noGrp="1"/>
          </p:cNvSpPr>
          <p:nvPr>
            <p:ph type="body" idx="1"/>
          </p:nvPr>
        </p:nvSpPr>
        <p:spPr/>
        <p:txBody>
          <a:bodyPr/>
          <a:lstStyle/>
          <a:p>
            <a:r>
              <a:rPr lang="en-GB" dirty="0"/>
              <a:t>"For the genre profiles we needed to compare six genres across six features at once. The radar chart was the right call because each axis is one feature, so you see the whole shape of a genre in one glance. A bar chart would've needed six separate charts to do the same."</a:t>
            </a:r>
            <a:endParaRPr lang="en-US" dirty="0"/>
          </a:p>
        </p:txBody>
      </p:sp>
      <p:sp>
        <p:nvSpPr>
          <p:cNvPr id="4" name="Slide Number Placeholder 3">
            <a:extLst>
              <a:ext uri="{FF2B5EF4-FFF2-40B4-BE49-F238E27FC236}">
                <a16:creationId xmlns:a16="http://schemas.microsoft.com/office/drawing/2014/main" id="{940DD6B4-FE6A-A1B3-4632-82FF6998BF2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662099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17E54-6D10-1746-D76B-998C68E89D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BF511-F2C6-9210-0204-B1D0B1906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80F79-D92B-99A1-2FB0-B995392EC9FF}"/>
              </a:ext>
            </a:extLst>
          </p:cNvPr>
          <p:cNvSpPr>
            <a:spLocks noGrp="1"/>
          </p:cNvSpPr>
          <p:nvPr>
            <p:ph type="body" idx="1"/>
          </p:nvPr>
        </p:nvSpPr>
        <p:spPr/>
        <p:txBody>
          <a:bodyPr/>
          <a:lstStyle/>
          <a:p>
            <a:r>
              <a:rPr lang="en-GB" dirty="0"/>
              <a:t>"Section four is a direct comparison — hits versus non-hits across several feature averages. Grouped bar chart, simple as that. It puts both groups side by side and the differences are immediately visible."</a:t>
            </a:r>
            <a:endParaRPr lang="en-US" dirty="0"/>
          </a:p>
        </p:txBody>
      </p:sp>
      <p:sp>
        <p:nvSpPr>
          <p:cNvPr id="4" name="Slide Number Placeholder 3">
            <a:extLst>
              <a:ext uri="{FF2B5EF4-FFF2-40B4-BE49-F238E27FC236}">
                <a16:creationId xmlns:a16="http://schemas.microsoft.com/office/drawing/2014/main" id="{B581B500-4E57-6977-A0E2-7A791D227767}"/>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1373849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C98F-7522-FD2D-C232-27AAB0F5E3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03D15-A1FC-1008-3B69-D44BC38AF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9FBB2A-3FD4-7FEB-DB62-F279C4AF22F9}"/>
              </a:ext>
            </a:extLst>
          </p:cNvPr>
          <p:cNvSpPr>
            <a:spLocks noGrp="1"/>
          </p:cNvSpPr>
          <p:nvPr>
            <p:ph type="body" idx="1"/>
          </p:nvPr>
        </p:nvSpPr>
        <p:spPr/>
        <p:txBody>
          <a:bodyPr/>
          <a:lstStyle/>
          <a:p>
            <a:r>
              <a:rPr lang="en-GB" dirty="0"/>
              <a:t>"The mood map is two continuous axes — valence and energy — with every genre as a dot. Scatterplot, because the position of each dot directly encodes its emotional identity. That spatial reading is what makes the map work."</a:t>
            </a:r>
            <a:endParaRPr lang="en-US" dirty="0"/>
          </a:p>
        </p:txBody>
      </p:sp>
      <p:sp>
        <p:nvSpPr>
          <p:cNvPr id="4" name="Slide Number Placeholder 3">
            <a:extLst>
              <a:ext uri="{FF2B5EF4-FFF2-40B4-BE49-F238E27FC236}">
                <a16:creationId xmlns:a16="http://schemas.microsoft.com/office/drawing/2014/main" id="{074CF13D-C9FF-B5AA-1C4D-1CF5636B675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5572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theory is clear: interactivity is not the same as animation. Every interactive element needs a reason — why does the user need to </a:t>
            </a:r>
            <a:r>
              <a:rPr lang="en-GB" i="1" dirty="0"/>
              <a:t>do</a:t>
            </a:r>
            <a:r>
              <a:rPr lang="en-GB" dirty="0"/>
              <a:t> something here instead of just reading?</a:t>
            </a:r>
          </a:p>
          <a:p>
            <a:r>
              <a:rPr lang="en-GB" b="1" dirty="0"/>
              <a:t>Filtering</a:t>
            </a:r>
            <a:r>
              <a:rPr lang="en-GB" dirty="0"/>
              <a:t> — the genre checkboxes. Six genres together create visual clutter. Filtering lets users isolate what they care about. Purpose: reduce noise.</a:t>
            </a:r>
          </a:p>
          <a:p>
            <a:r>
              <a:rPr lang="en-GB" b="1" dirty="0"/>
              <a:t>Participating</a:t>
            </a:r>
            <a:r>
              <a:rPr lang="en-GB" dirty="0"/>
              <a:t> — the slider. The user contributes their own data. Jonas's feature. Purpose: make it personal, make it memorable.</a:t>
            </a:r>
          </a:p>
          <a:p>
            <a:r>
              <a:rPr lang="en-GB" b="1" dirty="0"/>
              <a:t>Highlighting</a:t>
            </a:r>
            <a:r>
              <a:rPr lang="en-GB" dirty="0"/>
              <a:t> — hover tooltips on every chart. Exact values on demand, without </a:t>
            </a:r>
            <a:r>
              <a:rPr lang="en-GB" dirty="0" err="1"/>
              <a:t>labeling</a:t>
            </a:r>
            <a:r>
              <a:rPr lang="en-GB" dirty="0"/>
              <a:t> everything at all times. Purpose: serve both the reader who skims and the one who digs."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8770E-F057-6B41-EA99-D8AC3EF88E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55961-18B4-2279-B45A-981D4E090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58698-9CB5-CE63-C78C-75DB4910BD58}"/>
              </a:ext>
            </a:extLst>
          </p:cNvPr>
          <p:cNvSpPr>
            <a:spLocks noGrp="1"/>
          </p:cNvSpPr>
          <p:nvPr>
            <p:ph type="body" idx="1"/>
          </p:nvPr>
        </p:nvSpPr>
        <p:spPr/>
        <p:txBody>
          <a:bodyPr/>
          <a:lstStyle/>
          <a:p>
            <a:r>
              <a:rPr lang="en-GB" dirty="0"/>
              <a:t>Three things worked well. The martini glass structure — users appreciated being guided through the story before getting the controls. Persona-driven language — no jargon complaints, the active titles landed. And the 'your track' slider was the most engaging section in every single test. Jonas was right.</a:t>
            </a:r>
          </a:p>
          <a:p>
            <a:r>
              <a:rPr lang="en-GB" dirty="0"/>
              <a:t>Three things we'd revisit: mobile layout, Bokeh wasn't built for small screens. The radar chart legend confused a few users — a short annotation would fix it. And the heatmap in section two was dense enough that some people just skipped it."</a:t>
            </a:r>
          </a:p>
        </p:txBody>
      </p:sp>
      <p:sp>
        <p:nvSpPr>
          <p:cNvPr id="4" name="Slide Number Placeholder 3">
            <a:extLst>
              <a:ext uri="{FF2B5EF4-FFF2-40B4-BE49-F238E27FC236}">
                <a16:creationId xmlns:a16="http://schemas.microsoft.com/office/drawing/2014/main" id="{9B73B7A5-7AD8-5909-B3BA-10F5C9E783AE}"/>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6359257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138AA-56DF-7121-F857-CD6CD75B87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CE03B-1953-FA33-00E3-077CCE7E6D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740B0-A9AF-2439-CBDD-08AB37446DF1}"/>
              </a:ext>
            </a:extLst>
          </p:cNvPr>
          <p:cNvSpPr>
            <a:spLocks noGrp="1"/>
          </p:cNvSpPr>
          <p:nvPr>
            <p:ph type="body" idx="1"/>
          </p:nvPr>
        </p:nvSpPr>
        <p:spPr/>
        <p:txBody>
          <a:bodyPr/>
          <a:lstStyle/>
          <a:p>
            <a:r>
              <a:rPr lang="en-GB" b="1" dirty="0"/>
              <a:t>Angi</a:t>
            </a:r>
          </a:p>
          <a:p>
            <a:endParaRPr lang="en-GB" dirty="0"/>
          </a:p>
          <a:p>
            <a:r>
              <a:rPr lang="en-GB" dirty="0"/>
              <a:t>"Okay. So now I actually understand what I'm looking at.</a:t>
            </a:r>
          </a:p>
          <a:p>
            <a:r>
              <a:rPr lang="en-GB" dirty="0"/>
              <a:t>Let me put in my track."</a:t>
            </a:r>
          </a:p>
          <a:p>
            <a:r>
              <a:rPr lang="en-GB" b="1" dirty="0"/>
              <a:t>[Drag the sliders one by one, saying each value out loud:]</a:t>
            </a:r>
            <a:endParaRPr lang="en-GB" dirty="0"/>
          </a:p>
          <a:p>
            <a:r>
              <a:rPr lang="en-GB" i="1" dirty="0"/>
              <a:t>Fill in your real values — example pacing:</a:t>
            </a:r>
            <a:endParaRPr lang="en-GB" dirty="0"/>
          </a:p>
          <a:p>
            <a:r>
              <a:rPr lang="en-GB" dirty="0"/>
              <a:t>"Danceability — it's pretty atmospheric, not really made to dance to... 0.35. Energy — moderate, not a banger, not ambient... 0.5. Valence — honestly it's kind of melancholic... 0.3. </a:t>
            </a:r>
            <a:r>
              <a:rPr lang="en-GB" dirty="0" err="1"/>
              <a:t>Acousticness</a:t>
            </a:r>
            <a:r>
              <a:rPr lang="en-GB" dirty="0"/>
              <a:t> — mostly produced, a bit of live stuff... 0.2. Tempo — around 95 BPM."</a:t>
            </a:r>
          </a:p>
          <a:p>
            <a:r>
              <a:rPr lang="en-GB" b="1" dirty="0"/>
              <a:t>[Read the result. Don't pre-script the reaction — let it be genuine.]</a:t>
            </a:r>
            <a:endParaRPr lang="en-GB" dirty="0"/>
          </a:p>
          <a:p>
            <a:r>
              <a:rPr lang="en-GB" dirty="0"/>
              <a:t>"Average popularity of tracks like mine: [X] out of 100."</a:t>
            </a:r>
          </a:p>
          <a:p>
            <a:r>
              <a:rPr lang="en-GB" b="1" dirty="0"/>
              <a:t>[Whatever the number, make the point — high or low it works:]</a:t>
            </a:r>
            <a:endParaRPr lang="en-GB" dirty="0"/>
          </a:p>
          <a:p>
            <a:r>
              <a:rPr lang="en-GB" dirty="0"/>
              <a:t>"Which — and this is the whole thesis — is an average, not a prediction. There are tracks exactly like mine with millions of streams. And there are tracks exactly like mine with 23 plays.</a:t>
            </a:r>
          </a:p>
          <a:p>
            <a:r>
              <a:rPr lang="en-GB" dirty="0"/>
              <a:t>The audio features barely explain it. The algorithm, the timing, the playlist placement — that's what actually drives it. And none of that is in a dataset."</a:t>
            </a:r>
          </a:p>
          <a:p>
            <a:r>
              <a:rPr lang="en-GB" b="1" dirty="0"/>
              <a:t>[Short beat. Then turn to the audience, genuinely curious:]</a:t>
            </a:r>
            <a:endParaRPr lang="en-GB" dirty="0"/>
          </a:p>
          <a:p>
            <a:r>
              <a:rPr lang="en-GB" dirty="0"/>
              <a:t>Now do one of you have a song in mind that you want to try? Give us the scores and let’s see.</a:t>
            </a:r>
          </a:p>
          <a:p>
            <a:r>
              <a:rPr lang="en-GB" b="1" dirty="0"/>
              <a:t>[Take 1–2 inputs. Run the sliders. React briefly to each result. Keep each under a minute. Then close the laptop cleanly.]</a:t>
            </a:r>
            <a:endParaRPr lang="en-GB" dirty="0"/>
          </a:p>
          <a:p>
            <a:endParaRPr lang="en-US" dirty="0"/>
          </a:p>
        </p:txBody>
      </p:sp>
      <p:sp>
        <p:nvSpPr>
          <p:cNvPr id="4" name="Slide Number Placeholder 3">
            <a:extLst>
              <a:ext uri="{FF2B5EF4-FFF2-40B4-BE49-F238E27FC236}">
                <a16:creationId xmlns:a16="http://schemas.microsoft.com/office/drawing/2014/main" id="{4F2E2D8A-9FDB-37CB-3A86-CB1DB00DB26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6403196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design tells a consistent story — and theory made every choice defensible.</a:t>
            </a:r>
          </a:p>
          <a:p>
            <a:r>
              <a:rPr lang="en-GB" dirty="0"/>
              <a:t>The story is live at the link on screen. Thank you."</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20DDD-1463-F6B5-9493-50DC48B092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519EB6-C563-9BB6-E5C5-E4B323BF1F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D9544D-E16D-1E1E-8E82-4EC51F3BFF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8449BA-5896-2694-7C07-B2061F9F5380}"/>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3512155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4184901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1446162984"/>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40304214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336255363"/>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de-DE"/>
              <a:t>Mastertitelformat bearbeiten</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29842" y="1878806"/>
            <a:ext cx="3868340"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4629150" y="1878806"/>
            <a:ext cx="3887391"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2659222851"/>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294344923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18798327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16252924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2736941251"/>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396452932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‹Nr.›</a:t>
            </a:fld>
            <a:endParaRPr lang="en-US" dirty="0"/>
          </a:p>
        </p:txBody>
      </p:sp>
    </p:spTree>
    <p:extLst>
      <p:ext uri="{BB962C8B-B14F-4D97-AF65-F5344CB8AC3E}">
        <p14:creationId xmlns:p14="http://schemas.microsoft.com/office/powerpoint/2010/main" val="1752586550"/>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21049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3131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5/28/2026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‹Nr.›</a:t>
            </a:fld>
            <a:endParaRPr lang="en-US" dirty="0"/>
          </a:p>
        </p:txBody>
      </p:sp>
    </p:spTree>
    <p:extLst>
      <p:ext uri="{BB962C8B-B14F-4D97-AF65-F5344CB8AC3E}">
        <p14:creationId xmlns:p14="http://schemas.microsoft.com/office/powerpoint/2010/main" val="2185582738"/>
      </p:ext>
    </p:extLst>
  </p:cSld>
  <p:clrMap bg1="dk1" tx1="lt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hyperlink" Target="https://www.magnific.com/premium-photo/young-girl-student-smiling-against-university_5670223.ht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www.digitalmusicnews.com/2021/10/29/how-to-record-music-at-hom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858000" y="-1371600"/>
            <a:ext cx="3657600" cy="3657600"/>
          </a:xfrm>
          <a:prstGeom prst="ellipse">
            <a:avLst/>
          </a:prstGeom>
          <a:solidFill>
            <a:srgbClr val="1DB954">
              <a:alpha val="12000"/>
            </a:srgbClr>
          </a:solidFill>
          <a:ln w="12700">
            <a:solidFill>
              <a:srgbClr val="1DB954">
                <a:alpha val="12000"/>
              </a:srgbClr>
            </a:solidFill>
            <a:prstDash val="solid"/>
          </a:ln>
        </p:spPr>
        <p:txBody>
          <a:bodyPr/>
          <a:lstStyle/>
          <a:p>
            <a:endParaRPr lang="de-CH"/>
          </a:p>
        </p:txBody>
      </p:sp>
      <p:sp>
        <p:nvSpPr>
          <p:cNvPr id="3" name="Shape 1"/>
          <p:cNvSpPr/>
          <p:nvPr/>
        </p:nvSpPr>
        <p:spPr>
          <a:xfrm>
            <a:off x="-457200" y="3200400"/>
            <a:ext cx="2743200" cy="2743200"/>
          </a:xfrm>
          <a:prstGeom prst="ellipse">
            <a:avLst/>
          </a:prstGeom>
          <a:solidFill>
            <a:srgbClr val="1DB954">
              <a:alpha val="8000"/>
            </a:srgbClr>
          </a:solidFill>
          <a:ln w="12700">
            <a:solidFill>
              <a:srgbClr val="1DB954">
                <a:alpha val="8000"/>
              </a:srgbClr>
            </a:solidFill>
            <a:prstDash val="solid"/>
          </a:ln>
        </p:spPr>
        <p:txBody>
          <a:bodyPr/>
          <a:lstStyle/>
          <a:p>
            <a:endParaRPr lang="de-CH"/>
          </a:p>
        </p:txBody>
      </p:sp>
      <p:sp>
        <p:nvSpPr>
          <p:cNvPr id="4" name="Text 2"/>
          <p:cNvSpPr/>
          <p:nvPr/>
        </p:nvSpPr>
        <p:spPr>
          <a:xfrm>
            <a:off x="914400" y="914400"/>
            <a:ext cx="7315200" cy="411480"/>
          </a:xfrm>
          <a:prstGeom prst="rect">
            <a:avLst/>
          </a:prstGeom>
          <a:noFill/>
          <a:ln/>
        </p:spPr>
        <p:txBody>
          <a:bodyPr wrap="square" rtlCol="0" anchor="ctr"/>
          <a:lstStyle/>
          <a:p>
            <a:pPr marL="0" indent="0" algn="ctr">
              <a:buNone/>
            </a:pPr>
            <a:r>
              <a:rPr lang="en-US" sz="1300" b="1" kern="0" spc="300" dirty="0">
                <a:solidFill>
                  <a:srgbClr val="1DB954"/>
                </a:solidFill>
              </a:rPr>
              <a:t>Spotify Data Story</a:t>
            </a:r>
            <a:endParaRPr lang="en-US" sz="1300" dirty="0"/>
          </a:p>
        </p:txBody>
      </p:sp>
      <p:sp>
        <p:nvSpPr>
          <p:cNvPr id="5" name="Text 3"/>
          <p:cNvSpPr/>
          <p:nvPr/>
        </p:nvSpPr>
        <p:spPr>
          <a:xfrm>
            <a:off x="914400" y="1371600"/>
            <a:ext cx="7315200" cy="1463040"/>
          </a:xfrm>
          <a:prstGeom prst="rect">
            <a:avLst/>
          </a:prstGeom>
          <a:noFill/>
          <a:ln/>
        </p:spPr>
        <p:txBody>
          <a:bodyPr wrap="square" rtlCol="0" anchor="ctr"/>
          <a:lstStyle/>
          <a:p>
            <a:pPr marL="0" indent="0" algn="ctr">
              <a:buNone/>
            </a:pPr>
            <a:r>
              <a:rPr lang="en-US" sz="4000" b="1" dirty="0"/>
              <a:t>Design Decisions</a:t>
            </a:r>
          </a:p>
          <a:p>
            <a:pPr algn="ctr"/>
            <a:r>
              <a:rPr lang="en-GB" b="1" dirty="0"/>
              <a:t>Why Do Some Songs Blow Up on </a:t>
            </a:r>
            <a:r>
              <a:rPr lang="en-GB" b="1" dirty="0">
                <a:solidFill>
                  <a:srgbClr val="1DB954"/>
                </a:solidFill>
              </a:rPr>
              <a:t>Spotify</a:t>
            </a:r>
            <a:r>
              <a:rPr lang="en-GB" b="1" dirty="0">
                <a:solidFill>
                  <a:schemeClr val="bg1"/>
                </a:solidFill>
              </a:rPr>
              <a:t> </a:t>
            </a:r>
            <a:r>
              <a:rPr lang="en-GB" b="1" dirty="0"/>
              <a:t>While Most Are Never Heard?</a:t>
            </a:r>
          </a:p>
        </p:txBody>
      </p:sp>
      <p:sp>
        <p:nvSpPr>
          <p:cNvPr id="6" name="Text 4"/>
          <p:cNvSpPr/>
          <p:nvPr/>
        </p:nvSpPr>
        <p:spPr>
          <a:xfrm>
            <a:off x="914400" y="2926080"/>
            <a:ext cx="7315200" cy="457200"/>
          </a:xfrm>
          <a:prstGeom prst="rect">
            <a:avLst/>
          </a:prstGeom>
          <a:noFill/>
          <a:ln/>
        </p:spPr>
        <p:txBody>
          <a:bodyPr wrap="square" rtlCol="0" anchor="ctr"/>
          <a:lstStyle/>
          <a:p>
            <a:pPr marL="0" indent="0" algn="ctr">
              <a:buNone/>
            </a:pPr>
            <a:r>
              <a:rPr lang="en-US" sz="1800" dirty="0">
                <a:solidFill>
                  <a:srgbClr val="9999BB"/>
                </a:solidFill>
              </a:rPr>
              <a:t>How and why we built what we built</a:t>
            </a:r>
            <a:endParaRPr lang="en-US" sz="1800" dirty="0"/>
          </a:p>
        </p:txBody>
      </p:sp>
      <p:sp>
        <p:nvSpPr>
          <p:cNvPr id="16" name="Text 14"/>
          <p:cNvSpPr/>
          <p:nvPr/>
        </p:nvSpPr>
        <p:spPr>
          <a:xfrm>
            <a:off x="914400" y="4229100"/>
            <a:ext cx="7315200" cy="662940"/>
          </a:xfrm>
          <a:prstGeom prst="rect">
            <a:avLst/>
          </a:prstGeom>
          <a:noFill/>
          <a:ln/>
        </p:spPr>
        <p:txBody>
          <a:bodyPr wrap="square" rtlCol="0" anchor="ctr"/>
          <a:lstStyle/>
          <a:p>
            <a:pPr marL="0" indent="0" algn="ctr">
              <a:buNone/>
            </a:pPr>
            <a:r>
              <a:rPr lang="en-US" sz="1100" dirty="0">
                <a:solidFill>
                  <a:srgbClr val="9999BB"/>
                </a:solidFill>
              </a:rPr>
              <a:t>Cécile Sulzer, Charlotte </a:t>
            </a:r>
            <a:r>
              <a:rPr lang="en-US" sz="1100" dirty="0" err="1">
                <a:solidFill>
                  <a:srgbClr val="9999BB"/>
                </a:solidFill>
              </a:rPr>
              <a:t>Windlin</a:t>
            </a:r>
            <a:r>
              <a:rPr lang="en-US" sz="1100" dirty="0">
                <a:solidFill>
                  <a:srgbClr val="9999BB"/>
                </a:solidFill>
              </a:rPr>
              <a:t>, Angelina Zambroni</a:t>
            </a:r>
          </a:p>
          <a:p>
            <a:pPr marL="0" indent="0" algn="ctr">
              <a:buNone/>
            </a:pPr>
            <a:r>
              <a:rPr lang="en-US" sz="1100" dirty="0">
                <a:solidFill>
                  <a:srgbClr val="9999BB"/>
                </a:solidFill>
              </a:rPr>
              <a:t>Project Oriented Digital Storytelling</a:t>
            </a:r>
          </a:p>
          <a:p>
            <a:pPr marL="0" indent="0" algn="ctr">
              <a:buNone/>
            </a:pPr>
            <a:r>
              <a:rPr lang="en-US" sz="1100" dirty="0">
                <a:solidFill>
                  <a:srgbClr val="9999BB"/>
                </a:solidFill>
              </a:rPr>
              <a:t>01.06.2026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01</a:t>
            </a:r>
            <a:endParaRPr lang="en-US" sz="1100" dirty="0"/>
          </a:p>
        </p:txBody>
      </p:sp>
      <p:sp>
        <p:nvSpPr>
          <p:cNvPr id="4" name="Text 2"/>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What we built</a:t>
            </a:r>
            <a:endParaRPr lang="en-US" sz="1200" dirty="0"/>
          </a:p>
        </p:txBody>
      </p:sp>
      <p:sp>
        <p:nvSpPr>
          <p:cNvPr id="5" name="Text 3"/>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A scrollable, interactive data story</a:t>
            </a:r>
            <a:endParaRPr lang="en-US" sz="2800" dirty="0"/>
          </a:p>
        </p:txBody>
      </p:sp>
      <p:sp>
        <p:nvSpPr>
          <p:cNvPr id="6" name="Text 4"/>
          <p:cNvSpPr/>
          <p:nvPr/>
        </p:nvSpPr>
        <p:spPr>
          <a:xfrm>
            <a:off x="457200" y="1280160"/>
            <a:ext cx="8229600" cy="457200"/>
          </a:xfrm>
          <a:prstGeom prst="rect">
            <a:avLst/>
          </a:prstGeom>
          <a:noFill/>
          <a:ln/>
        </p:spPr>
        <p:txBody>
          <a:bodyPr wrap="square" rtlCol="0" anchor="ctr"/>
          <a:lstStyle/>
          <a:p>
            <a:pPr marL="0" indent="0">
              <a:buNone/>
            </a:pPr>
            <a:r>
              <a:rPr lang="en-US" sz="1800" dirty="0">
                <a:solidFill>
                  <a:srgbClr val="9999BB"/>
                </a:solidFill>
              </a:rPr>
              <a:t>Not a dashboard. Not a report. A narrative experience — published on GitHub Pages, open to anyone.</a:t>
            </a:r>
            <a:endParaRPr lang="en-US" sz="1800" dirty="0"/>
          </a:p>
        </p:txBody>
      </p:sp>
      <p:sp>
        <p:nvSpPr>
          <p:cNvPr id="7" name="Shape 5"/>
          <p:cNvSpPr/>
          <p:nvPr/>
        </p:nvSpPr>
        <p:spPr>
          <a:xfrm>
            <a:off x="457200" y="1920240"/>
            <a:ext cx="2560320" cy="1005840"/>
          </a:xfrm>
          <a:prstGeom prst="rect">
            <a:avLst/>
          </a:prstGeom>
          <a:solidFill>
            <a:srgbClr val="1E1E2E"/>
          </a:solidFill>
          <a:ln w="6350">
            <a:solidFill>
              <a:srgbClr val="2A2A3E"/>
            </a:solidFill>
            <a:prstDash val="solid"/>
          </a:ln>
        </p:spPr>
        <p:txBody>
          <a:bodyPr/>
          <a:lstStyle/>
          <a:p>
            <a:endParaRPr lang="de-CH"/>
          </a:p>
        </p:txBody>
      </p:sp>
      <p:sp>
        <p:nvSpPr>
          <p:cNvPr id="8" name="Shape 6"/>
          <p:cNvSpPr/>
          <p:nvPr/>
        </p:nvSpPr>
        <p:spPr>
          <a:xfrm>
            <a:off x="457200" y="1920240"/>
            <a:ext cx="54864" cy="1005840"/>
          </a:xfrm>
          <a:prstGeom prst="rect">
            <a:avLst/>
          </a:prstGeom>
          <a:solidFill>
            <a:srgbClr val="1DB954"/>
          </a:solidFill>
          <a:ln w="12700">
            <a:solidFill>
              <a:srgbClr val="1DB954"/>
            </a:solidFill>
            <a:prstDash val="solid"/>
          </a:ln>
        </p:spPr>
        <p:txBody>
          <a:bodyPr/>
          <a:lstStyle/>
          <a:p>
            <a:endParaRPr lang="de-CH"/>
          </a:p>
        </p:txBody>
      </p:sp>
      <p:sp>
        <p:nvSpPr>
          <p:cNvPr id="9" name="Text 7"/>
          <p:cNvSpPr/>
          <p:nvPr/>
        </p:nvSpPr>
        <p:spPr>
          <a:xfrm>
            <a:off x="566928" y="1965960"/>
            <a:ext cx="365760" cy="274320"/>
          </a:xfrm>
          <a:prstGeom prst="rect">
            <a:avLst/>
          </a:prstGeom>
          <a:noFill/>
          <a:ln/>
        </p:spPr>
        <p:txBody>
          <a:bodyPr wrap="square" rtlCol="0" anchor="ctr"/>
          <a:lstStyle/>
          <a:p>
            <a:pPr marL="0" indent="0">
              <a:buNone/>
            </a:pPr>
            <a:r>
              <a:rPr lang="en-US" sz="1000" b="1" dirty="0">
                <a:solidFill>
                  <a:srgbClr val="1DB954"/>
                </a:solidFill>
              </a:rPr>
              <a:t>01</a:t>
            </a:r>
            <a:endParaRPr lang="en-US" sz="1000" dirty="0"/>
          </a:p>
        </p:txBody>
      </p:sp>
      <p:sp>
        <p:nvSpPr>
          <p:cNvPr id="10" name="Text 8"/>
          <p:cNvSpPr/>
          <p:nvPr/>
        </p:nvSpPr>
        <p:spPr>
          <a:xfrm>
            <a:off x="566928" y="2194560"/>
            <a:ext cx="2194560" cy="640080"/>
          </a:xfrm>
          <a:prstGeom prst="rect">
            <a:avLst/>
          </a:prstGeom>
          <a:noFill/>
          <a:ln/>
        </p:spPr>
        <p:txBody>
          <a:bodyPr wrap="square" rtlCol="0" anchor="ctr"/>
          <a:lstStyle/>
          <a:p>
            <a:pPr marL="0" indent="0">
              <a:buNone/>
            </a:pPr>
            <a:r>
              <a:rPr lang="en-US" sz="1500" b="1" dirty="0">
                <a:solidFill>
                  <a:srgbClr val="FFFFFF"/>
                </a:solidFill>
              </a:rPr>
              <a:t>Popularity</a:t>
            </a:r>
            <a:endParaRPr lang="en-US" sz="1500" dirty="0"/>
          </a:p>
          <a:p>
            <a:pPr marL="0" indent="0">
              <a:buNone/>
            </a:pPr>
            <a:r>
              <a:rPr lang="en-US" sz="1500" b="1" dirty="0">
                <a:solidFill>
                  <a:srgbClr val="FFFFFF"/>
                </a:solidFill>
              </a:rPr>
              <a:t>distribution</a:t>
            </a:r>
            <a:endParaRPr lang="en-US" sz="1500" dirty="0"/>
          </a:p>
        </p:txBody>
      </p:sp>
      <p:sp>
        <p:nvSpPr>
          <p:cNvPr id="11" name="Shape 9"/>
          <p:cNvSpPr/>
          <p:nvPr/>
        </p:nvSpPr>
        <p:spPr>
          <a:xfrm>
            <a:off x="3291840" y="1920240"/>
            <a:ext cx="2560320" cy="1005840"/>
          </a:xfrm>
          <a:prstGeom prst="rect">
            <a:avLst/>
          </a:prstGeom>
          <a:solidFill>
            <a:srgbClr val="1E1E2E"/>
          </a:solidFill>
          <a:ln w="6350">
            <a:solidFill>
              <a:srgbClr val="2A2A3E"/>
            </a:solidFill>
            <a:prstDash val="solid"/>
          </a:ln>
        </p:spPr>
        <p:txBody>
          <a:bodyPr/>
          <a:lstStyle/>
          <a:p>
            <a:endParaRPr lang="de-CH"/>
          </a:p>
        </p:txBody>
      </p:sp>
      <p:sp>
        <p:nvSpPr>
          <p:cNvPr id="12" name="Shape 10"/>
          <p:cNvSpPr/>
          <p:nvPr/>
        </p:nvSpPr>
        <p:spPr>
          <a:xfrm>
            <a:off x="3291840" y="1920240"/>
            <a:ext cx="54864" cy="1005840"/>
          </a:xfrm>
          <a:prstGeom prst="rect">
            <a:avLst/>
          </a:prstGeom>
          <a:solidFill>
            <a:srgbClr val="1DB954"/>
          </a:solidFill>
          <a:ln w="12700">
            <a:solidFill>
              <a:srgbClr val="1DB954"/>
            </a:solidFill>
            <a:prstDash val="solid"/>
          </a:ln>
        </p:spPr>
        <p:txBody>
          <a:bodyPr/>
          <a:lstStyle/>
          <a:p>
            <a:endParaRPr lang="de-CH"/>
          </a:p>
        </p:txBody>
      </p:sp>
      <p:sp>
        <p:nvSpPr>
          <p:cNvPr id="13" name="Text 11"/>
          <p:cNvSpPr/>
          <p:nvPr/>
        </p:nvSpPr>
        <p:spPr>
          <a:xfrm>
            <a:off x="3401568" y="1965960"/>
            <a:ext cx="365760" cy="274320"/>
          </a:xfrm>
          <a:prstGeom prst="rect">
            <a:avLst/>
          </a:prstGeom>
          <a:noFill/>
          <a:ln/>
        </p:spPr>
        <p:txBody>
          <a:bodyPr wrap="square" rtlCol="0" anchor="ctr"/>
          <a:lstStyle/>
          <a:p>
            <a:pPr marL="0" indent="0">
              <a:buNone/>
            </a:pPr>
            <a:r>
              <a:rPr lang="en-US" sz="1000" b="1" dirty="0">
                <a:solidFill>
                  <a:srgbClr val="1DB954"/>
                </a:solidFill>
              </a:rPr>
              <a:t>02</a:t>
            </a:r>
            <a:endParaRPr lang="en-US" sz="1000" dirty="0"/>
          </a:p>
        </p:txBody>
      </p:sp>
      <p:sp>
        <p:nvSpPr>
          <p:cNvPr id="14" name="Text 12"/>
          <p:cNvSpPr/>
          <p:nvPr/>
        </p:nvSpPr>
        <p:spPr>
          <a:xfrm>
            <a:off x="3401568" y="2194560"/>
            <a:ext cx="2194560" cy="640080"/>
          </a:xfrm>
          <a:prstGeom prst="rect">
            <a:avLst/>
          </a:prstGeom>
          <a:noFill/>
          <a:ln/>
        </p:spPr>
        <p:txBody>
          <a:bodyPr wrap="square" rtlCol="0" anchor="ctr"/>
          <a:lstStyle/>
          <a:p>
            <a:pPr marL="0" indent="0">
              <a:buNone/>
            </a:pPr>
            <a:r>
              <a:rPr lang="en-US" sz="1500" b="1" dirty="0">
                <a:solidFill>
                  <a:srgbClr val="FFFFFF"/>
                </a:solidFill>
              </a:rPr>
              <a:t>Feature</a:t>
            </a:r>
            <a:endParaRPr lang="en-US" sz="1500" dirty="0"/>
          </a:p>
          <a:p>
            <a:pPr marL="0" indent="0">
              <a:buNone/>
            </a:pPr>
            <a:r>
              <a:rPr lang="en-US" sz="1500" b="1" dirty="0">
                <a:solidFill>
                  <a:srgbClr val="FFFFFF"/>
                </a:solidFill>
              </a:rPr>
              <a:t>correlations</a:t>
            </a:r>
            <a:endParaRPr lang="en-US" sz="1500" dirty="0"/>
          </a:p>
        </p:txBody>
      </p:sp>
      <p:sp>
        <p:nvSpPr>
          <p:cNvPr id="15" name="Shape 13"/>
          <p:cNvSpPr/>
          <p:nvPr/>
        </p:nvSpPr>
        <p:spPr>
          <a:xfrm>
            <a:off x="6126480" y="1920240"/>
            <a:ext cx="2560320" cy="1005840"/>
          </a:xfrm>
          <a:prstGeom prst="rect">
            <a:avLst/>
          </a:prstGeom>
          <a:solidFill>
            <a:srgbClr val="1E1E2E"/>
          </a:solidFill>
          <a:ln w="6350">
            <a:solidFill>
              <a:srgbClr val="2A2A3E"/>
            </a:solidFill>
            <a:prstDash val="solid"/>
          </a:ln>
        </p:spPr>
        <p:txBody>
          <a:bodyPr/>
          <a:lstStyle/>
          <a:p>
            <a:endParaRPr lang="de-CH"/>
          </a:p>
        </p:txBody>
      </p:sp>
      <p:sp>
        <p:nvSpPr>
          <p:cNvPr id="16" name="Shape 14"/>
          <p:cNvSpPr/>
          <p:nvPr/>
        </p:nvSpPr>
        <p:spPr>
          <a:xfrm>
            <a:off x="6126480" y="1920240"/>
            <a:ext cx="54864" cy="1005840"/>
          </a:xfrm>
          <a:prstGeom prst="rect">
            <a:avLst/>
          </a:prstGeom>
          <a:solidFill>
            <a:srgbClr val="1DB954"/>
          </a:solidFill>
          <a:ln w="12700">
            <a:solidFill>
              <a:srgbClr val="1DB954"/>
            </a:solidFill>
            <a:prstDash val="solid"/>
          </a:ln>
        </p:spPr>
        <p:txBody>
          <a:bodyPr/>
          <a:lstStyle/>
          <a:p>
            <a:endParaRPr lang="de-CH"/>
          </a:p>
        </p:txBody>
      </p:sp>
      <p:sp>
        <p:nvSpPr>
          <p:cNvPr id="17" name="Text 15"/>
          <p:cNvSpPr/>
          <p:nvPr/>
        </p:nvSpPr>
        <p:spPr>
          <a:xfrm>
            <a:off x="6236208" y="1965960"/>
            <a:ext cx="365760" cy="274320"/>
          </a:xfrm>
          <a:prstGeom prst="rect">
            <a:avLst/>
          </a:prstGeom>
          <a:noFill/>
          <a:ln/>
        </p:spPr>
        <p:txBody>
          <a:bodyPr wrap="square" rtlCol="0" anchor="ctr"/>
          <a:lstStyle/>
          <a:p>
            <a:pPr marL="0" indent="0">
              <a:buNone/>
            </a:pPr>
            <a:r>
              <a:rPr lang="en-US" sz="1000" b="1" dirty="0">
                <a:solidFill>
                  <a:srgbClr val="1DB954"/>
                </a:solidFill>
              </a:rPr>
              <a:t>03</a:t>
            </a:r>
            <a:endParaRPr lang="en-US" sz="1000" dirty="0"/>
          </a:p>
        </p:txBody>
      </p:sp>
      <p:sp>
        <p:nvSpPr>
          <p:cNvPr id="18" name="Text 16"/>
          <p:cNvSpPr/>
          <p:nvPr/>
        </p:nvSpPr>
        <p:spPr>
          <a:xfrm>
            <a:off x="6236208" y="2194560"/>
            <a:ext cx="2194560" cy="640080"/>
          </a:xfrm>
          <a:prstGeom prst="rect">
            <a:avLst/>
          </a:prstGeom>
          <a:noFill/>
          <a:ln/>
        </p:spPr>
        <p:txBody>
          <a:bodyPr wrap="square" rtlCol="0" anchor="ctr"/>
          <a:lstStyle/>
          <a:p>
            <a:pPr marL="0" indent="0">
              <a:buNone/>
            </a:pPr>
            <a:r>
              <a:rPr lang="en-US" sz="1500" b="1" dirty="0">
                <a:solidFill>
                  <a:srgbClr val="FFFFFF"/>
                </a:solidFill>
              </a:rPr>
              <a:t>Genre</a:t>
            </a:r>
            <a:endParaRPr lang="en-US" sz="1500" dirty="0"/>
          </a:p>
          <a:p>
            <a:pPr marL="0" indent="0">
              <a:buNone/>
            </a:pPr>
            <a:r>
              <a:rPr lang="en-US" sz="1500" b="1" dirty="0">
                <a:solidFill>
                  <a:srgbClr val="FFFFFF"/>
                </a:solidFill>
              </a:rPr>
              <a:t>profiles</a:t>
            </a:r>
            <a:endParaRPr lang="en-US" sz="1500" dirty="0"/>
          </a:p>
        </p:txBody>
      </p:sp>
      <p:sp>
        <p:nvSpPr>
          <p:cNvPr id="19" name="Shape 17"/>
          <p:cNvSpPr/>
          <p:nvPr/>
        </p:nvSpPr>
        <p:spPr>
          <a:xfrm>
            <a:off x="457200" y="3108960"/>
            <a:ext cx="2560320" cy="1005840"/>
          </a:xfrm>
          <a:prstGeom prst="rect">
            <a:avLst/>
          </a:prstGeom>
          <a:solidFill>
            <a:srgbClr val="1E1E2E"/>
          </a:solidFill>
          <a:ln w="6350">
            <a:solidFill>
              <a:srgbClr val="2A2A3E"/>
            </a:solidFill>
            <a:prstDash val="solid"/>
          </a:ln>
        </p:spPr>
        <p:txBody>
          <a:bodyPr/>
          <a:lstStyle/>
          <a:p>
            <a:endParaRPr lang="de-CH"/>
          </a:p>
        </p:txBody>
      </p:sp>
      <p:sp>
        <p:nvSpPr>
          <p:cNvPr id="20" name="Shape 18"/>
          <p:cNvSpPr/>
          <p:nvPr/>
        </p:nvSpPr>
        <p:spPr>
          <a:xfrm>
            <a:off x="457200" y="3108960"/>
            <a:ext cx="54864" cy="1005840"/>
          </a:xfrm>
          <a:prstGeom prst="rect">
            <a:avLst/>
          </a:prstGeom>
          <a:solidFill>
            <a:srgbClr val="1DB954"/>
          </a:solidFill>
          <a:ln w="12700">
            <a:solidFill>
              <a:srgbClr val="1DB954"/>
            </a:solidFill>
            <a:prstDash val="solid"/>
          </a:ln>
        </p:spPr>
        <p:txBody>
          <a:bodyPr/>
          <a:lstStyle/>
          <a:p>
            <a:endParaRPr lang="de-CH"/>
          </a:p>
        </p:txBody>
      </p:sp>
      <p:sp>
        <p:nvSpPr>
          <p:cNvPr id="21" name="Text 19"/>
          <p:cNvSpPr/>
          <p:nvPr/>
        </p:nvSpPr>
        <p:spPr>
          <a:xfrm>
            <a:off x="566928" y="3154680"/>
            <a:ext cx="365760" cy="274320"/>
          </a:xfrm>
          <a:prstGeom prst="rect">
            <a:avLst/>
          </a:prstGeom>
          <a:noFill/>
          <a:ln/>
        </p:spPr>
        <p:txBody>
          <a:bodyPr wrap="square" rtlCol="0" anchor="ctr"/>
          <a:lstStyle/>
          <a:p>
            <a:pPr marL="0" indent="0">
              <a:buNone/>
            </a:pPr>
            <a:r>
              <a:rPr lang="en-US" sz="1000" b="1" dirty="0">
                <a:solidFill>
                  <a:srgbClr val="1DB954"/>
                </a:solidFill>
              </a:rPr>
              <a:t>04</a:t>
            </a:r>
            <a:endParaRPr lang="en-US" sz="1000" dirty="0"/>
          </a:p>
        </p:txBody>
      </p:sp>
      <p:sp>
        <p:nvSpPr>
          <p:cNvPr id="22" name="Text 20"/>
          <p:cNvSpPr/>
          <p:nvPr/>
        </p:nvSpPr>
        <p:spPr>
          <a:xfrm>
            <a:off x="566928" y="3383280"/>
            <a:ext cx="2194560" cy="640080"/>
          </a:xfrm>
          <a:prstGeom prst="rect">
            <a:avLst/>
          </a:prstGeom>
          <a:noFill/>
          <a:ln/>
        </p:spPr>
        <p:txBody>
          <a:bodyPr wrap="square" rtlCol="0" anchor="ctr"/>
          <a:lstStyle/>
          <a:p>
            <a:pPr marL="0" indent="0">
              <a:buNone/>
            </a:pPr>
            <a:r>
              <a:rPr lang="en-US" sz="1500" b="1" dirty="0">
                <a:solidFill>
                  <a:srgbClr val="FFFFFF"/>
                </a:solidFill>
              </a:rPr>
              <a:t>Hits vs</a:t>
            </a:r>
            <a:endParaRPr lang="en-US" sz="1500" dirty="0"/>
          </a:p>
          <a:p>
            <a:pPr marL="0" indent="0">
              <a:buNone/>
            </a:pPr>
            <a:r>
              <a:rPr lang="en-US" sz="1500" b="1" dirty="0">
                <a:solidFill>
                  <a:srgbClr val="FFFFFF"/>
                </a:solidFill>
              </a:rPr>
              <a:t>non-hits</a:t>
            </a:r>
            <a:endParaRPr lang="en-US" sz="1500" dirty="0"/>
          </a:p>
        </p:txBody>
      </p:sp>
      <p:sp>
        <p:nvSpPr>
          <p:cNvPr id="23" name="Shape 21"/>
          <p:cNvSpPr/>
          <p:nvPr/>
        </p:nvSpPr>
        <p:spPr>
          <a:xfrm>
            <a:off x="3291840" y="3108960"/>
            <a:ext cx="2560320" cy="1005840"/>
          </a:xfrm>
          <a:prstGeom prst="rect">
            <a:avLst/>
          </a:prstGeom>
          <a:solidFill>
            <a:srgbClr val="1E1E2E"/>
          </a:solidFill>
          <a:ln w="6350">
            <a:solidFill>
              <a:srgbClr val="2A2A3E"/>
            </a:solidFill>
            <a:prstDash val="solid"/>
          </a:ln>
        </p:spPr>
        <p:txBody>
          <a:bodyPr/>
          <a:lstStyle/>
          <a:p>
            <a:endParaRPr lang="de-CH"/>
          </a:p>
        </p:txBody>
      </p:sp>
      <p:sp>
        <p:nvSpPr>
          <p:cNvPr id="24" name="Shape 22"/>
          <p:cNvSpPr/>
          <p:nvPr/>
        </p:nvSpPr>
        <p:spPr>
          <a:xfrm>
            <a:off x="3291840" y="3108960"/>
            <a:ext cx="54864" cy="1005840"/>
          </a:xfrm>
          <a:prstGeom prst="rect">
            <a:avLst/>
          </a:prstGeom>
          <a:solidFill>
            <a:srgbClr val="1DB954"/>
          </a:solidFill>
          <a:ln w="12700">
            <a:solidFill>
              <a:srgbClr val="1DB954"/>
            </a:solidFill>
            <a:prstDash val="solid"/>
          </a:ln>
        </p:spPr>
        <p:txBody>
          <a:bodyPr/>
          <a:lstStyle/>
          <a:p>
            <a:endParaRPr lang="de-CH"/>
          </a:p>
        </p:txBody>
      </p:sp>
      <p:sp>
        <p:nvSpPr>
          <p:cNvPr id="25" name="Text 23"/>
          <p:cNvSpPr/>
          <p:nvPr/>
        </p:nvSpPr>
        <p:spPr>
          <a:xfrm>
            <a:off x="3401568" y="3154680"/>
            <a:ext cx="365760" cy="274320"/>
          </a:xfrm>
          <a:prstGeom prst="rect">
            <a:avLst/>
          </a:prstGeom>
          <a:noFill/>
          <a:ln/>
        </p:spPr>
        <p:txBody>
          <a:bodyPr wrap="square" rtlCol="0" anchor="ctr"/>
          <a:lstStyle/>
          <a:p>
            <a:pPr marL="0" indent="0">
              <a:buNone/>
            </a:pPr>
            <a:r>
              <a:rPr lang="en-US" sz="1000" b="1" dirty="0">
                <a:solidFill>
                  <a:srgbClr val="1DB954"/>
                </a:solidFill>
              </a:rPr>
              <a:t>05</a:t>
            </a:r>
            <a:endParaRPr lang="en-US" sz="1000" dirty="0"/>
          </a:p>
        </p:txBody>
      </p:sp>
      <p:sp>
        <p:nvSpPr>
          <p:cNvPr id="26" name="Text 24"/>
          <p:cNvSpPr/>
          <p:nvPr/>
        </p:nvSpPr>
        <p:spPr>
          <a:xfrm>
            <a:off x="3401568" y="3383280"/>
            <a:ext cx="2194560" cy="640080"/>
          </a:xfrm>
          <a:prstGeom prst="rect">
            <a:avLst/>
          </a:prstGeom>
          <a:noFill/>
          <a:ln/>
        </p:spPr>
        <p:txBody>
          <a:bodyPr wrap="square" rtlCol="0" anchor="ctr"/>
          <a:lstStyle/>
          <a:p>
            <a:pPr marL="0" indent="0">
              <a:buNone/>
            </a:pPr>
            <a:r>
              <a:rPr lang="en-US" sz="1500" b="1" dirty="0">
                <a:solidFill>
                  <a:srgbClr val="FFFFFF"/>
                </a:solidFill>
              </a:rPr>
              <a:t>Mood</a:t>
            </a:r>
            <a:endParaRPr lang="en-US" sz="1500" dirty="0"/>
          </a:p>
          <a:p>
            <a:pPr marL="0" indent="0">
              <a:buNone/>
            </a:pPr>
            <a:r>
              <a:rPr lang="en-US" sz="1500" b="1" dirty="0">
                <a:solidFill>
                  <a:srgbClr val="FFFFFF"/>
                </a:solidFill>
              </a:rPr>
              <a:t>map</a:t>
            </a:r>
            <a:endParaRPr lang="en-US" sz="1500" dirty="0"/>
          </a:p>
        </p:txBody>
      </p:sp>
      <p:sp>
        <p:nvSpPr>
          <p:cNvPr id="27" name="Shape 25"/>
          <p:cNvSpPr/>
          <p:nvPr/>
        </p:nvSpPr>
        <p:spPr>
          <a:xfrm>
            <a:off x="6126480" y="3108960"/>
            <a:ext cx="2560320" cy="1005840"/>
          </a:xfrm>
          <a:prstGeom prst="rect">
            <a:avLst/>
          </a:prstGeom>
          <a:solidFill>
            <a:srgbClr val="1E1E2E"/>
          </a:solidFill>
          <a:ln w="6350">
            <a:solidFill>
              <a:srgbClr val="2A2A3E"/>
            </a:solidFill>
            <a:prstDash val="solid"/>
          </a:ln>
        </p:spPr>
        <p:txBody>
          <a:bodyPr/>
          <a:lstStyle/>
          <a:p>
            <a:endParaRPr lang="de-CH"/>
          </a:p>
        </p:txBody>
      </p:sp>
      <p:sp>
        <p:nvSpPr>
          <p:cNvPr id="28" name="Shape 26"/>
          <p:cNvSpPr/>
          <p:nvPr/>
        </p:nvSpPr>
        <p:spPr>
          <a:xfrm>
            <a:off x="6126480" y="3108960"/>
            <a:ext cx="54864" cy="1005840"/>
          </a:xfrm>
          <a:prstGeom prst="rect">
            <a:avLst/>
          </a:prstGeom>
          <a:solidFill>
            <a:srgbClr val="1DB954"/>
          </a:solidFill>
          <a:ln w="12700">
            <a:solidFill>
              <a:srgbClr val="1DB954"/>
            </a:solidFill>
            <a:prstDash val="solid"/>
          </a:ln>
        </p:spPr>
        <p:txBody>
          <a:bodyPr/>
          <a:lstStyle/>
          <a:p>
            <a:endParaRPr lang="de-CH"/>
          </a:p>
        </p:txBody>
      </p:sp>
      <p:sp>
        <p:nvSpPr>
          <p:cNvPr id="29" name="Text 27"/>
          <p:cNvSpPr/>
          <p:nvPr/>
        </p:nvSpPr>
        <p:spPr>
          <a:xfrm>
            <a:off x="6236208" y="3154680"/>
            <a:ext cx="365760" cy="274320"/>
          </a:xfrm>
          <a:prstGeom prst="rect">
            <a:avLst/>
          </a:prstGeom>
          <a:noFill/>
          <a:ln/>
        </p:spPr>
        <p:txBody>
          <a:bodyPr wrap="square" rtlCol="0" anchor="ctr"/>
          <a:lstStyle/>
          <a:p>
            <a:pPr marL="0" indent="0">
              <a:buNone/>
            </a:pPr>
            <a:r>
              <a:rPr lang="en-US" sz="1000" b="1" dirty="0">
                <a:solidFill>
                  <a:srgbClr val="1DB954"/>
                </a:solidFill>
              </a:rPr>
              <a:t>06</a:t>
            </a:r>
            <a:endParaRPr lang="en-US" sz="1000" dirty="0"/>
          </a:p>
        </p:txBody>
      </p:sp>
      <p:sp>
        <p:nvSpPr>
          <p:cNvPr id="30" name="Text 28"/>
          <p:cNvSpPr/>
          <p:nvPr/>
        </p:nvSpPr>
        <p:spPr>
          <a:xfrm>
            <a:off x="6236208" y="3383280"/>
            <a:ext cx="2194560" cy="640080"/>
          </a:xfrm>
          <a:prstGeom prst="rect">
            <a:avLst/>
          </a:prstGeom>
          <a:noFill/>
          <a:ln/>
        </p:spPr>
        <p:txBody>
          <a:bodyPr wrap="square" rtlCol="0" anchor="ctr"/>
          <a:lstStyle/>
          <a:p>
            <a:pPr marL="0" indent="0">
              <a:buNone/>
            </a:pPr>
            <a:r>
              <a:rPr lang="en-US" sz="1500" b="1" dirty="0">
                <a:solidFill>
                  <a:srgbClr val="FFFFFF"/>
                </a:solidFill>
              </a:rPr>
              <a:t>"Your</a:t>
            </a:r>
            <a:endParaRPr lang="en-US" sz="1500" dirty="0"/>
          </a:p>
          <a:p>
            <a:pPr marL="0" indent="0">
              <a:buNone/>
            </a:pPr>
            <a:r>
              <a:rPr lang="en-US" sz="1500" b="1" dirty="0">
                <a:solidFill>
                  <a:srgbClr val="FFFFFF"/>
                </a:solidFill>
              </a:rPr>
              <a:t>track"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02</a:t>
            </a:r>
            <a:endParaRPr lang="en-US" sz="1100" dirty="0"/>
          </a:p>
        </p:txBody>
      </p:sp>
      <p:sp>
        <p:nvSpPr>
          <p:cNvPr id="4" name="Text 2"/>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Target audience &amp; personas</a:t>
            </a:r>
            <a:endParaRPr lang="en-US" sz="1200" dirty="0"/>
          </a:p>
        </p:txBody>
      </p:sp>
      <p:sp>
        <p:nvSpPr>
          <p:cNvPr id="5" name="Text 3"/>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Who are we designing for?</a:t>
            </a:r>
            <a:endParaRPr lang="en-US" sz="2800" dirty="0"/>
          </a:p>
        </p:txBody>
      </p:sp>
      <p:sp>
        <p:nvSpPr>
          <p:cNvPr id="8" name="Shape 6"/>
          <p:cNvSpPr/>
          <p:nvPr/>
        </p:nvSpPr>
        <p:spPr>
          <a:xfrm>
            <a:off x="457200" y="1603390"/>
            <a:ext cx="4114800" cy="2743200"/>
          </a:xfrm>
          <a:prstGeom prst="rect">
            <a:avLst/>
          </a:prstGeom>
          <a:solidFill>
            <a:srgbClr val="1E1E2E"/>
          </a:solidFill>
          <a:ln w="6350">
            <a:solidFill>
              <a:srgbClr val="2A2A3E"/>
            </a:solidFill>
            <a:prstDash val="solid"/>
          </a:ln>
        </p:spPr>
        <p:txBody>
          <a:bodyPr/>
          <a:lstStyle/>
          <a:p>
            <a:endParaRPr lang="de-CH"/>
          </a:p>
        </p:txBody>
      </p:sp>
      <p:sp>
        <p:nvSpPr>
          <p:cNvPr id="9" name="Shape 7"/>
          <p:cNvSpPr/>
          <p:nvPr/>
        </p:nvSpPr>
        <p:spPr>
          <a:xfrm>
            <a:off x="640080" y="1740550"/>
            <a:ext cx="640080" cy="640080"/>
          </a:xfrm>
          <a:prstGeom prst="ellipse">
            <a:avLst/>
          </a:prstGeom>
          <a:solidFill>
            <a:srgbClr val="1DB954"/>
          </a:solidFill>
          <a:ln w="12700">
            <a:solidFill>
              <a:srgbClr val="1DB954"/>
            </a:solidFill>
            <a:prstDash val="solid"/>
          </a:ln>
        </p:spPr>
        <p:txBody>
          <a:bodyPr/>
          <a:lstStyle/>
          <a:p>
            <a:endParaRPr lang="de-CH"/>
          </a:p>
        </p:txBody>
      </p:sp>
      <p:sp>
        <p:nvSpPr>
          <p:cNvPr id="10" name="Text 8"/>
          <p:cNvSpPr/>
          <p:nvPr/>
        </p:nvSpPr>
        <p:spPr>
          <a:xfrm>
            <a:off x="640080" y="1740550"/>
            <a:ext cx="640080" cy="640080"/>
          </a:xfrm>
          <a:prstGeom prst="rect">
            <a:avLst/>
          </a:prstGeom>
          <a:noFill/>
          <a:ln/>
        </p:spPr>
        <p:txBody>
          <a:bodyPr wrap="square" lIns="0" tIns="0" rIns="0" bIns="0" rtlCol="0" anchor="ctr"/>
          <a:lstStyle/>
          <a:p>
            <a:pPr marL="0" indent="0" algn="ctr">
              <a:buNone/>
            </a:pPr>
            <a:r>
              <a:rPr lang="en-US" sz="1800" b="1" dirty="0">
                <a:solidFill>
                  <a:srgbClr val="000000"/>
                </a:solidFill>
              </a:rPr>
              <a:t>L</a:t>
            </a:r>
            <a:endParaRPr lang="en-US" sz="1800" dirty="0"/>
          </a:p>
        </p:txBody>
      </p:sp>
      <p:sp>
        <p:nvSpPr>
          <p:cNvPr id="11" name="Text 9"/>
          <p:cNvSpPr/>
          <p:nvPr/>
        </p:nvSpPr>
        <p:spPr>
          <a:xfrm>
            <a:off x="1371600" y="1713118"/>
            <a:ext cx="3017520" cy="320040"/>
          </a:xfrm>
          <a:prstGeom prst="rect">
            <a:avLst/>
          </a:prstGeom>
          <a:noFill/>
          <a:ln/>
        </p:spPr>
        <p:txBody>
          <a:bodyPr wrap="square" rtlCol="0" anchor="ctr"/>
          <a:lstStyle/>
          <a:p>
            <a:pPr marL="0" indent="0">
              <a:buNone/>
            </a:pPr>
            <a:r>
              <a:rPr lang="en-US" sz="1500" b="1" dirty="0">
                <a:solidFill>
                  <a:srgbClr val="FFFFFF"/>
                </a:solidFill>
              </a:rPr>
              <a:t>Lena Bachmann</a:t>
            </a:r>
            <a:endParaRPr lang="en-US" sz="1500" dirty="0"/>
          </a:p>
        </p:txBody>
      </p:sp>
      <p:sp>
        <p:nvSpPr>
          <p:cNvPr id="12" name="Text 10"/>
          <p:cNvSpPr/>
          <p:nvPr/>
        </p:nvSpPr>
        <p:spPr>
          <a:xfrm>
            <a:off x="1371600" y="2033158"/>
            <a:ext cx="3017520" cy="256032"/>
          </a:xfrm>
          <a:prstGeom prst="rect">
            <a:avLst/>
          </a:prstGeom>
          <a:noFill/>
          <a:ln/>
        </p:spPr>
        <p:txBody>
          <a:bodyPr wrap="square" rtlCol="0" anchor="ctr"/>
          <a:lstStyle/>
          <a:p>
            <a:pPr marL="0" indent="0">
              <a:buNone/>
            </a:pPr>
            <a:r>
              <a:rPr lang="en-US" sz="1200" dirty="0">
                <a:solidFill>
                  <a:srgbClr val="9999BB"/>
                </a:solidFill>
              </a:rPr>
              <a:t>Communication design student</a:t>
            </a:r>
            <a:endParaRPr lang="en-US" sz="1200" dirty="0"/>
          </a:p>
        </p:txBody>
      </p:sp>
      <p:sp>
        <p:nvSpPr>
          <p:cNvPr id="13" name="Text 11"/>
          <p:cNvSpPr/>
          <p:nvPr/>
        </p:nvSpPr>
        <p:spPr>
          <a:xfrm>
            <a:off x="640080" y="2426350"/>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Casual daily Spotify listener</a:t>
            </a:r>
            <a:endParaRPr lang="en-US" sz="1400" dirty="0"/>
          </a:p>
        </p:txBody>
      </p:sp>
      <p:sp>
        <p:nvSpPr>
          <p:cNvPr id="14" name="Text 12"/>
          <p:cNvSpPr/>
          <p:nvPr/>
        </p:nvSpPr>
        <p:spPr>
          <a:xfrm>
            <a:off x="640080" y="2773822"/>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No coding or data background</a:t>
            </a:r>
            <a:endParaRPr lang="en-US" sz="1400" dirty="0"/>
          </a:p>
        </p:txBody>
      </p:sp>
      <p:sp>
        <p:nvSpPr>
          <p:cNvPr id="15" name="Text 13"/>
          <p:cNvSpPr/>
          <p:nvPr/>
        </p:nvSpPr>
        <p:spPr>
          <a:xfrm>
            <a:off x="640080" y="3121294"/>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Wants to understand why songs blow up</a:t>
            </a:r>
            <a:endParaRPr lang="en-US" sz="1400" dirty="0"/>
          </a:p>
        </p:txBody>
      </p:sp>
      <p:sp>
        <p:nvSpPr>
          <p:cNvPr id="16" name="Shape 14"/>
          <p:cNvSpPr/>
          <p:nvPr/>
        </p:nvSpPr>
        <p:spPr>
          <a:xfrm>
            <a:off x="640080" y="3706510"/>
            <a:ext cx="3749040" cy="502920"/>
          </a:xfrm>
          <a:prstGeom prst="rect">
            <a:avLst/>
          </a:prstGeom>
          <a:solidFill>
            <a:srgbClr val="111122"/>
          </a:solidFill>
          <a:ln w="6350">
            <a:solidFill>
              <a:srgbClr val="1DB954"/>
            </a:solidFill>
            <a:prstDash val="solid"/>
          </a:ln>
        </p:spPr>
        <p:txBody>
          <a:bodyPr/>
          <a:lstStyle/>
          <a:p>
            <a:endParaRPr lang="de-CH"/>
          </a:p>
        </p:txBody>
      </p:sp>
      <p:sp>
        <p:nvSpPr>
          <p:cNvPr id="17" name="Text 15"/>
          <p:cNvSpPr/>
          <p:nvPr/>
        </p:nvSpPr>
        <p:spPr>
          <a:xfrm>
            <a:off x="731520" y="3724798"/>
            <a:ext cx="3657600" cy="457200"/>
          </a:xfrm>
          <a:prstGeom prst="rect">
            <a:avLst/>
          </a:prstGeom>
          <a:noFill/>
          <a:ln/>
        </p:spPr>
        <p:txBody>
          <a:bodyPr wrap="square" rtlCol="0" anchor="ctr"/>
          <a:lstStyle/>
          <a:p>
            <a:pPr marL="0" indent="0">
              <a:buNone/>
            </a:pPr>
            <a:r>
              <a:rPr lang="en-US" sz="1200" i="1" dirty="0">
                <a:solidFill>
                  <a:srgbClr val="00E676"/>
                </a:solidFill>
              </a:rPr>
              <a:t>→ Plain language, no jargon, narrative framing over raw stats</a:t>
            </a:r>
            <a:endParaRPr lang="en-US" sz="1200" dirty="0"/>
          </a:p>
        </p:txBody>
      </p:sp>
      <p:pic>
        <p:nvPicPr>
          <p:cNvPr id="28" name="Picture 2" descr="Young girl student smiling against university. | Premium Photo">
            <a:extLst>
              <a:ext uri="{FF2B5EF4-FFF2-40B4-BE49-F238E27FC236}">
                <a16:creationId xmlns:a16="http://schemas.microsoft.com/office/drawing/2014/main" id="{BF41D071-4F7B-6358-B086-40A1704998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45648" y="1706588"/>
            <a:ext cx="3684704" cy="24545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29" name="Textfeld 28">
            <a:extLst>
              <a:ext uri="{FF2B5EF4-FFF2-40B4-BE49-F238E27FC236}">
                <a16:creationId xmlns:a16="http://schemas.microsoft.com/office/drawing/2014/main" id="{F0395F0A-11F1-7B0A-AE45-F088182F2661}"/>
              </a:ext>
            </a:extLst>
          </p:cNvPr>
          <p:cNvSpPr txBox="1"/>
          <p:nvPr/>
        </p:nvSpPr>
        <p:spPr>
          <a:xfrm>
            <a:off x="4966044" y="4161095"/>
            <a:ext cx="3988584" cy="338554"/>
          </a:xfrm>
          <a:prstGeom prst="rect">
            <a:avLst/>
          </a:prstGeom>
          <a:noFill/>
        </p:spPr>
        <p:txBody>
          <a:bodyPr wrap="square" rtlCol="0">
            <a:spAutoFit/>
          </a:bodyPr>
          <a:lstStyle/>
          <a:p>
            <a:r>
              <a:rPr lang="de-CH" sz="800" dirty="0">
                <a:solidFill>
                  <a:srgbClr val="CCCCDD"/>
                </a:solidFill>
              </a:rPr>
              <a:t>[1] https://www.magnific.com/premium-photo/young-girl-student-smiling-against-university_5670223.html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4942D-70A2-51A1-E826-D3B668DEB46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7A3EE27-E97B-D768-4EF9-3DC78BD8A2EC}"/>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E22737C9-EFE4-C6FE-C9D6-951F05AEF5DC}"/>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02</a:t>
            </a:r>
            <a:endParaRPr lang="en-US" sz="1100" dirty="0"/>
          </a:p>
        </p:txBody>
      </p:sp>
      <p:sp>
        <p:nvSpPr>
          <p:cNvPr id="4" name="Text 2">
            <a:extLst>
              <a:ext uri="{FF2B5EF4-FFF2-40B4-BE49-F238E27FC236}">
                <a16:creationId xmlns:a16="http://schemas.microsoft.com/office/drawing/2014/main" id="{EBDC5589-BF58-BDCD-02F6-9D7BCFB05E6A}"/>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Target audience &amp; personas</a:t>
            </a:r>
            <a:endParaRPr lang="en-US" sz="1200" dirty="0"/>
          </a:p>
        </p:txBody>
      </p:sp>
      <p:sp>
        <p:nvSpPr>
          <p:cNvPr id="5" name="Text 3">
            <a:extLst>
              <a:ext uri="{FF2B5EF4-FFF2-40B4-BE49-F238E27FC236}">
                <a16:creationId xmlns:a16="http://schemas.microsoft.com/office/drawing/2014/main" id="{6A2BD0C9-D677-2AAE-86A4-B954FC7FF9CF}"/>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Who are we designing for?</a:t>
            </a:r>
            <a:endParaRPr lang="en-US" sz="2800" dirty="0"/>
          </a:p>
        </p:txBody>
      </p:sp>
      <p:sp>
        <p:nvSpPr>
          <p:cNvPr id="18" name="Shape 16">
            <a:extLst>
              <a:ext uri="{FF2B5EF4-FFF2-40B4-BE49-F238E27FC236}">
                <a16:creationId xmlns:a16="http://schemas.microsoft.com/office/drawing/2014/main" id="{C033758E-6D3A-7190-088B-BE0DA09502AE}"/>
              </a:ext>
            </a:extLst>
          </p:cNvPr>
          <p:cNvSpPr/>
          <p:nvPr/>
        </p:nvSpPr>
        <p:spPr>
          <a:xfrm>
            <a:off x="4800600" y="1603390"/>
            <a:ext cx="4114800" cy="2743200"/>
          </a:xfrm>
          <a:prstGeom prst="rect">
            <a:avLst/>
          </a:prstGeom>
          <a:solidFill>
            <a:srgbClr val="1E1E2E"/>
          </a:solidFill>
          <a:ln w="6350">
            <a:solidFill>
              <a:srgbClr val="2A2A3E"/>
            </a:solidFill>
            <a:prstDash val="solid"/>
          </a:ln>
        </p:spPr>
        <p:txBody>
          <a:bodyPr/>
          <a:lstStyle/>
          <a:p>
            <a:endParaRPr lang="de-CH"/>
          </a:p>
        </p:txBody>
      </p:sp>
      <p:sp>
        <p:nvSpPr>
          <p:cNvPr id="19" name="Shape 17">
            <a:extLst>
              <a:ext uri="{FF2B5EF4-FFF2-40B4-BE49-F238E27FC236}">
                <a16:creationId xmlns:a16="http://schemas.microsoft.com/office/drawing/2014/main" id="{F42D1F0E-5787-C8A8-DCC3-5CFBE3DD198E}"/>
              </a:ext>
            </a:extLst>
          </p:cNvPr>
          <p:cNvSpPr/>
          <p:nvPr/>
        </p:nvSpPr>
        <p:spPr>
          <a:xfrm>
            <a:off x="4983480" y="1740550"/>
            <a:ext cx="640080" cy="640080"/>
          </a:xfrm>
          <a:prstGeom prst="ellipse">
            <a:avLst/>
          </a:prstGeom>
          <a:solidFill>
            <a:srgbClr val="1DB954"/>
          </a:solidFill>
          <a:ln w="12700">
            <a:solidFill>
              <a:srgbClr val="1DB954"/>
            </a:solidFill>
            <a:prstDash val="solid"/>
          </a:ln>
        </p:spPr>
        <p:txBody>
          <a:bodyPr/>
          <a:lstStyle/>
          <a:p>
            <a:endParaRPr lang="de-CH"/>
          </a:p>
        </p:txBody>
      </p:sp>
      <p:sp>
        <p:nvSpPr>
          <p:cNvPr id="20" name="Text 18">
            <a:extLst>
              <a:ext uri="{FF2B5EF4-FFF2-40B4-BE49-F238E27FC236}">
                <a16:creationId xmlns:a16="http://schemas.microsoft.com/office/drawing/2014/main" id="{06AF87B4-DBCF-8920-537F-EEFD88956F2E}"/>
              </a:ext>
            </a:extLst>
          </p:cNvPr>
          <p:cNvSpPr/>
          <p:nvPr/>
        </p:nvSpPr>
        <p:spPr>
          <a:xfrm>
            <a:off x="4983480" y="1740550"/>
            <a:ext cx="640080" cy="640080"/>
          </a:xfrm>
          <a:prstGeom prst="rect">
            <a:avLst/>
          </a:prstGeom>
          <a:noFill/>
          <a:ln/>
        </p:spPr>
        <p:txBody>
          <a:bodyPr wrap="square" lIns="0" tIns="0" rIns="0" bIns="0" rtlCol="0" anchor="ctr"/>
          <a:lstStyle/>
          <a:p>
            <a:pPr marL="0" indent="0" algn="ctr">
              <a:buNone/>
            </a:pPr>
            <a:r>
              <a:rPr lang="en-US" sz="1800" b="1" dirty="0">
                <a:solidFill>
                  <a:srgbClr val="000000"/>
                </a:solidFill>
              </a:rPr>
              <a:t>J</a:t>
            </a:r>
            <a:endParaRPr lang="en-US" sz="1800" dirty="0"/>
          </a:p>
        </p:txBody>
      </p:sp>
      <p:sp>
        <p:nvSpPr>
          <p:cNvPr id="21" name="Text 19">
            <a:extLst>
              <a:ext uri="{FF2B5EF4-FFF2-40B4-BE49-F238E27FC236}">
                <a16:creationId xmlns:a16="http://schemas.microsoft.com/office/drawing/2014/main" id="{E763165D-294B-77A0-847F-2549F66F9D85}"/>
              </a:ext>
            </a:extLst>
          </p:cNvPr>
          <p:cNvSpPr/>
          <p:nvPr/>
        </p:nvSpPr>
        <p:spPr>
          <a:xfrm>
            <a:off x="5715000" y="1713118"/>
            <a:ext cx="3017520" cy="320040"/>
          </a:xfrm>
          <a:prstGeom prst="rect">
            <a:avLst/>
          </a:prstGeom>
          <a:noFill/>
          <a:ln/>
        </p:spPr>
        <p:txBody>
          <a:bodyPr wrap="square" rtlCol="0" anchor="ctr"/>
          <a:lstStyle/>
          <a:p>
            <a:pPr marL="0" indent="0">
              <a:buNone/>
            </a:pPr>
            <a:r>
              <a:rPr lang="en-US" sz="1500" b="1" dirty="0">
                <a:solidFill>
                  <a:srgbClr val="FFFFFF"/>
                </a:solidFill>
              </a:rPr>
              <a:t>Jonas Müller</a:t>
            </a:r>
            <a:endParaRPr lang="en-US" sz="1500" dirty="0"/>
          </a:p>
        </p:txBody>
      </p:sp>
      <p:sp>
        <p:nvSpPr>
          <p:cNvPr id="22" name="Text 20">
            <a:extLst>
              <a:ext uri="{FF2B5EF4-FFF2-40B4-BE49-F238E27FC236}">
                <a16:creationId xmlns:a16="http://schemas.microsoft.com/office/drawing/2014/main" id="{8137237B-A311-FB9E-9E1E-82BA34B89E47}"/>
              </a:ext>
            </a:extLst>
          </p:cNvPr>
          <p:cNvSpPr/>
          <p:nvPr/>
        </p:nvSpPr>
        <p:spPr>
          <a:xfrm>
            <a:off x="5715000" y="2033158"/>
            <a:ext cx="3017520" cy="256032"/>
          </a:xfrm>
          <a:prstGeom prst="rect">
            <a:avLst/>
          </a:prstGeom>
          <a:noFill/>
          <a:ln/>
        </p:spPr>
        <p:txBody>
          <a:bodyPr wrap="square" rtlCol="0" anchor="ctr"/>
          <a:lstStyle/>
          <a:p>
            <a:pPr marL="0" indent="0">
              <a:buNone/>
            </a:pPr>
            <a:r>
              <a:rPr lang="en-US" sz="1200" dirty="0">
                <a:solidFill>
                  <a:srgbClr val="9999BB"/>
                </a:solidFill>
              </a:rPr>
              <a:t>Bedroom music producer</a:t>
            </a:r>
            <a:endParaRPr lang="en-US" sz="1200" dirty="0"/>
          </a:p>
        </p:txBody>
      </p:sp>
      <p:sp>
        <p:nvSpPr>
          <p:cNvPr id="23" name="Text 21">
            <a:extLst>
              <a:ext uri="{FF2B5EF4-FFF2-40B4-BE49-F238E27FC236}">
                <a16:creationId xmlns:a16="http://schemas.microsoft.com/office/drawing/2014/main" id="{62952252-A21F-FE81-2512-AF15F10C89EE}"/>
              </a:ext>
            </a:extLst>
          </p:cNvPr>
          <p:cNvSpPr/>
          <p:nvPr/>
        </p:nvSpPr>
        <p:spPr>
          <a:xfrm>
            <a:off x="4983480" y="2426350"/>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Releases on SoundCloud &amp; Spotify</a:t>
            </a:r>
            <a:endParaRPr lang="en-US" sz="1400" dirty="0"/>
          </a:p>
        </p:txBody>
      </p:sp>
      <p:sp>
        <p:nvSpPr>
          <p:cNvPr id="24" name="Text 22">
            <a:extLst>
              <a:ext uri="{FF2B5EF4-FFF2-40B4-BE49-F238E27FC236}">
                <a16:creationId xmlns:a16="http://schemas.microsoft.com/office/drawing/2014/main" id="{B08C73E6-924B-7D53-74DE-BB7A912AF23F}"/>
              </a:ext>
            </a:extLst>
          </p:cNvPr>
          <p:cNvSpPr/>
          <p:nvPr/>
        </p:nvSpPr>
        <p:spPr>
          <a:xfrm>
            <a:off x="4983480" y="2773822"/>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Curious about what makes songs popular</a:t>
            </a:r>
            <a:endParaRPr lang="en-US" sz="1400" dirty="0"/>
          </a:p>
        </p:txBody>
      </p:sp>
      <p:sp>
        <p:nvSpPr>
          <p:cNvPr id="25" name="Text 23">
            <a:extLst>
              <a:ext uri="{FF2B5EF4-FFF2-40B4-BE49-F238E27FC236}">
                <a16:creationId xmlns:a16="http://schemas.microsoft.com/office/drawing/2014/main" id="{7A2DC454-A3BD-B5F6-9AFC-4BDB5A8CCDBE}"/>
              </a:ext>
            </a:extLst>
          </p:cNvPr>
          <p:cNvSpPr/>
          <p:nvPr/>
        </p:nvSpPr>
        <p:spPr>
          <a:xfrm>
            <a:off x="4983480" y="3121294"/>
            <a:ext cx="3749040" cy="320040"/>
          </a:xfrm>
          <a:prstGeom prst="rect">
            <a:avLst/>
          </a:prstGeom>
          <a:noFill/>
          <a:ln/>
        </p:spPr>
        <p:txBody>
          <a:bodyPr wrap="square" rtlCol="0" anchor="ctr"/>
          <a:lstStyle/>
          <a:p>
            <a:pPr marL="0" indent="0">
              <a:buNone/>
            </a:pPr>
            <a:r>
              <a:rPr lang="en-US" sz="1400" b="1" dirty="0">
                <a:solidFill>
                  <a:srgbClr val="1DB954"/>
                </a:solidFill>
              </a:rPr>
              <a:t>· </a:t>
            </a:r>
            <a:r>
              <a:rPr lang="en-US" sz="1400" dirty="0">
                <a:solidFill>
                  <a:srgbClr val="CCCCDD"/>
                </a:solidFill>
              </a:rPr>
              <a:t>No data science background</a:t>
            </a:r>
            <a:endParaRPr lang="en-US" sz="1400" dirty="0"/>
          </a:p>
        </p:txBody>
      </p:sp>
      <p:sp>
        <p:nvSpPr>
          <p:cNvPr id="26" name="Shape 24">
            <a:extLst>
              <a:ext uri="{FF2B5EF4-FFF2-40B4-BE49-F238E27FC236}">
                <a16:creationId xmlns:a16="http://schemas.microsoft.com/office/drawing/2014/main" id="{B173564B-07B4-E048-C8CA-F1746ADE4340}"/>
              </a:ext>
            </a:extLst>
          </p:cNvPr>
          <p:cNvSpPr/>
          <p:nvPr/>
        </p:nvSpPr>
        <p:spPr>
          <a:xfrm>
            <a:off x="4983480" y="3706510"/>
            <a:ext cx="3749040" cy="502920"/>
          </a:xfrm>
          <a:prstGeom prst="rect">
            <a:avLst/>
          </a:prstGeom>
          <a:solidFill>
            <a:srgbClr val="111122"/>
          </a:solidFill>
          <a:ln w="6350">
            <a:solidFill>
              <a:srgbClr val="1DB954"/>
            </a:solidFill>
            <a:prstDash val="solid"/>
          </a:ln>
        </p:spPr>
        <p:txBody>
          <a:bodyPr/>
          <a:lstStyle/>
          <a:p>
            <a:endParaRPr lang="de-CH"/>
          </a:p>
        </p:txBody>
      </p:sp>
      <p:sp>
        <p:nvSpPr>
          <p:cNvPr id="27" name="Text 25">
            <a:extLst>
              <a:ext uri="{FF2B5EF4-FFF2-40B4-BE49-F238E27FC236}">
                <a16:creationId xmlns:a16="http://schemas.microsoft.com/office/drawing/2014/main" id="{2FCCE06C-0D1F-BED7-D850-CAF4EE3CAF78}"/>
              </a:ext>
            </a:extLst>
          </p:cNvPr>
          <p:cNvSpPr/>
          <p:nvPr/>
        </p:nvSpPr>
        <p:spPr>
          <a:xfrm>
            <a:off x="5074920" y="3724798"/>
            <a:ext cx="3657600" cy="457200"/>
          </a:xfrm>
          <a:prstGeom prst="rect">
            <a:avLst/>
          </a:prstGeom>
          <a:noFill/>
          <a:ln/>
        </p:spPr>
        <p:txBody>
          <a:bodyPr wrap="square" rtlCol="0" anchor="ctr"/>
          <a:lstStyle/>
          <a:p>
            <a:pPr marL="0" indent="0">
              <a:buNone/>
            </a:pPr>
            <a:r>
              <a:rPr lang="en-US" sz="1200" i="1" dirty="0">
                <a:solidFill>
                  <a:srgbClr val="00E676"/>
                </a:solidFill>
              </a:rPr>
              <a:t>→ Interactive slider: "what would your song score?"</a:t>
            </a:r>
            <a:endParaRPr lang="en-US" sz="1200" dirty="0"/>
          </a:p>
        </p:txBody>
      </p:sp>
      <p:pic>
        <p:nvPicPr>
          <p:cNvPr id="7" name="Picture 6">
            <a:extLst>
              <a:ext uri="{FF2B5EF4-FFF2-40B4-BE49-F238E27FC236}">
                <a16:creationId xmlns:a16="http://schemas.microsoft.com/office/drawing/2014/main" id="{A26D4F3E-9C28-2AFF-CA70-066E275FE4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445" y="1791574"/>
            <a:ext cx="3548514" cy="2366831"/>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28" name="Textfeld 27">
            <a:extLst>
              <a:ext uri="{FF2B5EF4-FFF2-40B4-BE49-F238E27FC236}">
                <a16:creationId xmlns:a16="http://schemas.microsoft.com/office/drawing/2014/main" id="{D77500D4-6123-3D57-C61D-C75C59FA0BCB}"/>
              </a:ext>
            </a:extLst>
          </p:cNvPr>
          <p:cNvSpPr txBox="1"/>
          <p:nvPr/>
        </p:nvSpPr>
        <p:spPr>
          <a:xfrm>
            <a:off x="457200" y="4190133"/>
            <a:ext cx="3800982" cy="215444"/>
          </a:xfrm>
          <a:prstGeom prst="rect">
            <a:avLst/>
          </a:prstGeom>
          <a:noFill/>
        </p:spPr>
        <p:txBody>
          <a:bodyPr wrap="square">
            <a:spAutoFit/>
          </a:bodyPr>
          <a:lstStyle/>
          <a:p>
            <a:r>
              <a:rPr lang="de-CH" sz="800" dirty="0">
                <a:solidFill>
                  <a:srgbClr val="CCCCDD"/>
                </a:solidFill>
              </a:rPr>
              <a:t>[2] https://www.digitalmusicnews.com/2021/10/29/how-to-record-music-at-home/</a:t>
            </a:r>
            <a:endParaRPr lang="de-CH" sz="800" dirty="0"/>
          </a:p>
        </p:txBody>
      </p:sp>
    </p:spTree>
    <p:extLst>
      <p:ext uri="{BB962C8B-B14F-4D97-AF65-F5344CB8AC3E}">
        <p14:creationId xmlns:p14="http://schemas.microsoft.com/office/powerpoint/2010/main" val="2727207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03</a:t>
            </a:r>
            <a:endParaRPr lang="en-US" sz="1100" dirty="0"/>
          </a:p>
        </p:txBody>
      </p:sp>
      <p:sp>
        <p:nvSpPr>
          <p:cNvPr id="4" name="Text 2"/>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Format choice</a:t>
            </a:r>
            <a:endParaRPr lang="en-US" sz="1200" dirty="0"/>
          </a:p>
        </p:txBody>
      </p:sp>
      <p:sp>
        <p:nvSpPr>
          <p:cNvPr id="5" name="Text 3"/>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a data story and not a dashboard?</a:t>
            </a:r>
            <a:endParaRPr lang="en-US" sz="2800" dirty="0"/>
          </a:p>
        </p:txBody>
      </p:sp>
      <p:sp>
        <p:nvSpPr>
          <p:cNvPr id="6" name="Shape 4"/>
          <p:cNvSpPr/>
          <p:nvPr/>
        </p:nvSpPr>
        <p:spPr>
          <a:xfrm>
            <a:off x="457200" y="1554480"/>
            <a:ext cx="2606040" cy="1463040"/>
          </a:xfrm>
          <a:prstGeom prst="rect">
            <a:avLst/>
          </a:prstGeom>
          <a:solidFill>
            <a:srgbClr val="1E1E2E"/>
          </a:solidFill>
          <a:ln w="6350">
            <a:solidFill>
              <a:srgbClr val="2A2A3E"/>
            </a:solidFill>
            <a:prstDash val="solid"/>
          </a:ln>
        </p:spPr>
        <p:txBody>
          <a:bodyPr/>
          <a:lstStyle/>
          <a:p>
            <a:endParaRPr lang="de-CH"/>
          </a:p>
        </p:txBody>
      </p:sp>
      <p:sp>
        <p:nvSpPr>
          <p:cNvPr id="7" name="Shape 5"/>
          <p:cNvSpPr/>
          <p:nvPr/>
        </p:nvSpPr>
        <p:spPr>
          <a:xfrm>
            <a:off x="457200" y="1554480"/>
            <a:ext cx="2606040" cy="54864"/>
          </a:xfrm>
          <a:prstGeom prst="rect">
            <a:avLst/>
          </a:prstGeom>
          <a:solidFill>
            <a:srgbClr val="333355"/>
          </a:solidFill>
          <a:ln w="12700">
            <a:solidFill>
              <a:srgbClr val="333355"/>
            </a:solidFill>
            <a:prstDash val="solid"/>
          </a:ln>
        </p:spPr>
        <p:txBody>
          <a:bodyPr/>
          <a:lstStyle/>
          <a:p>
            <a:endParaRPr lang="de-CH"/>
          </a:p>
        </p:txBody>
      </p:sp>
      <p:sp>
        <p:nvSpPr>
          <p:cNvPr id="8" name="Text 6"/>
          <p:cNvSpPr/>
          <p:nvPr/>
        </p:nvSpPr>
        <p:spPr>
          <a:xfrm>
            <a:off x="594360" y="1691640"/>
            <a:ext cx="2331720" cy="365760"/>
          </a:xfrm>
          <a:prstGeom prst="rect">
            <a:avLst/>
          </a:prstGeom>
          <a:noFill/>
          <a:ln/>
        </p:spPr>
        <p:txBody>
          <a:bodyPr wrap="square" rtlCol="0" anchor="ctr"/>
          <a:lstStyle/>
          <a:p>
            <a:pPr marL="0" indent="0">
              <a:buNone/>
            </a:pPr>
            <a:r>
              <a:rPr lang="en-US" sz="1600" b="1" dirty="0">
                <a:solidFill>
                  <a:srgbClr val="9999BB"/>
                </a:solidFill>
              </a:rPr>
              <a:t>Exploratory</a:t>
            </a:r>
            <a:endParaRPr lang="en-US" sz="1600" dirty="0"/>
          </a:p>
        </p:txBody>
      </p:sp>
      <p:sp>
        <p:nvSpPr>
          <p:cNvPr id="10" name="Shape 8"/>
          <p:cNvSpPr/>
          <p:nvPr/>
        </p:nvSpPr>
        <p:spPr>
          <a:xfrm>
            <a:off x="3291840" y="1554480"/>
            <a:ext cx="2606040" cy="1463040"/>
          </a:xfrm>
          <a:prstGeom prst="rect">
            <a:avLst/>
          </a:prstGeom>
          <a:solidFill>
            <a:srgbClr val="1E1E2E"/>
          </a:solidFill>
          <a:ln w="6350">
            <a:solidFill>
              <a:srgbClr val="2A2A3E"/>
            </a:solidFill>
            <a:prstDash val="solid"/>
          </a:ln>
        </p:spPr>
        <p:txBody>
          <a:bodyPr/>
          <a:lstStyle/>
          <a:p>
            <a:endParaRPr lang="de-CH"/>
          </a:p>
        </p:txBody>
      </p:sp>
      <p:sp>
        <p:nvSpPr>
          <p:cNvPr id="11" name="Shape 9"/>
          <p:cNvSpPr/>
          <p:nvPr/>
        </p:nvSpPr>
        <p:spPr>
          <a:xfrm>
            <a:off x="3291840" y="1554480"/>
            <a:ext cx="2606040" cy="54864"/>
          </a:xfrm>
          <a:prstGeom prst="rect">
            <a:avLst/>
          </a:prstGeom>
          <a:solidFill>
            <a:srgbClr val="1DB954"/>
          </a:solidFill>
          <a:ln w="12700">
            <a:solidFill>
              <a:srgbClr val="1DB954"/>
            </a:solidFill>
            <a:prstDash val="solid"/>
          </a:ln>
        </p:spPr>
        <p:txBody>
          <a:bodyPr/>
          <a:lstStyle/>
          <a:p>
            <a:endParaRPr lang="de-CH"/>
          </a:p>
        </p:txBody>
      </p:sp>
      <p:sp>
        <p:nvSpPr>
          <p:cNvPr id="12" name="Text 10"/>
          <p:cNvSpPr/>
          <p:nvPr/>
        </p:nvSpPr>
        <p:spPr>
          <a:xfrm>
            <a:off x="3429000" y="1691640"/>
            <a:ext cx="2331720" cy="365760"/>
          </a:xfrm>
          <a:prstGeom prst="rect">
            <a:avLst/>
          </a:prstGeom>
          <a:noFill/>
          <a:ln/>
        </p:spPr>
        <p:txBody>
          <a:bodyPr wrap="square" rtlCol="0" anchor="ctr"/>
          <a:lstStyle/>
          <a:p>
            <a:pPr marL="0" indent="0">
              <a:buNone/>
            </a:pPr>
            <a:r>
              <a:rPr lang="en-US" sz="1600" b="1" dirty="0">
                <a:solidFill>
                  <a:srgbClr val="00E676"/>
                </a:solidFill>
              </a:rPr>
              <a:t>Explanatory</a:t>
            </a:r>
            <a:endParaRPr lang="en-US" sz="1600" dirty="0"/>
          </a:p>
        </p:txBody>
      </p:sp>
      <p:sp>
        <p:nvSpPr>
          <p:cNvPr id="13" name="Text 11"/>
          <p:cNvSpPr/>
          <p:nvPr/>
        </p:nvSpPr>
        <p:spPr>
          <a:xfrm>
            <a:off x="3429000" y="2103120"/>
            <a:ext cx="2331720" cy="731520"/>
          </a:xfrm>
          <a:prstGeom prst="rect">
            <a:avLst/>
          </a:prstGeom>
          <a:noFill/>
          <a:ln/>
        </p:spPr>
        <p:txBody>
          <a:bodyPr wrap="square" rtlCol="0" anchor="ctr"/>
          <a:lstStyle/>
          <a:p>
            <a:pPr marL="0" indent="0">
              <a:buNone/>
            </a:pPr>
            <a:r>
              <a:rPr lang="en-US" sz="1400" dirty="0">
                <a:solidFill>
                  <a:srgbClr val="FFFFFF"/>
                </a:solidFill>
              </a:rPr>
              <a:t>Highlights key</a:t>
            </a:r>
            <a:endParaRPr lang="en-US" sz="1400" dirty="0"/>
          </a:p>
          <a:p>
            <a:pPr marL="0" indent="0">
              <a:buNone/>
            </a:pPr>
            <a:r>
              <a:rPr lang="en-US" sz="1400" dirty="0">
                <a:solidFill>
                  <a:srgbClr val="FFFFFF"/>
                </a:solidFill>
              </a:rPr>
              <a:t>insights for reader</a:t>
            </a:r>
            <a:endParaRPr lang="en-US" sz="1400" dirty="0"/>
          </a:p>
        </p:txBody>
      </p:sp>
      <p:sp>
        <p:nvSpPr>
          <p:cNvPr id="14" name="Shape 12"/>
          <p:cNvSpPr/>
          <p:nvPr/>
        </p:nvSpPr>
        <p:spPr>
          <a:xfrm>
            <a:off x="5440680" y="1783080"/>
            <a:ext cx="320040" cy="320040"/>
          </a:xfrm>
          <a:prstGeom prst="ellipse">
            <a:avLst/>
          </a:prstGeom>
          <a:solidFill>
            <a:srgbClr val="1DB954"/>
          </a:solidFill>
          <a:ln w="12700">
            <a:solidFill>
              <a:srgbClr val="1DB954"/>
            </a:solidFill>
            <a:prstDash val="solid"/>
          </a:ln>
        </p:spPr>
        <p:txBody>
          <a:bodyPr/>
          <a:lstStyle/>
          <a:p>
            <a:endParaRPr lang="de-CH"/>
          </a:p>
        </p:txBody>
      </p:sp>
      <p:sp>
        <p:nvSpPr>
          <p:cNvPr id="15" name="Text 13"/>
          <p:cNvSpPr/>
          <p:nvPr/>
        </p:nvSpPr>
        <p:spPr>
          <a:xfrm>
            <a:off x="5440680" y="1783080"/>
            <a:ext cx="320040" cy="320040"/>
          </a:xfrm>
          <a:prstGeom prst="rect">
            <a:avLst/>
          </a:prstGeom>
          <a:noFill/>
          <a:ln/>
        </p:spPr>
        <p:txBody>
          <a:bodyPr wrap="square" lIns="0" tIns="0" rIns="0" bIns="0" rtlCol="0" anchor="ctr"/>
          <a:lstStyle/>
          <a:p>
            <a:pPr marL="0" indent="0" algn="ctr">
              <a:buNone/>
            </a:pPr>
            <a:r>
              <a:rPr lang="en-US" sz="1400" b="1" dirty="0">
                <a:solidFill>
                  <a:srgbClr val="000000"/>
                </a:solidFill>
              </a:rPr>
              <a:t>✓</a:t>
            </a:r>
            <a:endParaRPr lang="en-US" sz="1400" dirty="0"/>
          </a:p>
        </p:txBody>
      </p:sp>
      <p:sp>
        <p:nvSpPr>
          <p:cNvPr id="16" name="Shape 14"/>
          <p:cNvSpPr/>
          <p:nvPr/>
        </p:nvSpPr>
        <p:spPr>
          <a:xfrm>
            <a:off x="6126480" y="1554480"/>
            <a:ext cx="2606040" cy="1463040"/>
          </a:xfrm>
          <a:prstGeom prst="rect">
            <a:avLst/>
          </a:prstGeom>
          <a:solidFill>
            <a:srgbClr val="1E1E2E"/>
          </a:solidFill>
          <a:ln w="6350">
            <a:solidFill>
              <a:srgbClr val="2A2A3E"/>
            </a:solidFill>
            <a:prstDash val="solid"/>
          </a:ln>
        </p:spPr>
        <p:txBody>
          <a:bodyPr/>
          <a:lstStyle/>
          <a:p>
            <a:endParaRPr lang="de-CH" dirty="0"/>
          </a:p>
        </p:txBody>
      </p:sp>
      <p:sp>
        <p:nvSpPr>
          <p:cNvPr id="17" name="Shape 15"/>
          <p:cNvSpPr/>
          <p:nvPr/>
        </p:nvSpPr>
        <p:spPr>
          <a:xfrm>
            <a:off x="6126480" y="1554480"/>
            <a:ext cx="2606040" cy="54864"/>
          </a:xfrm>
          <a:prstGeom prst="rect">
            <a:avLst/>
          </a:prstGeom>
          <a:solidFill>
            <a:srgbClr val="333355"/>
          </a:solidFill>
          <a:ln w="12700">
            <a:solidFill>
              <a:srgbClr val="333355"/>
            </a:solidFill>
            <a:prstDash val="solid"/>
          </a:ln>
        </p:spPr>
        <p:txBody>
          <a:bodyPr/>
          <a:lstStyle/>
          <a:p>
            <a:endParaRPr lang="de-CH"/>
          </a:p>
        </p:txBody>
      </p:sp>
      <p:sp>
        <p:nvSpPr>
          <p:cNvPr id="18" name="Text 16"/>
          <p:cNvSpPr/>
          <p:nvPr/>
        </p:nvSpPr>
        <p:spPr>
          <a:xfrm>
            <a:off x="6263640" y="1691640"/>
            <a:ext cx="2331720" cy="365760"/>
          </a:xfrm>
          <a:prstGeom prst="rect">
            <a:avLst/>
          </a:prstGeom>
          <a:noFill/>
          <a:ln/>
        </p:spPr>
        <p:txBody>
          <a:bodyPr wrap="square" rtlCol="0" anchor="ctr"/>
          <a:lstStyle/>
          <a:p>
            <a:pPr marL="0" indent="0">
              <a:buNone/>
            </a:pPr>
            <a:r>
              <a:rPr lang="en-US" sz="1600" b="1" dirty="0">
                <a:solidFill>
                  <a:srgbClr val="9999BB"/>
                </a:solidFill>
              </a:rPr>
              <a:t>Exhibitory</a:t>
            </a:r>
            <a:endParaRPr lang="en-US" sz="1600" dirty="0"/>
          </a:p>
        </p:txBody>
      </p:sp>
      <p:sp>
        <p:nvSpPr>
          <p:cNvPr id="19" name="Text 17"/>
          <p:cNvSpPr/>
          <p:nvPr/>
        </p:nvSpPr>
        <p:spPr>
          <a:xfrm>
            <a:off x="6263640" y="2103120"/>
            <a:ext cx="2331720" cy="731520"/>
          </a:xfrm>
          <a:prstGeom prst="rect">
            <a:avLst/>
          </a:prstGeom>
          <a:noFill/>
          <a:ln/>
        </p:spPr>
        <p:txBody>
          <a:bodyPr wrap="square" rtlCol="0" anchor="ctr"/>
          <a:lstStyle/>
          <a:p>
            <a:pPr marL="0" indent="0">
              <a:buNone/>
            </a:pPr>
            <a:endParaRPr lang="en-US" sz="1400" dirty="0"/>
          </a:p>
        </p:txBody>
      </p:sp>
      <p:sp>
        <p:nvSpPr>
          <p:cNvPr id="20" name="Shape 18"/>
          <p:cNvSpPr/>
          <p:nvPr/>
        </p:nvSpPr>
        <p:spPr>
          <a:xfrm>
            <a:off x="457200" y="3108960"/>
            <a:ext cx="8229600" cy="822960"/>
          </a:xfrm>
          <a:prstGeom prst="rect">
            <a:avLst/>
          </a:prstGeom>
          <a:solidFill>
            <a:srgbClr val="1E1E2E"/>
          </a:solidFill>
          <a:ln w="6350">
            <a:solidFill>
              <a:srgbClr val="2A2A3E"/>
            </a:solidFill>
            <a:prstDash val="solid"/>
          </a:ln>
        </p:spPr>
        <p:txBody>
          <a:bodyPr/>
          <a:lstStyle/>
          <a:p>
            <a:endParaRPr lang="de-CH"/>
          </a:p>
        </p:txBody>
      </p:sp>
      <p:sp>
        <p:nvSpPr>
          <p:cNvPr id="21" name="Text 19"/>
          <p:cNvSpPr/>
          <p:nvPr/>
        </p:nvSpPr>
        <p:spPr>
          <a:xfrm>
            <a:off x="594360" y="3154680"/>
            <a:ext cx="7955280" cy="731520"/>
          </a:xfrm>
          <a:prstGeom prst="rect">
            <a:avLst/>
          </a:prstGeom>
          <a:noFill/>
          <a:ln/>
        </p:spPr>
        <p:txBody>
          <a:bodyPr wrap="square" rtlCol="0" anchor="ctr"/>
          <a:lstStyle/>
          <a:p>
            <a:pPr marL="0" indent="0" algn="ctr">
              <a:buNone/>
            </a:pPr>
            <a:r>
              <a:rPr lang="en-US" sz="2000" dirty="0">
                <a:solidFill>
                  <a:srgbClr val="9999BB"/>
                </a:solidFill>
              </a:rPr>
              <a:t>Storytelling  =  </a:t>
            </a:r>
            <a:r>
              <a:rPr lang="en-US" sz="2000" b="1" dirty="0">
                <a:solidFill>
                  <a:srgbClr val="00E676"/>
                </a:solidFill>
              </a:rPr>
              <a:t>Data</a:t>
            </a:r>
            <a:r>
              <a:rPr lang="en-US" sz="2000" dirty="0">
                <a:solidFill>
                  <a:srgbClr val="9999BB"/>
                </a:solidFill>
              </a:rPr>
              <a:t>  +  </a:t>
            </a:r>
            <a:r>
              <a:rPr lang="en-US" sz="2000" b="1" dirty="0">
                <a:solidFill>
                  <a:srgbClr val="00E676"/>
                </a:solidFill>
              </a:rPr>
              <a:t>Visuals</a:t>
            </a:r>
            <a:r>
              <a:rPr lang="en-US" sz="2000" dirty="0">
                <a:solidFill>
                  <a:srgbClr val="9999BB"/>
                </a:solidFill>
              </a:rPr>
              <a:t>  +  </a:t>
            </a:r>
            <a:r>
              <a:rPr lang="en-US" sz="2000" b="1" dirty="0">
                <a:solidFill>
                  <a:srgbClr val="00E676"/>
                </a:solidFill>
              </a:rPr>
              <a:t>Narrative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04</a:t>
            </a:r>
            <a:endParaRPr lang="en-US" sz="1100" dirty="0"/>
          </a:p>
        </p:txBody>
      </p:sp>
      <p:sp>
        <p:nvSpPr>
          <p:cNvPr id="4" name="Text 2"/>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Narrative structure</a:t>
            </a:r>
            <a:endParaRPr lang="en-US" sz="1200" dirty="0"/>
          </a:p>
        </p:txBody>
      </p:sp>
      <p:sp>
        <p:nvSpPr>
          <p:cNvPr id="5" name="Text 3"/>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Martini glass structure</a:t>
            </a:r>
            <a:endParaRPr lang="en-US" sz="2800" dirty="0"/>
          </a:p>
        </p:txBody>
      </p:sp>
      <p:sp>
        <p:nvSpPr>
          <p:cNvPr id="6" name="Shape 4"/>
          <p:cNvSpPr/>
          <p:nvPr/>
        </p:nvSpPr>
        <p:spPr>
          <a:xfrm>
            <a:off x="457200" y="1325880"/>
            <a:ext cx="3840480" cy="3520440"/>
          </a:xfrm>
          <a:prstGeom prst="rect">
            <a:avLst/>
          </a:prstGeom>
          <a:solidFill>
            <a:srgbClr val="1E1E2E"/>
          </a:solidFill>
          <a:ln w="6350">
            <a:solidFill>
              <a:srgbClr val="2A2A3E"/>
            </a:solidFill>
            <a:prstDash val="solid"/>
          </a:ln>
        </p:spPr>
        <p:txBody>
          <a:bodyPr/>
          <a:lstStyle/>
          <a:p>
            <a:endParaRPr lang="de-CH"/>
          </a:p>
        </p:txBody>
      </p:sp>
      <p:sp>
        <p:nvSpPr>
          <p:cNvPr id="7" name="Text 5"/>
          <p:cNvSpPr/>
          <p:nvPr/>
        </p:nvSpPr>
        <p:spPr>
          <a:xfrm>
            <a:off x="640080" y="1417320"/>
            <a:ext cx="3474720" cy="365760"/>
          </a:xfrm>
          <a:prstGeom prst="rect">
            <a:avLst/>
          </a:prstGeom>
          <a:noFill/>
          <a:ln/>
        </p:spPr>
        <p:txBody>
          <a:bodyPr wrap="square" rtlCol="0" anchor="ctr"/>
          <a:lstStyle/>
          <a:p>
            <a:pPr marL="0" indent="0">
              <a:buNone/>
            </a:pPr>
            <a:r>
              <a:rPr lang="en-US" sz="1400" b="1" kern="0" spc="200" dirty="0">
                <a:solidFill>
                  <a:srgbClr val="1DB954"/>
                </a:solidFill>
              </a:rPr>
              <a:t>Theory</a:t>
            </a:r>
            <a:endParaRPr lang="en-US" sz="1400" dirty="0"/>
          </a:p>
        </p:txBody>
      </p:sp>
      <p:sp>
        <p:nvSpPr>
          <p:cNvPr id="8" name="Text 6"/>
          <p:cNvSpPr/>
          <p:nvPr/>
        </p:nvSpPr>
        <p:spPr>
          <a:xfrm>
            <a:off x="640080" y="1874520"/>
            <a:ext cx="3474720" cy="274320"/>
          </a:xfrm>
          <a:prstGeom prst="rect">
            <a:avLst/>
          </a:prstGeom>
          <a:noFill/>
          <a:ln/>
        </p:spPr>
        <p:txBody>
          <a:bodyPr wrap="square" rtlCol="0" anchor="ctr"/>
          <a:lstStyle/>
          <a:p>
            <a:pPr marL="0" indent="0">
              <a:buNone/>
            </a:pPr>
            <a:r>
              <a:rPr lang="en-US" sz="1500" b="1" dirty="0">
                <a:solidFill>
                  <a:srgbClr val="00E676"/>
                </a:solidFill>
              </a:rPr>
              <a:t>Author-driven</a:t>
            </a:r>
            <a:endParaRPr lang="en-US" sz="1500" dirty="0"/>
          </a:p>
        </p:txBody>
      </p:sp>
      <p:sp>
        <p:nvSpPr>
          <p:cNvPr id="9" name="Text 7"/>
          <p:cNvSpPr/>
          <p:nvPr/>
        </p:nvSpPr>
        <p:spPr>
          <a:xfrm>
            <a:off x="640080" y="2148840"/>
            <a:ext cx="3474720" cy="457200"/>
          </a:xfrm>
          <a:prstGeom prst="rect">
            <a:avLst/>
          </a:prstGeom>
          <a:noFill/>
          <a:ln/>
        </p:spPr>
        <p:txBody>
          <a:bodyPr wrap="square" rtlCol="0" anchor="ctr"/>
          <a:lstStyle/>
          <a:p>
            <a:pPr marL="0" indent="0">
              <a:buNone/>
            </a:pPr>
            <a:r>
              <a:rPr lang="en-US" sz="1400" dirty="0">
                <a:solidFill>
                  <a:srgbClr val="9999BB"/>
                </a:solidFill>
              </a:rPr>
              <a:t>The author tells the story</a:t>
            </a:r>
            <a:endParaRPr lang="en-US" sz="1400" dirty="0"/>
          </a:p>
        </p:txBody>
      </p:sp>
      <p:sp>
        <p:nvSpPr>
          <p:cNvPr id="10" name="Text 8"/>
          <p:cNvSpPr/>
          <p:nvPr/>
        </p:nvSpPr>
        <p:spPr>
          <a:xfrm>
            <a:off x="640080" y="2743200"/>
            <a:ext cx="3474720" cy="274320"/>
          </a:xfrm>
          <a:prstGeom prst="rect">
            <a:avLst/>
          </a:prstGeom>
          <a:noFill/>
          <a:ln/>
        </p:spPr>
        <p:txBody>
          <a:bodyPr wrap="square" rtlCol="0" anchor="ctr"/>
          <a:lstStyle/>
          <a:p>
            <a:pPr marL="0" indent="0">
              <a:buNone/>
            </a:pPr>
            <a:r>
              <a:rPr lang="en-US" sz="1500" b="1" dirty="0">
                <a:solidFill>
                  <a:srgbClr val="00E676"/>
                </a:solidFill>
              </a:rPr>
              <a:t>Reader-driven</a:t>
            </a:r>
            <a:endParaRPr lang="en-US" sz="1500" dirty="0"/>
          </a:p>
        </p:txBody>
      </p:sp>
      <p:sp>
        <p:nvSpPr>
          <p:cNvPr id="11" name="Text 9"/>
          <p:cNvSpPr/>
          <p:nvPr/>
        </p:nvSpPr>
        <p:spPr>
          <a:xfrm>
            <a:off x="640080" y="3017520"/>
            <a:ext cx="3474720" cy="457200"/>
          </a:xfrm>
          <a:prstGeom prst="rect">
            <a:avLst/>
          </a:prstGeom>
          <a:noFill/>
          <a:ln/>
        </p:spPr>
        <p:txBody>
          <a:bodyPr wrap="square" rtlCol="0" anchor="ctr"/>
          <a:lstStyle/>
          <a:p>
            <a:pPr marL="0" indent="0">
              <a:buNone/>
            </a:pPr>
            <a:r>
              <a:rPr lang="en-US" sz="1400" dirty="0">
                <a:solidFill>
                  <a:srgbClr val="9999BB"/>
                </a:solidFill>
              </a:rPr>
              <a:t>The reader explores freely</a:t>
            </a:r>
            <a:endParaRPr lang="en-US" sz="1400" dirty="0"/>
          </a:p>
        </p:txBody>
      </p:sp>
      <p:sp>
        <p:nvSpPr>
          <p:cNvPr id="12" name="Text 10"/>
          <p:cNvSpPr/>
          <p:nvPr/>
        </p:nvSpPr>
        <p:spPr>
          <a:xfrm>
            <a:off x="640080" y="3611880"/>
            <a:ext cx="3474720" cy="274320"/>
          </a:xfrm>
          <a:prstGeom prst="rect">
            <a:avLst/>
          </a:prstGeom>
          <a:noFill/>
          <a:ln/>
        </p:spPr>
        <p:txBody>
          <a:bodyPr wrap="square" rtlCol="0" anchor="ctr"/>
          <a:lstStyle/>
          <a:p>
            <a:pPr marL="0" indent="0">
              <a:buNone/>
            </a:pPr>
            <a:r>
              <a:rPr lang="en-US" sz="1500" b="1" dirty="0">
                <a:solidFill>
                  <a:srgbClr val="00E676"/>
                </a:solidFill>
              </a:rPr>
              <a:t>Martini glass</a:t>
            </a:r>
            <a:endParaRPr lang="en-US" sz="1500" dirty="0"/>
          </a:p>
        </p:txBody>
      </p:sp>
      <p:sp>
        <p:nvSpPr>
          <p:cNvPr id="13" name="Text 11"/>
          <p:cNvSpPr/>
          <p:nvPr/>
        </p:nvSpPr>
        <p:spPr>
          <a:xfrm>
            <a:off x="640080" y="3886200"/>
            <a:ext cx="3474720" cy="457200"/>
          </a:xfrm>
          <a:prstGeom prst="rect">
            <a:avLst/>
          </a:prstGeom>
          <a:noFill/>
          <a:ln/>
        </p:spPr>
        <p:txBody>
          <a:bodyPr wrap="square" rtlCol="0" anchor="ctr"/>
          <a:lstStyle/>
          <a:p>
            <a:pPr marL="0" indent="0">
              <a:buNone/>
            </a:pPr>
            <a:r>
              <a:rPr lang="en-US" sz="1400" dirty="0">
                <a:solidFill>
                  <a:srgbClr val="9999BB"/>
                </a:solidFill>
              </a:rPr>
              <a:t>Starts author-driven (the stem), then opens up to reader exploration (the bowl)</a:t>
            </a:r>
            <a:endParaRPr lang="en-US" sz="1400" dirty="0"/>
          </a:p>
        </p:txBody>
      </p:sp>
      <p:sp>
        <p:nvSpPr>
          <p:cNvPr id="14" name="Shape 12"/>
          <p:cNvSpPr/>
          <p:nvPr/>
        </p:nvSpPr>
        <p:spPr>
          <a:xfrm>
            <a:off x="4572000" y="1325880"/>
            <a:ext cx="4114800" cy="3520440"/>
          </a:xfrm>
          <a:prstGeom prst="rect">
            <a:avLst/>
          </a:prstGeom>
          <a:solidFill>
            <a:srgbClr val="1E1E2E"/>
          </a:solidFill>
          <a:ln w="6350">
            <a:solidFill>
              <a:srgbClr val="2A2A3E"/>
            </a:solidFill>
            <a:prstDash val="solid"/>
          </a:ln>
        </p:spPr>
        <p:txBody>
          <a:bodyPr/>
          <a:lstStyle/>
          <a:p>
            <a:endParaRPr lang="de-CH"/>
          </a:p>
        </p:txBody>
      </p:sp>
      <p:sp>
        <p:nvSpPr>
          <p:cNvPr id="15" name="Text 13"/>
          <p:cNvSpPr/>
          <p:nvPr/>
        </p:nvSpPr>
        <p:spPr>
          <a:xfrm>
            <a:off x="4754880" y="1417320"/>
            <a:ext cx="3749040" cy="365760"/>
          </a:xfrm>
          <a:prstGeom prst="rect">
            <a:avLst/>
          </a:prstGeom>
          <a:noFill/>
          <a:ln/>
        </p:spPr>
        <p:txBody>
          <a:bodyPr wrap="square" rtlCol="0" anchor="ctr"/>
          <a:lstStyle/>
          <a:p>
            <a:pPr marL="0" indent="0">
              <a:buNone/>
            </a:pPr>
            <a:r>
              <a:rPr lang="en-US" sz="1400" b="1" kern="0" spc="200" dirty="0">
                <a:solidFill>
                  <a:srgbClr val="1DB954"/>
                </a:solidFill>
              </a:rPr>
              <a:t>Our application</a:t>
            </a:r>
            <a:endParaRPr lang="en-US" sz="1400" dirty="0"/>
          </a:p>
        </p:txBody>
      </p:sp>
      <p:sp>
        <p:nvSpPr>
          <p:cNvPr id="16" name="Shape 14"/>
          <p:cNvSpPr/>
          <p:nvPr/>
        </p:nvSpPr>
        <p:spPr>
          <a:xfrm>
            <a:off x="4754880" y="1874520"/>
            <a:ext cx="36576" cy="685800"/>
          </a:xfrm>
          <a:prstGeom prst="rect">
            <a:avLst/>
          </a:prstGeom>
          <a:solidFill>
            <a:srgbClr val="1DB954"/>
          </a:solidFill>
          <a:ln w="12700">
            <a:solidFill>
              <a:srgbClr val="1DB954"/>
            </a:solidFill>
            <a:prstDash val="solid"/>
          </a:ln>
        </p:spPr>
        <p:txBody>
          <a:bodyPr/>
          <a:lstStyle/>
          <a:p>
            <a:endParaRPr lang="de-CH"/>
          </a:p>
        </p:txBody>
      </p:sp>
      <p:sp>
        <p:nvSpPr>
          <p:cNvPr id="17" name="Text 15"/>
          <p:cNvSpPr/>
          <p:nvPr/>
        </p:nvSpPr>
        <p:spPr>
          <a:xfrm>
            <a:off x="4892040" y="1874520"/>
            <a:ext cx="3566160" cy="274320"/>
          </a:xfrm>
          <a:prstGeom prst="rect">
            <a:avLst/>
          </a:prstGeom>
          <a:noFill/>
          <a:ln/>
        </p:spPr>
        <p:txBody>
          <a:bodyPr wrap="square" rtlCol="0" anchor="ctr"/>
          <a:lstStyle/>
          <a:p>
            <a:pPr marL="0" indent="0">
              <a:buNone/>
            </a:pPr>
            <a:r>
              <a:rPr lang="en-US" sz="1500" b="1" dirty="0">
                <a:solidFill>
                  <a:srgbClr val="FFFFFF"/>
                </a:solidFill>
              </a:rPr>
              <a:t>Sections 1–5</a:t>
            </a:r>
            <a:endParaRPr lang="en-US" sz="1500" dirty="0"/>
          </a:p>
        </p:txBody>
      </p:sp>
      <p:sp>
        <p:nvSpPr>
          <p:cNvPr id="18" name="Text 16"/>
          <p:cNvSpPr/>
          <p:nvPr/>
        </p:nvSpPr>
        <p:spPr>
          <a:xfrm>
            <a:off x="4892040" y="2148840"/>
            <a:ext cx="3566160" cy="457200"/>
          </a:xfrm>
          <a:prstGeom prst="rect">
            <a:avLst/>
          </a:prstGeom>
          <a:noFill/>
          <a:ln/>
        </p:spPr>
        <p:txBody>
          <a:bodyPr wrap="square" rtlCol="0" anchor="ctr"/>
          <a:lstStyle/>
          <a:p>
            <a:pPr marL="0" indent="0">
              <a:buNone/>
            </a:pPr>
            <a:r>
              <a:rPr lang="en-US" sz="1400" dirty="0">
                <a:solidFill>
                  <a:srgbClr val="9999BB"/>
                </a:solidFill>
              </a:rPr>
              <a:t>Fixed scroll order</a:t>
            </a:r>
            <a:endParaRPr lang="en-US" sz="1400" dirty="0"/>
          </a:p>
        </p:txBody>
      </p:sp>
      <p:sp>
        <p:nvSpPr>
          <p:cNvPr id="19" name="Shape 17"/>
          <p:cNvSpPr/>
          <p:nvPr/>
        </p:nvSpPr>
        <p:spPr>
          <a:xfrm>
            <a:off x="4754880" y="2743200"/>
            <a:ext cx="36576" cy="685800"/>
          </a:xfrm>
          <a:prstGeom prst="rect">
            <a:avLst/>
          </a:prstGeom>
          <a:solidFill>
            <a:srgbClr val="1DB954"/>
          </a:solidFill>
          <a:ln w="12700">
            <a:solidFill>
              <a:srgbClr val="1DB954"/>
            </a:solidFill>
            <a:prstDash val="solid"/>
          </a:ln>
        </p:spPr>
        <p:txBody>
          <a:bodyPr/>
          <a:lstStyle/>
          <a:p>
            <a:endParaRPr lang="de-CH"/>
          </a:p>
        </p:txBody>
      </p:sp>
      <p:sp>
        <p:nvSpPr>
          <p:cNvPr id="20" name="Text 18"/>
          <p:cNvSpPr/>
          <p:nvPr/>
        </p:nvSpPr>
        <p:spPr>
          <a:xfrm>
            <a:off x="4892040" y="2743200"/>
            <a:ext cx="3566160" cy="274320"/>
          </a:xfrm>
          <a:prstGeom prst="rect">
            <a:avLst/>
          </a:prstGeom>
          <a:noFill/>
          <a:ln/>
        </p:spPr>
        <p:txBody>
          <a:bodyPr wrap="square" rtlCol="0" anchor="ctr"/>
          <a:lstStyle/>
          <a:p>
            <a:pPr marL="0" indent="0">
              <a:buNone/>
            </a:pPr>
            <a:r>
              <a:rPr lang="en-US" sz="1500" b="1" dirty="0">
                <a:solidFill>
                  <a:srgbClr val="FFFFFF"/>
                </a:solidFill>
              </a:rPr>
              <a:t>Section 6</a:t>
            </a:r>
            <a:endParaRPr lang="en-US" sz="1500" dirty="0"/>
          </a:p>
        </p:txBody>
      </p:sp>
      <p:sp>
        <p:nvSpPr>
          <p:cNvPr id="21" name="Text 19"/>
          <p:cNvSpPr/>
          <p:nvPr/>
        </p:nvSpPr>
        <p:spPr>
          <a:xfrm>
            <a:off x="4892040" y="3017520"/>
            <a:ext cx="3566160" cy="457200"/>
          </a:xfrm>
          <a:prstGeom prst="rect">
            <a:avLst/>
          </a:prstGeom>
          <a:noFill/>
          <a:ln/>
        </p:spPr>
        <p:txBody>
          <a:bodyPr wrap="square" rtlCol="0" anchor="ctr"/>
          <a:lstStyle/>
          <a:p>
            <a:pPr marL="0" indent="0">
              <a:buNone/>
            </a:pPr>
            <a:r>
              <a:rPr lang="en-US" sz="1400" dirty="0">
                <a:solidFill>
                  <a:srgbClr val="9999BB"/>
                </a:solidFill>
              </a:rPr>
              <a:t>"Your track" slider</a:t>
            </a:r>
            <a:endParaRPr lang="en-US" sz="1400" dirty="0"/>
          </a:p>
        </p:txBody>
      </p:sp>
      <p:sp>
        <p:nvSpPr>
          <p:cNvPr id="22" name="Shape 20"/>
          <p:cNvSpPr/>
          <p:nvPr/>
        </p:nvSpPr>
        <p:spPr>
          <a:xfrm>
            <a:off x="4754880" y="3611880"/>
            <a:ext cx="36576" cy="685800"/>
          </a:xfrm>
          <a:prstGeom prst="rect">
            <a:avLst/>
          </a:prstGeom>
          <a:solidFill>
            <a:srgbClr val="1DB954"/>
          </a:solidFill>
          <a:ln w="12700">
            <a:solidFill>
              <a:srgbClr val="1DB954"/>
            </a:solidFill>
            <a:prstDash val="solid"/>
          </a:ln>
        </p:spPr>
        <p:txBody>
          <a:bodyPr/>
          <a:lstStyle/>
          <a:p>
            <a:endParaRPr lang="de-CH"/>
          </a:p>
        </p:txBody>
      </p:sp>
      <p:sp>
        <p:nvSpPr>
          <p:cNvPr id="23" name="Text 21"/>
          <p:cNvSpPr/>
          <p:nvPr/>
        </p:nvSpPr>
        <p:spPr>
          <a:xfrm>
            <a:off x="4892040" y="3611880"/>
            <a:ext cx="3566160" cy="274320"/>
          </a:xfrm>
          <a:prstGeom prst="rect">
            <a:avLst/>
          </a:prstGeom>
          <a:noFill/>
          <a:ln/>
        </p:spPr>
        <p:txBody>
          <a:bodyPr wrap="square" rtlCol="0" anchor="ctr"/>
          <a:lstStyle/>
          <a:p>
            <a:pPr marL="0" indent="0">
              <a:buNone/>
            </a:pPr>
            <a:r>
              <a:rPr lang="en-US" sz="1500" b="1" dirty="0">
                <a:solidFill>
                  <a:srgbClr val="FFFFFF"/>
                </a:solidFill>
              </a:rPr>
              <a:t>Genre filter</a:t>
            </a:r>
            <a:endParaRPr lang="en-US" sz="1500" dirty="0"/>
          </a:p>
        </p:txBody>
      </p:sp>
      <p:sp>
        <p:nvSpPr>
          <p:cNvPr id="24" name="Text 22"/>
          <p:cNvSpPr/>
          <p:nvPr/>
        </p:nvSpPr>
        <p:spPr>
          <a:xfrm>
            <a:off x="4892040" y="3886200"/>
            <a:ext cx="3566160" cy="457200"/>
          </a:xfrm>
          <a:prstGeom prst="rect">
            <a:avLst/>
          </a:prstGeom>
          <a:noFill/>
          <a:ln/>
        </p:spPr>
        <p:txBody>
          <a:bodyPr wrap="square" rtlCol="0" anchor="ctr"/>
          <a:lstStyle/>
          <a:p>
            <a:pPr marL="0" indent="0">
              <a:buNone/>
            </a:pPr>
            <a:r>
              <a:rPr lang="en-US" sz="1400" dirty="0">
                <a:solidFill>
                  <a:srgbClr val="9999BB"/>
                </a:solidFill>
              </a:rPr>
              <a:t>Checkboxes for filtering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AABCF-16E9-1FD2-7A41-3D16BB0284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37C1CFE-2E0C-0443-86CA-80897ED8D9BF}"/>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336051B0-3FAC-BA2B-D682-D743479D371B}"/>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05</a:t>
            </a:r>
            <a:endParaRPr lang="en-US" sz="1100" dirty="0"/>
          </a:p>
        </p:txBody>
      </p:sp>
      <p:sp>
        <p:nvSpPr>
          <p:cNvPr id="4" name="Text 2">
            <a:extLst>
              <a:ext uri="{FF2B5EF4-FFF2-40B4-BE49-F238E27FC236}">
                <a16:creationId xmlns:a16="http://schemas.microsoft.com/office/drawing/2014/main" id="{3BA60565-E728-3A82-99F0-C8D1156B60FF}"/>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Visualization choices</a:t>
            </a:r>
            <a:endParaRPr lang="en-US" sz="1200" dirty="0"/>
          </a:p>
        </p:txBody>
      </p:sp>
      <p:sp>
        <p:nvSpPr>
          <p:cNvPr id="5" name="Text 3">
            <a:extLst>
              <a:ext uri="{FF2B5EF4-FFF2-40B4-BE49-F238E27FC236}">
                <a16:creationId xmlns:a16="http://schemas.microsoft.com/office/drawing/2014/main" id="{2EBCD0EB-5CB4-A5A6-1391-7228CB05CED5}"/>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each chart type?</a:t>
            </a:r>
            <a:endParaRPr lang="en-US" sz="2800" dirty="0"/>
          </a:p>
        </p:txBody>
      </p:sp>
      <p:pic>
        <p:nvPicPr>
          <p:cNvPr id="32" name="Grafik 31">
            <a:extLst>
              <a:ext uri="{FF2B5EF4-FFF2-40B4-BE49-F238E27FC236}">
                <a16:creationId xmlns:a16="http://schemas.microsoft.com/office/drawing/2014/main" id="{2FE98949-574C-F6CC-2985-D9AA1961F960}"/>
              </a:ext>
            </a:extLst>
          </p:cNvPr>
          <p:cNvPicPr>
            <a:picLocks noChangeAspect="1"/>
          </p:cNvPicPr>
          <p:nvPr/>
        </p:nvPicPr>
        <p:blipFill>
          <a:blip r:embed="rId3"/>
          <a:stretch>
            <a:fillRect/>
          </a:stretch>
        </p:blipFill>
        <p:spPr>
          <a:xfrm>
            <a:off x="292133" y="1665669"/>
            <a:ext cx="4470995" cy="2489008"/>
          </a:xfrm>
          <a:prstGeom prst="rect">
            <a:avLst/>
          </a:prstGeom>
        </p:spPr>
      </p:pic>
      <p:sp>
        <p:nvSpPr>
          <p:cNvPr id="33" name="Shape 5">
            <a:extLst>
              <a:ext uri="{FF2B5EF4-FFF2-40B4-BE49-F238E27FC236}">
                <a16:creationId xmlns:a16="http://schemas.microsoft.com/office/drawing/2014/main" id="{C4BB3897-DB73-5804-EF9E-FAF5F13175E4}"/>
              </a:ext>
            </a:extLst>
          </p:cNvPr>
          <p:cNvSpPr/>
          <p:nvPr/>
        </p:nvSpPr>
        <p:spPr>
          <a:xfrm>
            <a:off x="5440680" y="1497236"/>
            <a:ext cx="2899027" cy="2825874"/>
          </a:xfrm>
          <a:prstGeom prst="rect">
            <a:avLst/>
          </a:prstGeom>
          <a:solidFill>
            <a:srgbClr val="1E1E2E"/>
          </a:solidFill>
          <a:ln w="6350">
            <a:solidFill>
              <a:srgbClr val="2A2A3E"/>
            </a:solidFill>
            <a:prstDash val="solid"/>
          </a:ln>
        </p:spPr>
        <p:txBody>
          <a:bodyPr/>
          <a:lstStyle/>
          <a:p>
            <a:endParaRPr lang="de-CH"/>
          </a:p>
        </p:txBody>
      </p:sp>
      <p:sp>
        <p:nvSpPr>
          <p:cNvPr id="34" name="Text 6">
            <a:extLst>
              <a:ext uri="{FF2B5EF4-FFF2-40B4-BE49-F238E27FC236}">
                <a16:creationId xmlns:a16="http://schemas.microsoft.com/office/drawing/2014/main" id="{C8FCDC16-1901-F45A-4E90-407A9F988973}"/>
              </a:ext>
            </a:extLst>
          </p:cNvPr>
          <p:cNvSpPr/>
          <p:nvPr/>
        </p:nvSpPr>
        <p:spPr>
          <a:xfrm>
            <a:off x="5518593" y="1609344"/>
            <a:ext cx="1371600" cy="365760"/>
          </a:xfrm>
          <a:prstGeom prst="rect">
            <a:avLst/>
          </a:prstGeom>
          <a:noFill/>
          <a:ln/>
        </p:spPr>
        <p:txBody>
          <a:bodyPr wrap="square" rtlCol="0" anchor="ctr"/>
          <a:lstStyle/>
          <a:p>
            <a:pPr marL="0" indent="0">
              <a:buNone/>
            </a:pPr>
            <a:r>
              <a:rPr lang="en-US" sz="1300" b="1" dirty="0">
                <a:solidFill>
                  <a:srgbClr val="1DB954"/>
                </a:solidFill>
              </a:rPr>
              <a:t>§1 Popularity</a:t>
            </a:r>
            <a:endParaRPr lang="en-US" sz="1300" dirty="0"/>
          </a:p>
        </p:txBody>
      </p:sp>
      <p:sp>
        <p:nvSpPr>
          <p:cNvPr id="35" name="Shape 7">
            <a:extLst>
              <a:ext uri="{FF2B5EF4-FFF2-40B4-BE49-F238E27FC236}">
                <a16:creationId xmlns:a16="http://schemas.microsoft.com/office/drawing/2014/main" id="{62970E58-AF1E-9246-1198-B593DEDCD53D}"/>
              </a:ext>
            </a:extLst>
          </p:cNvPr>
          <p:cNvSpPr/>
          <p:nvPr/>
        </p:nvSpPr>
        <p:spPr>
          <a:xfrm>
            <a:off x="5625995" y="2091596"/>
            <a:ext cx="822960" cy="384048"/>
          </a:xfrm>
          <a:prstGeom prst="rect">
            <a:avLst/>
          </a:prstGeom>
          <a:solidFill>
            <a:srgbClr val="111122"/>
          </a:solidFill>
          <a:ln w="6350">
            <a:solidFill>
              <a:srgbClr val="00E676"/>
            </a:solidFill>
            <a:prstDash val="solid"/>
          </a:ln>
        </p:spPr>
        <p:txBody>
          <a:bodyPr/>
          <a:lstStyle/>
          <a:p>
            <a:endParaRPr lang="de-CH"/>
          </a:p>
        </p:txBody>
      </p:sp>
      <p:sp>
        <p:nvSpPr>
          <p:cNvPr id="36" name="Text 8">
            <a:extLst>
              <a:ext uri="{FF2B5EF4-FFF2-40B4-BE49-F238E27FC236}">
                <a16:creationId xmlns:a16="http://schemas.microsoft.com/office/drawing/2014/main" id="{5765288C-699F-068E-5181-7024AF25FA12}"/>
              </a:ext>
            </a:extLst>
          </p:cNvPr>
          <p:cNvSpPr/>
          <p:nvPr/>
        </p:nvSpPr>
        <p:spPr>
          <a:xfrm>
            <a:off x="5625995" y="2091596"/>
            <a:ext cx="822960" cy="384048"/>
          </a:xfrm>
          <a:prstGeom prst="rect">
            <a:avLst/>
          </a:prstGeom>
          <a:noFill/>
          <a:ln/>
        </p:spPr>
        <p:txBody>
          <a:bodyPr wrap="square" lIns="0" tIns="0" rIns="0" bIns="0" rtlCol="0" anchor="ctr"/>
          <a:lstStyle/>
          <a:p>
            <a:pPr marL="0" indent="0" algn="ctr">
              <a:buNone/>
            </a:pPr>
            <a:r>
              <a:rPr lang="en-US" sz="1100" dirty="0">
                <a:solidFill>
                  <a:srgbClr val="00E676"/>
                </a:solidFill>
              </a:rPr>
              <a:t>Histogram</a:t>
            </a:r>
            <a:endParaRPr lang="en-US" sz="1100" dirty="0"/>
          </a:p>
        </p:txBody>
      </p:sp>
      <p:sp>
        <p:nvSpPr>
          <p:cNvPr id="37" name="Text 9">
            <a:extLst>
              <a:ext uri="{FF2B5EF4-FFF2-40B4-BE49-F238E27FC236}">
                <a16:creationId xmlns:a16="http://schemas.microsoft.com/office/drawing/2014/main" id="{AB7088F1-8E38-FEC8-C771-8D3586C8A2D5}"/>
              </a:ext>
            </a:extLst>
          </p:cNvPr>
          <p:cNvSpPr/>
          <p:nvPr/>
        </p:nvSpPr>
        <p:spPr>
          <a:xfrm>
            <a:off x="5518593" y="2592136"/>
            <a:ext cx="1949458" cy="384048"/>
          </a:xfrm>
          <a:prstGeom prst="rect">
            <a:avLst/>
          </a:prstGeom>
          <a:noFill/>
          <a:ln/>
        </p:spPr>
        <p:txBody>
          <a:bodyPr wrap="square" rtlCol="0" anchor="ctr"/>
          <a:lstStyle/>
          <a:p>
            <a:pPr marL="0" indent="0">
              <a:buNone/>
            </a:pPr>
            <a:r>
              <a:rPr lang="en-US" sz="1300" dirty="0">
                <a:solidFill>
                  <a:srgbClr val="FFFFFF"/>
                </a:solidFill>
              </a:rPr>
              <a:t>1 continuous variable</a:t>
            </a:r>
            <a:endParaRPr lang="en-US" sz="1300" dirty="0"/>
          </a:p>
        </p:txBody>
      </p:sp>
    </p:spTree>
    <p:extLst>
      <p:ext uri="{BB962C8B-B14F-4D97-AF65-F5344CB8AC3E}">
        <p14:creationId xmlns:p14="http://schemas.microsoft.com/office/powerpoint/2010/main" val="13885871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35545-6345-7C1E-B181-38701659BB1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3991CB1-D7F6-B534-8671-F5ECFBE2E132}"/>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F4BFA256-F69D-BA1A-47BE-D0199DEDC3DC}"/>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05</a:t>
            </a:r>
            <a:endParaRPr lang="en-US" sz="1100" dirty="0"/>
          </a:p>
        </p:txBody>
      </p:sp>
      <p:sp>
        <p:nvSpPr>
          <p:cNvPr id="4" name="Text 2">
            <a:extLst>
              <a:ext uri="{FF2B5EF4-FFF2-40B4-BE49-F238E27FC236}">
                <a16:creationId xmlns:a16="http://schemas.microsoft.com/office/drawing/2014/main" id="{874008D1-AE45-C55F-1BF5-0D65063F8147}"/>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Visualization choices</a:t>
            </a:r>
            <a:endParaRPr lang="en-US" sz="1200" dirty="0"/>
          </a:p>
        </p:txBody>
      </p:sp>
      <p:sp>
        <p:nvSpPr>
          <p:cNvPr id="5" name="Text 3">
            <a:extLst>
              <a:ext uri="{FF2B5EF4-FFF2-40B4-BE49-F238E27FC236}">
                <a16:creationId xmlns:a16="http://schemas.microsoft.com/office/drawing/2014/main" id="{C63ED3CC-064C-AD35-4C6B-62A9093B50AF}"/>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each chart type?</a:t>
            </a:r>
            <a:endParaRPr lang="en-US" sz="2800" dirty="0"/>
          </a:p>
        </p:txBody>
      </p:sp>
      <p:sp>
        <p:nvSpPr>
          <p:cNvPr id="33" name="Shape 5">
            <a:extLst>
              <a:ext uri="{FF2B5EF4-FFF2-40B4-BE49-F238E27FC236}">
                <a16:creationId xmlns:a16="http://schemas.microsoft.com/office/drawing/2014/main" id="{C3479444-CA29-3098-537C-7C3F860E1C7D}"/>
              </a:ext>
            </a:extLst>
          </p:cNvPr>
          <p:cNvSpPr/>
          <p:nvPr/>
        </p:nvSpPr>
        <p:spPr>
          <a:xfrm>
            <a:off x="5440680" y="1497236"/>
            <a:ext cx="2899027" cy="2825874"/>
          </a:xfrm>
          <a:prstGeom prst="rect">
            <a:avLst/>
          </a:prstGeom>
          <a:solidFill>
            <a:srgbClr val="1E1E2E"/>
          </a:solidFill>
          <a:ln w="6350">
            <a:solidFill>
              <a:srgbClr val="2A2A3E"/>
            </a:solidFill>
            <a:prstDash val="solid"/>
          </a:ln>
        </p:spPr>
        <p:txBody>
          <a:bodyPr/>
          <a:lstStyle/>
          <a:p>
            <a:endParaRPr lang="de-CH"/>
          </a:p>
        </p:txBody>
      </p:sp>
      <p:sp>
        <p:nvSpPr>
          <p:cNvPr id="34" name="Text 6">
            <a:extLst>
              <a:ext uri="{FF2B5EF4-FFF2-40B4-BE49-F238E27FC236}">
                <a16:creationId xmlns:a16="http://schemas.microsoft.com/office/drawing/2014/main" id="{2DB87E8B-817F-3C5D-8605-0EA24134B673}"/>
              </a:ext>
            </a:extLst>
          </p:cNvPr>
          <p:cNvSpPr/>
          <p:nvPr/>
        </p:nvSpPr>
        <p:spPr>
          <a:xfrm>
            <a:off x="5518593" y="1609344"/>
            <a:ext cx="1371600" cy="365760"/>
          </a:xfrm>
          <a:prstGeom prst="rect">
            <a:avLst/>
          </a:prstGeom>
          <a:noFill/>
          <a:ln/>
        </p:spPr>
        <p:txBody>
          <a:bodyPr wrap="square" rtlCol="0" anchor="ctr"/>
          <a:lstStyle/>
          <a:p>
            <a:pPr marL="0" indent="0">
              <a:buNone/>
            </a:pPr>
            <a:r>
              <a:rPr lang="en-US" sz="1300" b="1" dirty="0">
                <a:solidFill>
                  <a:srgbClr val="1DB954"/>
                </a:solidFill>
              </a:rPr>
              <a:t>§2 Features</a:t>
            </a:r>
            <a:endParaRPr lang="en-US" sz="1300" dirty="0"/>
          </a:p>
        </p:txBody>
      </p:sp>
      <p:sp>
        <p:nvSpPr>
          <p:cNvPr id="35" name="Shape 7">
            <a:extLst>
              <a:ext uri="{FF2B5EF4-FFF2-40B4-BE49-F238E27FC236}">
                <a16:creationId xmlns:a16="http://schemas.microsoft.com/office/drawing/2014/main" id="{7502A1C6-023D-D145-3180-97684901B541}"/>
              </a:ext>
            </a:extLst>
          </p:cNvPr>
          <p:cNvSpPr/>
          <p:nvPr/>
        </p:nvSpPr>
        <p:spPr>
          <a:xfrm>
            <a:off x="5625995" y="2091596"/>
            <a:ext cx="822960" cy="384048"/>
          </a:xfrm>
          <a:prstGeom prst="rect">
            <a:avLst/>
          </a:prstGeom>
          <a:solidFill>
            <a:srgbClr val="111122"/>
          </a:solidFill>
          <a:ln w="6350">
            <a:solidFill>
              <a:srgbClr val="00E676"/>
            </a:solidFill>
            <a:prstDash val="solid"/>
          </a:ln>
        </p:spPr>
        <p:txBody>
          <a:bodyPr/>
          <a:lstStyle/>
          <a:p>
            <a:endParaRPr lang="de-CH"/>
          </a:p>
        </p:txBody>
      </p:sp>
      <p:sp>
        <p:nvSpPr>
          <p:cNvPr id="36" name="Text 8">
            <a:extLst>
              <a:ext uri="{FF2B5EF4-FFF2-40B4-BE49-F238E27FC236}">
                <a16:creationId xmlns:a16="http://schemas.microsoft.com/office/drawing/2014/main" id="{925DC731-7DB9-4F2D-89BE-770322F6C4F7}"/>
              </a:ext>
            </a:extLst>
          </p:cNvPr>
          <p:cNvSpPr/>
          <p:nvPr/>
        </p:nvSpPr>
        <p:spPr>
          <a:xfrm>
            <a:off x="5625995" y="2091596"/>
            <a:ext cx="822960" cy="384048"/>
          </a:xfrm>
          <a:prstGeom prst="rect">
            <a:avLst/>
          </a:prstGeom>
          <a:noFill/>
          <a:ln/>
        </p:spPr>
        <p:txBody>
          <a:bodyPr wrap="square" lIns="0" tIns="0" rIns="0" bIns="0" rtlCol="0" anchor="ctr"/>
          <a:lstStyle/>
          <a:p>
            <a:pPr marL="0" indent="0" algn="ctr">
              <a:buNone/>
            </a:pPr>
            <a:r>
              <a:rPr lang="en-US" sz="1100" dirty="0">
                <a:solidFill>
                  <a:srgbClr val="00E676"/>
                </a:solidFill>
              </a:rPr>
              <a:t>Scatterplot &amp; Heatmap</a:t>
            </a:r>
            <a:endParaRPr lang="en-US" sz="1100" dirty="0"/>
          </a:p>
        </p:txBody>
      </p:sp>
      <p:sp>
        <p:nvSpPr>
          <p:cNvPr id="37" name="Text 9">
            <a:extLst>
              <a:ext uri="{FF2B5EF4-FFF2-40B4-BE49-F238E27FC236}">
                <a16:creationId xmlns:a16="http://schemas.microsoft.com/office/drawing/2014/main" id="{EE449759-2593-6AEE-DDD2-7ADE372AB319}"/>
              </a:ext>
            </a:extLst>
          </p:cNvPr>
          <p:cNvSpPr/>
          <p:nvPr/>
        </p:nvSpPr>
        <p:spPr>
          <a:xfrm>
            <a:off x="5518593" y="2592136"/>
            <a:ext cx="1949458" cy="384048"/>
          </a:xfrm>
          <a:prstGeom prst="rect">
            <a:avLst/>
          </a:prstGeom>
          <a:noFill/>
          <a:ln/>
        </p:spPr>
        <p:txBody>
          <a:bodyPr wrap="square" rtlCol="0" anchor="ctr"/>
          <a:lstStyle/>
          <a:p>
            <a:pPr marL="0" indent="0">
              <a:buNone/>
            </a:pPr>
            <a:r>
              <a:rPr lang="en-US" sz="1300" dirty="0">
                <a:solidFill>
                  <a:srgbClr val="FFFFFF"/>
                </a:solidFill>
              </a:rPr>
              <a:t>2 continuous variables</a:t>
            </a:r>
            <a:endParaRPr lang="en-US" sz="1300" dirty="0"/>
          </a:p>
        </p:txBody>
      </p:sp>
      <p:pic>
        <p:nvPicPr>
          <p:cNvPr id="7" name="Grafik 6">
            <a:extLst>
              <a:ext uri="{FF2B5EF4-FFF2-40B4-BE49-F238E27FC236}">
                <a16:creationId xmlns:a16="http://schemas.microsoft.com/office/drawing/2014/main" id="{AE6A817A-B990-AFFD-E129-22F8A76572C6}"/>
              </a:ext>
            </a:extLst>
          </p:cNvPr>
          <p:cNvPicPr>
            <a:picLocks noChangeAspect="1"/>
          </p:cNvPicPr>
          <p:nvPr/>
        </p:nvPicPr>
        <p:blipFill>
          <a:blip r:embed="rId3"/>
          <a:stretch>
            <a:fillRect/>
          </a:stretch>
        </p:blipFill>
        <p:spPr>
          <a:xfrm>
            <a:off x="262416" y="1352416"/>
            <a:ext cx="2473218" cy="1796583"/>
          </a:xfrm>
          <a:prstGeom prst="rect">
            <a:avLst/>
          </a:prstGeom>
        </p:spPr>
      </p:pic>
      <p:pic>
        <p:nvPicPr>
          <p:cNvPr id="11" name="Grafik 10">
            <a:extLst>
              <a:ext uri="{FF2B5EF4-FFF2-40B4-BE49-F238E27FC236}">
                <a16:creationId xmlns:a16="http://schemas.microsoft.com/office/drawing/2014/main" id="{FB2E401A-F331-DB3F-9C83-F5FCB342FD72}"/>
              </a:ext>
            </a:extLst>
          </p:cNvPr>
          <p:cNvPicPr>
            <a:picLocks noChangeAspect="1"/>
          </p:cNvPicPr>
          <p:nvPr/>
        </p:nvPicPr>
        <p:blipFill>
          <a:blip r:embed="rId4"/>
          <a:stretch>
            <a:fillRect/>
          </a:stretch>
        </p:blipFill>
        <p:spPr>
          <a:xfrm>
            <a:off x="2378198" y="2910173"/>
            <a:ext cx="2899027" cy="2029729"/>
          </a:xfrm>
          <a:prstGeom prst="rect">
            <a:avLst/>
          </a:prstGeom>
        </p:spPr>
      </p:pic>
    </p:spTree>
    <p:extLst>
      <p:ext uri="{BB962C8B-B14F-4D97-AF65-F5344CB8AC3E}">
        <p14:creationId xmlns:p14="http://schemas.microsoft.com/office/powerpoint/2010/main" val="1243856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6462D-56D9-3323-23F2-02B1A8E3C25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C0E905D-AA9A-D8C7-7057-882F11F99137}"/>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19B96ECA-535D-BC13-5842-53E6E1A2C2BA}"/>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05</a:t>
            </a:r>
            <a:endParaRPr lang="en-US" sz="1100" dirty="0"/>
          </a:p>
        </p:txBody>
      </p:sp>
      <p:sp>
        <p:nvSpPr>
          <p:cNvPr id="4" name="Text 2">
            <a:extLst>
              <a:ext uri="{FF2B5EF4-FFF2-40B4-BE49-F238E27FC236}">
                <a16:creationId xmlns:a16="http://schemas.microsoft.com/office/drawing/2014/main" id="{C7EA8E6A-6460-4F91-98A6-149176F90DB2}"/>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Visualization choices</a:t>
            </a:r>
            <a:endParaRPr lang="en-US" sz="1200" dirty="0"/>
          </a:p>
        </p:txBody>
      </p:sp>
      <p:sp>
        <p:nvSpPr>
          <p:cNvPr id="5" name="Text 3">
            <a:extLst>
              <a:ext uri="{FF2B5EF4-FFF2-40B4-BE49-F238E27FC236}">
                <a16:creationId xmlns:a16="http://schemas.microsoft.com/office/drawing/2014/main" id="{5E99EFC0-FB56-6696-7314-079EFAB18457}"/>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each chart type?</a:t>
            </a:r>
            <a:endParaRPr lang="en-US" sz="2800" dirty="0"/>
          </a:p>
        </p:txBody>
      </p:sp>
      <p:sp>
        <p:nvSpPr>
          <p:cNvPr id="33" name="Shape 5">
            <a:extLst>
              <a:ext uri="{FF2B5EF4-FFF2-40B4-BE49-F238E27FC236}">
                <a16:creationId xmlns:a16="http://schemas.microsoft.com/office/drawing/2014/main" id="{911A404F-6680-CD91-FC40-06D9EA6E18C2}"/>
              </a:ext>
            </a:extLst>
          </p:cNvPr>
          <p:cNvSpPr/>
          <p:nvPr/>
        </p:nvSpPr>
        <p:spPr>
          <a:xfrm>
            <a:off x="5440680" y="1497236"/>
            <a:ext cx="2899027" cy="2825874"/>
          </a:xfrm>
          <a:prstGeom prst="rect">
            <a:avLst/>
          </a:prstGeom>
          <a:solidFill>
            <a:srgbClr val="1E1E2E"/>
          </a:solidFill>
          <a:ln w="6350">
            <a:solidFill>
              <a:srgbClr val="2A2A3E"/>
            </a:solidFill>
            <a:prstDash val="solid"/>
          </a:ln>
        </p:spPr>
        <p:txBody>
          <a:bodyPr/>
          <a:lstStyle/>
          <a:p>
            <a:endParaRPr lang="de-CH"/>
          </a:p>
        </p:txBody>
      </p:sp>
      <p:sp>
        <p:nvSpPr>
          <p:cNvPr id="34" name="Text 6">
            <a:extLst>
              <a:ext uri="{FF2B5EF4-FFF2-40B4-BE49-F238E27FC236}">
                <a16:creationId xmlns:a16="http://schemas.microsoft.com/office/drawing/2014/main" id="{A56A182D-2214-CD1A-16CA-16D74CC7DAF0}"/>
              </a:ext>
            </a:extLst>
          </p:cNvPr>
          <p:cNvSpPr/>
          <p:nvPr/>
        </p:nvSpPr>
        <p:spPr>
          <a:xfrm>
            <a:off x="5518593" y="1609344"/>
            <a:ext cx="1371600" cy="365760"/>
          </a:xfrm>
          <a:prstGeom prst="rect">
            <a:avLst/>
          </a:prstGeom>
          <a:noFill/>
          <a:ln/>
        </p:spPr>
        <p:txBody>
          <a:bodyPr wrap="square" rtlCol="0" anchor="ctr"/>
          <a:lstStyle/>
          <a:p>
            <a:pPr marL="0" indent="0">
              <a:buNone/>
            </a:pPr>
            <a:r>
              <a:rPr lang="en-US" sz="1300" b="1" dirty="0">
                <a:solidFill>
                  <a:srgbClr val="1DB954"/>
                </a:solidFill>
              </a:rPr>
              <a:t>§3 Genres</a:t>
            </a:r>
            <a:endParaRPr lang="en-US" sz="1300" dirty="0"/>
          </a:p>
        </p:txBody>
      </p:sp>
      <p:sp>
        <p:nvSpPr>
          <p:cNvPr id="35" name="Shape 7">
            <a:extLst>
              <a:ext uri="{FF2B5EF4-FFF2-40B4-BE49-F238E27FC236}">
                <a16:creationId xmlns:a16="http://schemas.microsoft.com/office/drawing/2014/main" id="{9EF020FC-82A4-271E-C089-C92066DA8647}"/>
              </a:ext>
            </a:extLst>
          </p:cNvPr>
          <p:cNvSpPr/>
          <p:nvPr/>
        </p:nvSpPr>
        <p:spPr>
          <a:xfrm>
            <a:off x="5625995" y="2091596"/>
            <a:ext cx="822960" cy="384048"/>
          </a:xfrm>
          <a:prstGeom prst="rect">
            <a:avLst/>
          </a:prstGeom>
          <a:solidFill>
            <a:srgbClr val="111122"/>
          </a:solidFill>
          <a:ln w="6350">
            <a:solidFill>
              <a:srgbClr val="00E676"/>
            </a:solidFill>
            <a:prstDash val="solid"/>
          </a:ln>
        </p:spPr>
        <p:txBody>
          <a:bodyPr/>
          <a:lstStyle/>
          <a:p>
            <a:endParaRPr lang="de-CH"/>
          </a:p>
        </p:txBody>
      </p:sp>
      <p:sp>
        <p:nvSpPr>
          <p:cNvPr id="36" name="Text 8">
            <a:extLst>
              <a:ext uri="{FF2B5EF4-FFF2-40B4-BE49-F238E27FC236}">
                <a16:creationId xmlns:a16="http://schemas.microsoft.com/office/drawing/2014/main" id="{7069328F-9A68-AF27-98FF-E2384606B736}"/>
              </a:ext>
            </a:extLst>
          </p:cNvPr>
          <p:cNvSpPr/>
          <p:nvPr/>
        </p:nvSpPr>
        <p:spPr>
          <a:xfrm>
            <a:off x="5625995" y="2091596"/>
            <a:ext cx="822960" cy="384048"/>
          </a:xfrm>
          <a:prstGeom prst="rect">
            <a:avLst/>
          </a:prstGeom>
          <a:noFill/>
          <a:ln/>
        </p:spPr>
        <p:txBody>
          <a:bodyPr wrap="square" lIns="0" tIns="0" rIns="0" bIns="0" rtlCol="0" anchor="ctr"/>
          <a:lstStyle/>
          <a:p>
            <a:pPr marL="0" indent="0" algn="ctr">
              <a:buNone/>
            </a:pPr>
            <a:r>
              <a:rPr lang="en-US" sz="1100" dirty="0" err="1">
                <a:solidFill>
                  <a:srgbClr val="00E676"/>
                </a:solidFill>
              </a:rPr>
              <a:t>Radarchart</a:t>
            </a:r>
            <a:endParaRPr lang="en-US" sz="1100" dirty="0"/>
          </a:p>
        </p:txBody>
      </p:sp>
      <p:sp>
        <p:nvSpPr>
          <p:cNvPr id="37" name="Text 9">
            <a:extLst>
              <a:ext uri="{FF2B5EF4-FFF2-40B4-BE49-F238E27FC236}">
                <a16:creationId xmlns:a16="http://schemas.microsoft.com/office/drawing/2014/main" id="{6B6C4395-E014-6978-88DB-4F71B023BED4}"/>
              </a:ext>
            </a:extLst>
          </p:cNvPr>
          <p:cNvSpPr/>
          <p:nvPr/>
        </p:nvSpPr>
        <p:spPr>
          <a:xfrm>
            <a:off x="5518593" y="2592135"/>
            <a:ext cx="1949458" cy="475703"/>
          </a:xfrm>
          <a:prstGeom prst="rect">
            <a:avLst/>
          </a:prstGeom>
          <a:noFill/>
          <a:ln/>
        </p:spPr>
        <p:txBody>
          <a:bodyPr wrap="square" rtlCol="0" anchor="ctr"/>
          <a:lstStyle/>
          <a:p>
            <a:pPr marL="0" indent="0">
              <a:buNone/>
            </a:pPr>
            <a:r>
              <a:rPr lang="en-US" sz="1300" dirty="0">
                <a:solidFill>
                  <a:srgbClr val="FFFFFF"/>
                </a:solidFill>
              </a:rPr>
              <a:t>Multiple continuous variables for comparison</a:t>
            </a:r>
            <a:endParaRPr lang="en-US" sz="1300" dirty="0"/>
          </a:p>
        </p:txBody>
      </p:sp>
      <p:pic>
        <p:nvPicPr>
          <p:cNvPr id="7" name="Grafik 6">
            <a:extLst>
              <a:ext uri="{FF2B5EF4-FFF2-40B4-BE49-F238E27FC236}">
                <a16:creationId xmlns:a16="http://schemas.microsoft.com/office/drawing/2014/main" id="{9BBFF401-BE3E-C10E-5E35-EC394525F253}"/>
              </a:ext>
            </a:extLst>
          </p:cNvPr>
          <p:cNvPicPr>
            <a:picLocks noChangeAspect="1"/>
          </p:cNvPicPr>
          <p:nvPr/>
        </p:nvPicPr>
        <p:blipFill>
          <a:blip r:embed="rId3"/>
          <a:stretch>
            <a:fillRect/>
          </a:stretch>
        </p:blipFill>
        <p:spPr>
          <a:xfrm>
            <a:off x="603503" y="1298448"/>
            <a:ext cx="3465575" cy="3465575"/>
          </a:xfrm>
          <a:prstGeom prst="rect">
            <a:avLst/>
          </a:prstGeom>
        </p:spPr>
      </p:pic>
    </p:spTree>
    <p:extLst>
      <p:ext uri="{BB962C8B-B14F-4D97-AF65-F5344CB8AC3E}">
        <p14:creationId xmlns:p14="http://schemas.microsoft.com/office/powerpoint/2010/main" val="2658139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AEE96-48D6-CA29-9E2A-79983FC77B0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C08D8E1-FB46-8D39-897A-BA523ABF2051}"/>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32005FE5-DCCA-5725-5CB6-0342B35EE769}"/>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05</a:t>
            </a:r>
            <a:endParaRPr lang="en-US" sz="1100" dirty="0"/>
          </a:p>
        </p:txBody>
      </p:sp>
      <p:sp>
        <p:nvSpPr>
          <p:cNvPr id="4" name="Text 2">
            <a:extLst>
              <a:ext uri="{FF2B5EF4-FFF2-40B4-BE49-F238E27FC236}">
                <a16:creationId xmlns:a16="http://schemas.microsoft.com/office/drawing/2014/main" id="{CE889F6F-6A17-0930-FF87-C7DFF8A69640}"/>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Visualization choices</a:t>
            </a:r>
            <a:endParaRPr lang="en-US" sz="1200" dirty="0"/>
          </a:p>
        </p:txBody>
      </p:sp>
      <p:sp>
        <p:nvSpPr>
          <p:cNvPr id="5" name="Text 3">
            <a:extLst>
              <a:ext uri="{FF2B5EF4-FFF2-40B4-BE49-F238E27FC236}">
                <a16:creationId xmlns:a16="http://schemas.microsoft.com/office/drawing/2014/main" id="{4157CFFD-B1B8-343A-8715-E3EAA5675012}"/>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each chart type?</a:t>
            </a:r>
            <a:endParaRPr lang="en-US" sz="2800" dirty="0"/>
          </a:p>
        </p:txBody>
      </p:sp>
      <p:sp>
        <p:nvSpPr>
          <p:cNvPr id="33" name="Shape 5">
            <a:extLst>
              <a:ext uri="{FF2B5EF4-FFF2-40B4-BE49-F238E27FC236}">
                <a16:creationId xmlns:a16="http://schemas.microsoft.com/office/drawing/2014/main" id="{30E86DD5-A2BC-9085-A97E-8351133A3396}"/>
              </a:ext>
            </a:extLst>
          </p:cNvPr>
          <p:cNvSpPr/>
          <p:nvPr/>
        </p:nvSpPr>
        <p:spPr>
          <a:xfrm>
            <a:off x="5440680" y="1497236"/>
            <a:ext cx="2899027" cy="2825874"/>
          </a:xfrm>
          <a:prstGeom prst="rect">
            <a:avLst/>
          </a:prstGeom>
          <a:solidFill>
            <a:srgbClr val="1E1E2E"/>
          </a:solidFill>
          <a:ln w="6350">
            <a:solidFill>
              <a:srgbClr val="2A2A3E"/>
            </a:solidFill>
            <a:prstDash val="solid"/>
          </a:ln>
        </p:spPr>
        <p:txBody>
          <a:bodyPr/>
          <a:lstStyle/>
          <a:p>
            <a:endParaRPr lang="de-CH"/>
          </a:p>
        </p:txBody>
      </p:sp>
      <p:sp>
        <p:nvSpPr>
          <p:cNvPr id="34" name="Text 6">
            <a:extLst>
              <a:ext uri="{FF2B5EF4-FFF2-40B4-BE49-F238E27FC236}">
                <a16:creationId xmlns:a16="http://schemas.microsoft.com/office/drawing/2014/main" id="{AC1DE9FE-8B5B-E33F-8582-35F58C11DA30}"/>
              </a:ext>
            </a:extLst>
          </p:cNvPr>
          <p:cNvSpPr/>
          <p:nvPr/>
        </p:nvSpPr>
        <p:spPr>
          <a:xfrm>
            <a:off x="5518593" y="1609344"/>
            <a:ext cx="1371600" cy="365760"/>
          </a:xfrm>
          <a:prstGeom prst="rect">
            <a:avLst/>
          </a:prstGeom>
          <a:noFill/>
          <a:ln/>
        </p:spPr>
        <p:txBody>
          <a:bodyPr wrap="square" rtlCol="0" anchor="ctr"/>
          <a:lstStyle/>
          <a:p>
            <a:pPr marL="0" indent="0">
              <a:buNone/>
            </a:pPr>
            <a:r>
              <a:rPr lang="en-US" sz="1300" b="1" dirty="0">
                <a:solidFill>
                  <a:srgbClr val="1DB954"/>
                </a:solidFill>
              </a:rPr>
              <a:t>§4 Hits</a:t>
            </a:r>
            <a:endParaRPr lang="en-US" sz="1300" dirty="0"/>
          </a:p>
        </p:txBody>
      </p:sp>
      <p:sp>
        <p:nvSpPr>
          <p:cNvPr id="35" name="Shape 7">
            <a:extLst>
              <a:ext uri="{FF2B5EF4-FFF2-40B4-BE49-F238E27FC236}">
                <a16:creationId xmlns:a16="http://schemas.microsoft.com/office/drawing/2014/main" id="{5EB77202-E692-5E70-C411-778F5D536839}"/>
              </a:ext>
            </a:extLst>
          </p:cNvPr>
          <p:cNvSpPr/>
          <p:nvPr/>
        </p:nvSpPr>
        <p:spPr>
          <a:xfrm>
            <a:off x="5625995" y="2091596"/>
            <a:ext cx="822960" cy="384048"/>
          </a:xfrm>
          <a:prstGeom prst="rect">
            <a:avLst/>
          </a:prstGeom>
          <a:solidFill>
            <a:srgbClr val="111122"/>
          </a:solidFill>
          <a:ln w="6350">
            <a:solidFill>
              <a:srgbClr val="00E676"/>
            </a:solidFill>
            <a:prstDash val="solid"/>
          </a:ln>
        </p:spPr>
        <p:txBody>
          <a:bodyPr/>
          <a:lstStyle/>
          <a:p>
            <a:endParaRPr lang="de-CH"/>
          </a:p>
        </p:txBody>
      </p:sp>
      <p:sp>
        <p:nvSpPr>
          <p:cNvPr id="36" name="Text 8">
            <a:extLst>
              <a:ext uri="{FF2B5EF4-FFF2-40B4-BE49-F238E27FC236}">
                <a16:creationId xmlns:a16="http://schemas.microsoft.com/office/drawing/2014/main" id="{D829033E-2BC6-3602-955F-A003664BC1F1}"/>
              </a:ext>
            </a:extLst>
          </p:cNvPr>
          <p:cNvSpPr/>
          <p:nvPr/>
        </p:nvSpPr>
        <p:spPr>
          <a:xfrm>
            <a:off x="5625995" y="2091596"/>
            <a:ext cx="822960" cy="384048"/>
          </a:xfrm>
          <a:prstGeom prst="rect">
            <a:avLst/>
          </a:prstGeom>
          <a:noFill/>
          <a:ln/>
        </p:spPr>
        <p:txBody>
          <a:bodyPr wrap="square" lIns="0" tIns="0" rIns="0" bIns="0" rtlCol="0" anchor="ctr"/>
          <a:lstStyle/>
          <a:p>
            <a:pPr marL="0" indent="0" algn="ctr">
              <a:buNone/>
            </a:pPr>
            <a:r>
              <a:rPr lang="en-US" sz="1100" dirty="0">
                <a:solidFill>
                  <a:srgbClr val="00E676"/>
                </a:solidFill>
              </a:rPr>
              <a:t>Grouped bar chart</a:t>
            </a:r>
            <a:endParaRPr lang="en-US" sz="1100" dirty="0"/>
          </a:p>
        </p:txBody>
      </p:sp>
      <p:sp>
        <p:nvSpPr>
          <p:cNvPr id="37" name="Text 9">
            <a:extLst>
              <a:ext uri="{FF2B5EF4-FFF2-40B4-BE49-F238E27FC236}">
                <a16:creationId xmlns:a16="http://schemas.microsoft.com/office/drawing/2014/main" id="{0F56956E-55A0-DE51-7988-C87E316C0E78}"/>
              </a:ext>
            </a:extLst>
          </p:cNvPr>
          <p:cNvSpPr/>
          <p:nvPr/>
        </p:nvSpPr>
        <p:spPr>
          <a:xfrm>
            <a:off x="5518593" y="2592135"/>
            <a:ext cx="1949458" cy="475703"/>
          </a:xfrm>
          <a:prstGeom prst="rect">
            <a:avLst/>
          </a:prstGeom>
          <a:noFill/>
          <a:ln/>
        </p:spPr>
        <p:txBody>
          <a:bodyPr wrap="square" rtlCol="0" anchor="ctr"/>
          <a:lstStyle/>
          <a:p>
            <a:pPr marL="0" indent="0">
              <a:buNone/>
            </a:pPr>
            <a:r>
              <a:rPr lang="en-US" sz="1300" dirty="0"/>
              <a:t>Categorical x continuous comparison</a:t>
            </a:r>
          </a:p>
        </p:txBody>
      </p:sp>
      <p:pic>
        <p:nvPicPr>
          <p:cNvPr id="8" name="Grafik 7">
            <a:extLst>
              <a:ext uri="{FF2B5EF4-FFF2-40B4-BE49-F238E27FC236}">
                <a16:creationId xmlns:a16="http://schemas.microsoft.com/office/drawing/2014/main" id="{6DC975C0-FBBE-A17F-90C7-8B4E21DF92E6}"/>
              </a:ext>
            </a:extLst>
          </p:cNvPr>
          <p:cNvPicPr>
            <a:picLocks noChangeAspect="1"/>
          </p:cNvPicPr>
          <p:nvPr/>
        </p:nvPicPr>
        <p:blipFill>
          <a:blip r:embed="rId3"/>
          <a:stretch>
            <a:fillRect/>
          </a:stretch>
        </p:blipFill>
        <p:spPr>
          <a:xfrm>
            <a:off x="917375" y="1244243"/>
            <a:ext cx="3562643" cy="3554396"/>
          </a:xfrm>
          <a:prstGeom prst="rect">
            <a:avLst/>
          </a:prstGeom>
        </p:spPr>
      </p:pic>
    </p:spTree>
    <p:extLst>
      <p:ext uri="{BB962C8B-B14F-4D97-AF65-F5344CB8AC3E}">
        <p14:creationId xmlns:p14="http://schemas.microsoft.com/office/powerpoint/2010/main" val="3079710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B0176-EDA2-337E-4771-DF4C69E0DE0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144A212-5B88-B4D4-9E7D-62F568841B56}"/>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7799890A-83CC-12AB-3B0D-E5D14D74C776}"/>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05</a:t>
            </a:r>
            <a:endParaRPr lang="en-US" sz="1100" dirty="0"/>
          </a:p>
        </p:txBody>
      </p:sp>
      <p:sp>
        <p:nvSpPr>
          <p:cNvPr id="4" name="Text 2">
            <a:extLst>
              <a:ext uri="{FF2B5EF4-FFF2-40B4-BE49-F238E27FC236}">
                <a16:creationId xmlns:a16="http://schemas.microsoft.com/office/drawing/2014/main" id="{A92B6F4B-D8E1-B1D8-35D6-DA188532E851}"/>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Visualization choices</a:t>
            </a:r>
            <a:endParaRPr lang="en-US" sz="1200" dirty="0"/>
          </a:p>
        </p:txBody>
      </p:sp>
      <p:sp>
        <p:nvSpPr>
          <p:cNvPr id="5" name="Text 3">
            <a:extLst>
              <a:ext uri="{FF2B5EF4-FFF2-40B4-BE49-F238E27FC236}">
                <a16:creationId xmlns:a16="http://schemas.microsoft.com/office/drawing/2014/main" id="{9E7995D3-E472-B796-7500-0D8F84AF4259}"/>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Why each chart type?</a:t>
            </a:r>
            <a:endParaRPr lang="en-US" sz="2800" dirty="0"/>
          </a:p>
        </p:txBody>
      </p:sp>
      <p:sp>
        <p:nvSpPr>
          <p:cNvPr id="33" name="Shape 5">
            <a:extLst>
              <a:ext uri="{FF2B5EF4-FFF2-40B4-BE49-F238E27FC236}">
                <a16:creationId xmlns:a16="http://schemas.microsoft.com/office/drawing/2014/main" id="{31E5DF6D-EE0C-6294-1ACD-A5C5CC4DA36F}"/>
              </a:ext>
            </a:extLst>
          </p:cNvPr>
          <p:cNvSpPr/>
          <p:nvPr/>
        </p:nvSpPr>
        <p:spPr>
          <a:xfrm>
            <a:off x="5440680" y="1497236"/>
            <a:ext cx="2899027" cy="2825874"/>
          </a:xfrm>
          <a:prstGeom prst="rect">
            <a:avLst/>
          </a:prstGeom>
          <a:solidFill>
            <a:srgbClr val="1E1E2E"/>
          </a:solidFill>
          <a:ln w="6350">
            <a:solidFill>
              <a:srgbClr val="2A2A3E"/>
            </a:solidFill>
            <a:prstDash val="solid"/>
          </a:ln>
        </p:spPr>
        <p:txBody>
          <a:bodyPr/>
          <a:lstStyle/>
          <a:p>
            <a:endParaRPr lang="de-CH"/>
          </a:p>
        </p:txBody>
      </p:sp>
      <p:sp>
        <p:nvSpPr>
          <p:cNvPr id="34" name="Text 6">
            <a:extLst>
              <a:ext uri="{FF2B5EF4-FFF2-40B4-BE49-F238E27FC236}">
                <a16:creationId xmlns:a16="http://schemas.microsoft.com/office/drawing/2014/main" id="{3C336A54-7B0E-3FC9-73F4-017097CDA9CA}"/>
              </a:ext>
            </a:extLst>
          </p:cNvPr>
          <p:cNvSpPr/>
          <p:nvPr/>
        </p:nvSpPr>
        <p:spPr>
          <a:xfrm>
            <a:off x="5518593" y="1609344"/>
            <a:ext cx="1371600" cy="365760"/>
          </a:xfrm>
          <a:prstGeom prst="rect">
            <a:avLst/>
          </a:prstGeom>
          <a:noFill/>
          <a:ln/>
        </p:spPr>
        <p:txBody>
          <a:bodyPr wrap="square" rtlCol="0" anchor="ctr"/>
          <a:lstStyle/>
          <a:p>
            <a:pPr marL="0" indent="0">
              <a:buNone/>
            </a:pPr>
            <a:r>
              <a:rPr lang="en-US" sz="1300" b="1" dirty="0">
                <a:solidFill>
                  <a:srgbClr val="1DB954"/>
                </a:solidFill>
              </a:rPr>
              <a:t>§5 </a:t>
            </a:r>
            <a:r>
              <a:rPr lang="en-US" sz="1300" b="1" dirty="0" err="1">
                <a:solidFill>
                  <a:srgbClr val="1DB954"/>
                </a:solidFill>
              </a:rPr>
              <a:t>Moodmap</a:t>
            </a:r>
            <a:endParaRPr lang="en-US" sz="1300" dirty="0"/>
          </a:p>
        </p:txBody>
      </p:sp>
      <p:sp>
        <p:nvSpPr>
          <p:cNvPr id="35" name="Shape 7">
            <a:extLst>
              <a:ext uri="{FF2B5EF4-FFF2-40B4-BE49-F238E27FC236}">
                <a16:creationId xmlns:a16="http://schemas.microsoft.com/office/drawing/2014/main" id="{E40E8886-7A56-103A-0DD3-B672342AC9B0}"/>
              </a:ext>
            </a:extLst>
          </p:cNvPr>
          <p:cNvSpPr/>
          <p:nvPr/>
        </p:nvSpPr>
        <p:spPr>
          <a:xfrm>
            <a:off x="5625995" y="2091596"/>
            <a:ext cx="822960" cy="384048"/>
          </a:xfrm>
          <a:prstGeom prst="rect">
            <a:avLst/>
          </a:prstGeom>
          <a:solidFill>
            <a:srgbClr val="111122"/>
          </a:solidFill>
          <a:ln w="6350">
            <a:solidFill>
              <a:srgbClr val="00E676"/>
            </a:solidFill>
            <a:prstDash val="solid"/>
          </a:ln>
        </p:spPr>
        <p:txBody>
          <a:bodyPr/>
          <a:lstStyle/>
          <a:p>
            <a:endParaRPr lang="de-CH"/>
          </a:p>
        </p:txBody>
      </p:sp>
      <p:sp>
        <p:nvSpPr>
          <p:cNvPr id="36" name="Text 8">
            <a:extLst>
              <a:ext uri="{FF2B5EF4-FFF2-40B4-BE49-F238E27FC236}">
                <a16:creationId xmlns:a16="http://schemas.microsoft.com/office/drawing/2014/main" id="{E63F17D2-C6AD-BDB7-AED4-9B3B6386A87D}"/>
              </a:ext>
            </a:extLst>
          </p:cNvPr>
          <p:cNvSpPr/>
          <p:nvPr/>
        </p:nvSpPr>
        <p:spPr>
          <a:xfrm>
            <a:off x="5625995" y="2091596"/>
            <a:ext cx="822960" cy="384048"/>
          </a:xfrm>
          <a:prstGeom prst="rect">
            <a:avLst/>
          </a:prstGeom>
          <a:noFill/>
          <a:ln/>
        </p:spPr>
        <p:txBody>
          <a:bodyPr wrap="square" lIns="0" tIns="0" rIns="0" bIns="0" rtlCol="0" anchor="ctr"/>
          <a:lstStyle/>
          <a:p>
            <a:pPr marL="0" indent="0" algn="ctr">
              <a:buNone/>
            </a:pPr>
            <a:r>
              <a:rPr lang="en-US" sz="1100" dirty="0">
                <a:solidFill>
                  <a:srgbClr val="00E676"/>
                </a:solidFill>
              </a:rPr>
              <a:t>Scatterplot</a:t>
            </a:r>
            <a:endParaRPr lang="en-US" sz="1100" dirty="0"/>
          </a:p>
        </p:txBody>
      </p:sp>
      <p:sp>
        <p:nvSpPr>
          <p:cNvPr id="37" name="Text 9">
            <a:extLst>
              <a:ext uri="{FF2B5EF4-FFF2-40B4-BE49-F238E27FC236}">
                <a16:creationId xmlns:a16="http://schemas.microsoft.com/office/drawing/2014/main" id="{B799CC70-F5C0-0381-3B9C-A9F5745CA648}"/>
              </a:ext>
            </a:extLst>
          </p:cNvPr>
          <p:cNvSpPr/>
          <p:nvPr/>
        </p:nvSpPr>
        <p:spPr>
          <a:xfrm>
            <a:off x="5518593" y="2592135"/>
            <a:ext cx="1949458" cy="475703"/>
          </a:xfrm>
          <a:prstGeom prst="rect">
            <a:avLst/>
          </a:prstGeom>
          <a:noFill/>
          <a:ln/>
        </p:spPr>
        <p:txBody>
          <a:bodyPr wrap="square" rtlCol="0" anchor="ctr"/>
          <a:lstStyle/>
          <a:p>
            <a:pPr marL="0" indent="0">
              <a:buNone/>
            </a:pPr>
            <a:r>
              <a:rPr lang="en-US" sz="1300" dirty="0"/>
              <a:t>2 continuous axes</a:t>
            </a:r>
          </a:p>
        </p:txBody>
      </p:sp>
      <p:pic>
        <p:nvPicPr>
          <p:cNvPr id="7" name="Grafik 6">
            <a:extLst>
              <a:ext uri="{FF2B5EF4-FFF2-40B4-BE49-F238E27FC236}">
                <a16:creationId xmlns:a16="http://schemas.microsoft.com/office/drawing/2014/main" id="{0DF390EF-F58E-918A-8D94-4D3B97C816CE}"/>
              </a:ext>
            </a:extLst>
          </p:cNvPr>
          <p:cNvPicPr>
            <a:picLocks noChangeAspect="1"/>
          </p:cNvPicPr>
          <p:nvPr/>
        </p:nvPicPr>
        <p:blipFill>
          <a:blip r:embed="rId3"/>
          <a:stretch>
            <a:fillRect/>
          </a:stretch>
        </p:blipFill>
        <p:spPr>
          <a:xfrm>
            <a:off x="411481" y="1432091"/>
            <a:ext cx="4361992" cy="3271494"/>
          </a:xfrm>
          <a:prstGeom prst="rect">
            <a:avLst/>
          </a:prstGeom>
        </p:spPr>
      </p:pic>
    </p:spTree>
    <p:extLst>
      <p:ext uri="{BB962C8B-B14F-4D97-AF65-F5344CB8AC3E}">
        <p14:creationId xmlns:p14="http://schemas.microsoft.com/office/powerpoint/2010/main" val="11168193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06</a:t>
            </a:r>
            <a:endParaRPr lang="en-US" sz="1100" dirty="0"/>
          </a:p>
        </p:txBody>
      </p:sp>
      <p:sp>
        <p:nvSpPr>
          <p:cNvPr id="4" name="Text 2"/>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Interactivity</a:t>
            </a:r>
            <a:endParaRPr lang="en-US" sz="1200" dirty="0"/>
          </a:p>
        </p:txBody>
      </p:sp>
      <p:sp>
        <p:nvSpPr>
          <p:cNvPr id="5" name="Text 3"/>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Three types of interactivity</a:t>
            </a:r>
            <a:endParaRPr lang="en-US" sz="2800" dirty="0"/>
          </a:p>
        </p:txBody>
      </p:sp>
      <p:sp>
        <p:nvSpPr>
          <p:cNvPr id="7" name="Shape 5"/>
          <p:cNvSpPr/>
          <p:nvPr/>
        </p:nvSpPr>
        <p:spPr>
          <a:xfrm>
            <a:off x="457199" y="1828800"/>
            <a:ext cx="8229600" cy="896112"/>
          </a:xfrm>
          <a:prstGeom prst="rect">
            <a:avLst/>
          </a:prstGeom>
          <a:solidFill>
            <a:srgbClr val="1E1E2E"/>
          </a:solidFill>
          <a:ln w="6350">
            <a:solidFill>
              <a:srgbClr val="2A2A3E"/>
            </a:solidFill>
            <a:prstDash val="solid"/>
          </a:ln>
        </p:spPr>
        <p:txBody>
          <a:bodyPr/>
          <a:lstStyle/>
          <a:p>
            <a:endParaRPr lang="de-CH"/>
          </a:p>
        </p:txBody>
      </p:sp>
      <p:sp>
        <p:nvSpPr>
          <p:cNvPr id="8" name="Shape 6"/>
          <p:cNvSpPr/>
          <p:nvPr/>
        </p:nvSpPr>
        <p:spPr>
          <a:xfrm>
            <a:off x="457200" y="1828800"/>
            <a:ext cx="54864" cy="896112"/>
          </a:xfrm>
          <a:prstGeom prst="rect">
            <a:avLst/>
          </a:prstGeom>
          <a:solidFill>
            <a:srgbClr val="1DB954"/>
          </a:solidFill>
          <a:ln w="12700">
            <a:solidFill>
              <a:srgbClr val="1DB954"/>
            </a:solidFill>
            <a:prstDash val="solid"/>
          </a:ln>
        </p:spPr>
        <p:txBody>
          <a:bodyPr/>
          <a:lstStyle/>
          <a:p>
            <a:endParaRPr lang="de-CH"/>
          </a:p>
        </p:txBody>
      </p:sp>
      <p:sp>
        <p:nvSpPr>
          <p:cNvPr id="9" name="Text 7"/>
          <p:cNvSpPr/>
          <p:nvPr/>
        </p:nvSpPr>
        <p:spPr>
          <a:xfrm>
            <a:off x="640080" y="2116836"/>
            <a:ext cx="1371600" cy="320040"/>
          </a:xfrm>
          <a:prstGeom prst="rect">
            <a:avLst/>
          </a:prstGeom>
          <a:noFill/>
          <a:ln/>
        </p:spPr>
        <p:txBody>
          <a:bodyPr wrap="square" rtlCol="0" anchor="ctr"/>
          <a:lstStyle/>
          <a:p>
            <a:pPr marL="0" indent="0">
              <a:buNone/>
            </a:pPr>
            <a:r>
              <a:rPr lang="en-US" sz="1500" b="1" dirty="0">
                <a:solidFill>
                  <a:srgbClr val="00E676"/>
                </a:solidFill>
              </a:rPr>
              <a:t>Filtering</a:t>
            </a:r>
            <a:endParaRPr lang="en-US" sz="1500" dirty="0"/>
          </a:p>
        </p:txBody>
      </p:sp>
      <p:sp>
        <p:nvSpPr>
          <p:cNvPr id="11" name="Text 9"/>
          <p:cNvSpPr/>
          <p:nvPr/>
        </p:nvSpPr>
        <p:spPr>
          <a:xfrm>
            <a:off x="3200400" y="2116836"/>
            <a:ext cx="3100573" cy="320040"/>
          </a:xfrm>
          <a:prstGeom prst="rect">
            <a:avLst/>
          </a:prstGeom>
          <a:noFill/>
          <a:ln/>
        </p:spPr>
        <p:txBody>
          <a:bodyPr wrap="square" rtlCol="0" anchor="ctr"/>
          <a:lstStyle/>
          <a:p>
            <a:pPr marL="0" indent="0">
              <a:buNone/>
            </a:pPr>
            <a:r>
              <a:rPr lang="en-US" sz="1500" i="1" dirty="0"/>
              <a:t>User picks which data to include</a:t>
            </a:r>
            <a:endParaRPr lang="en-US" sz="1500" dirty="0"/>
          </a:p>
        </p:txBody>
      </p:sp>
      <p:sp>
        <p:nvSpPr>
          <p:cNvPr id="13" name="Shape 11"/>
          <p:cNvSpPr/>
          <p:nvPr/>
        </p:nvSpPr>
        <p:spPr>
          <a:xfrm>
            <a:off x="512064" y="2834640"/>
            <a:ext cx="8229600" cy="896112"/>
          </a:xfrm>
          <a:prstGeom prst="rect">
            <a:avLst/>
          </a:prstGeom>
          <a:solidFill>
            <a:srgbClr val="1E1E2E"/>
          </a:solidFill>
          <a:ln w="6350">
            <a:solidFill>
              <a:srgbClr val="2A2A3E"/>
            </a:solidFill>
            <a:prstDash val="solid"/>
          </a:ln>
        </p:spPr>
        <p:txBody>
          <a:bodyPr/>
          <a:lstStyle/>
          <a:p>
            <a:endParaRPr lang="de-CH"/>
          </a:p>
        </p:txBody>
      </p:sp>
      <p:sp>
        <p:nvSpPr>
          <p:cNvPr id="14" name="Shape 12"/>
          <p:cNvSpPr/>
          <p:nvPr/>
        </p:nvSpPr>
        <p:spPr>
          <a:xfrm>
            <a:off x="457200" y="2834640"/>
            <a:ext cx="54864" cy="896112"/>
          </a:xfrm>
          <a:prstGeom prst="rect">
            <a:avLst/>
          </a:prstGeom>
          <a:solidFill>
            <a:srgbClr val="1DB954"/>
          </a:solidFill>
          <a:ln w="12700">
            <a:solidFill>
              <a:srgbClr val="1DB954"/>
            </a:solidFill>
            <a:prstDash val="solid"/>
          </a:ln>
        </p:spPr>
        <p:txBody>
          <a:bodyPr/>
          <a:lstStyle/>
          <a:p>
            <a:endParaRPr lang="de-CH"/>
          </a:p>
        </p:txBody>
      </p:sp>
      <p:sp>
        <p:nvSpPr>
          <p:cNvPr id="15" name="Text 13"/>
          <p:cNvSpPr/>
          <p:nvPr/>
        </p:nvSpPr>
        <p:spPr>
          <a:xfrm>
            <a:off x="603504" y="3137420"/>
            <a:ext cx="1371600" cy="320040"/>
          </a:xfrm>
          <a:prstGeom prst="rect">
            <a:avLst/>
          </a:prstGeom>
          <a:noFill/>
          <a:ln/>
        </p:spPr>
        <p:txBody>
          <a:bodyPr wrap="square" rtlCol="0" anchor="ctr"/>
          <a:lstStyle/>
          <a:p>
            <a:pPr marL="0" indent="0">
              <a:buNone/>
            </a:pPr>
            <a:r>
              <a:rPr lang="en-US" sz="1500" b="1" dirty="0">
                <a:solidFill>
                  <a:srgbClr val="00E676"/>
                </a:solidFill>
              </a:rPr>
              <a:t>Participating</a:t>
            </a:r>
            <a:endParaRPr lang="en-US" sz="1500" dirty="0"/>
          </a:p>
        </p:txBody>
      </p:sp>
      <p:sp>
        <p:nvSpPr>
          <p:cNvPr id="17" name="Text 15"/>
          <p:cNvSpPr/>
          <p:nvPr/>
        </p:nvSpPr>
        <p:spPr>
          <a:xfrm>
            <a:off x="3238139" y="3137420"/>
            <a:ext cx="2667721" cy="320040"/>
          </a:xfrm>
          <a:prstGeom prst="rect">
            <a:avLst/>
          </a:prstGeom>
          <a:noFill/>
          <a:ln/>
        </p:spPr>
        <p:txBody>
          <a:bodyPr wrap="square" rtlCol="0" anchor="ctr"/>
          <a:lstStyle/>
          <a:p>
            <a:pPr marL="0" indent="0">
              <a:buNone/>
            </a:pPr>
            <a:r>
              <a:rPr lang="en-US" sz="1500" i="1" dirty="0"/>
              <a:t>User contributes their own data</a:t>
            </a:r>
            <a:endParaRPr lang="en-US" sz="1500" dirty="0"/>
          </a:p>
        </p:txBody>
      </p:sp>
      <p:sp>
        <p:nvSpPr>
          <p:cNvPr id="19" name="Shape 17"/>
          <p:cNvSpPr/>
          <p:nvPr/>
        </p:nvSpPr>
        <p:spPr>
          <a:xfrm>
            <a:off x="457199" y="3840480"/>
            <a:ext cx="8229600" cy="896112"/>
          </a:xfrm>
          <a:prstGeom prst="rect">
            <a:avLst/>
          </a:prstGeom>
          <a:solidFill>
            <a:srgbClr val="1E1E2E"/>
          </a:solidFill>
          <a:ln w="6350">
            <a:solidFill>
              <a:srgbClr val="2A2A3E"/>
            </a:solidFill>
            <a:prstDash val="solid"/>
          </a:ln>
        </p:spPr>
        <p:txBody>
          <a:bodyPr/>
          <a:lstStyle/>
          <a:p>
            <a:endParaRPr lang="de-CH"/>
          </a:p>
        </p:txBody>
      </p:sp>
      <p:sp>
        <p:nvSpPr>
          <p:cNvPr id="20" name="Shape 18"/>
          <p:cNvSpPr/>
          <p:nvPr/>
        </p:nvSpPr>
        <p:spPr>
          <a:xfrm>
            <a:off x="457200" y="3840480"/>
            <a:ext cx="54864" cy="896112"/>
          </a:xfrm>
          <a:prstGeom prst="rect">
            <a:avLst/>
          </a:prstGeom>
          <a:solidFill>
            <a:srgbClr val="1DB954"/>
          </a:solidFill>
          <a:ln w="12700">
            <a:solidFill>
              <a:srgbClr val="1DB954"/>
            </a:solidFill>
            <a:prstDash val="solid"/>
          </a:ln>
        </p:spPr>
        <p:txBody>
          <a:bodyPr/>
          <a:lstStyle/>
          <a:p>
            <a:endParaRPr lang="de-CH"/>
          </a:p>
        </p:txBody>
      </p:sp>
      <p:sp>
        <p:nvSpPr>
          <p:cNvPr id="21" name="Text 19"/>
          <p:cNvSpPr/>
          <p:nvPr/>
        </p:nvSpPr>
        <p:spPr>
          <a:xfrm>
            <a:off x="640080" y="4128516"/>
            <a:ext cx="1371600" cy="320040"/>
          </a:xfrm>
          <a:prstGeom prst="rect">
            <a:avLst/>
          </a:prstGeom>
          <a:noFill/>
          <a:ln/>
        </p:spPr>
        <p:txBody>
          <a:bodyPr wrap="square" rtlCol="0" anchor="ctr"/>
          <a:lstStyle/>
          <a:p>
            <a:pPr marL="0" indent="0">
              <a:buNone/>
            </a:pPr>
            <a:r>
              <a:rPr lang="en-US" sz="1500" b="1" dirty="0">
                <a:solidFill>
                  <a:srgbClr val="00E676"/>
                </a:solidFill>
              </a:rPr>
              <a:t>Highlighting</a:t>
            </a:r>
            <a:endParaRPr lang="en-US" sz="1500" dirty="0"/>
          </a:p>
        </p:txBody>
      </p:sp>
      <p:sp>
        <p:nvSpPr>
          <p:cNvPr id="23" name="Text 21"/>
          <p:cNvSpPr/>
          <p:nvPr/>
        </p:nvSpPr>
        <p:spPr>
          <a:xfrm>
            <a:off x="3246120" y="4128516"/>
            <a:ext cx="3717388" cy="320040"/>
          </a:xfrm>
          <a:prstGeom prst="rect">
            <a:avLst/>
          </a:prstGeom>
          <a:noFill/>
          <a:ln/>
        </p:spPr>
        <p:txBody>
          <a:bodyPr wrap="square" rtlCol="0" anchor="ctr"/>
          <a:lstStyle/>
          <a:p>
            <a:pPr marL="0" indent="0">
              <a:buNone/>
            </a:pPr>
            <a:r>
              <a:rPr lang="en-US" sz="1500" i="1" dirty="0"/>
              <a:t>Emphasises items without hiding others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395AF-B552-E508-71B9-F42BFCB7BEA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77D5BEC-6CE0-957B-B873-545359CD8A03}"/>
              </a:ext>
            </a:extLst>
          </p:cNvPr>
          <p:cNvSpPr/>
          <p:nvPr/>
        </p:nvSpPr>
        <p:spPr>
          <a:xfrm>
            <a:off x="411480" y="256032"/>
            <a:ext cx="384048" cy="320040"/>
          </a:xfrm>
          <a:prstGeom prst="rect">
            <a:avLst/>
          </a:prstGeom>
          <a:solidFill>
            <a:srgbClr val="1DB954"/>
          </a:solidFill>
          <a:ln w="12700">
            <a:solidFill>
              <a:srgbClr val="1DB954"/>
            </a:solidFill>
            <a:prstDash val="solid"/>
          </a:ln>
        </p:spPr>
        <p:txBody>
          <a:bodyPr/>
          <a:lstStyle/>
          <a:p>
            <a:endParaRPr lang="de-CH"/>
          </a:p>
        </p:txBody>
      </p:sp>
      <p:sp>
        <p:nvSpPr>
          <p:cNvPr id="3" name="Text 1">
            <a:extLst>
              <a:ext uri="{FF2B5EF4-FFF2-40B4-BE49-F238E27FC236}">
                <a16:creationId xmlns:a16="http://schemas.microsoft.com/office/drawing/2014/main" id="{D58A57BD-EE93-EBB1-9143-7A5772DF1B7E}"/>
              </a:ext>
            </a:extLst>
          </p:cNvPr>
          <p:cNvSpPr/>
          <p:nvPr/>
        </p:nvSpPr>
        <p:spPr>
          <a:xfrm>
            <a:off x="411480" y="256032"/>
            <a:ext cx="384048" cy="320040"/>
          </a:xfrm>
          <a:prstGeom prst="rect">
            <a:avLst/>
          </a:prstGeom>
          <a:noFill/>
          <a:ln/>
        </p:spPr>
        <p:txBody>
          <a:bodyPr wrap="square" lIns="0" tIns="0" rIns="0" bIns="0" rtlCol="0" anchor="ctr"/>
          <a:lstStyle/>
          <a:p>
            <a:pPr marL="0" indent="0" algn="ctr">
              <a:buNone/>
            </a:pPr>
            <a:r>
              <a:rPr lang="en-US" sz="1100" b="1" dirty="0">
                <a:solidFill>
                  <a:srgbClr val="000000"/>
                </a:solidFill>
              </a:rPr>
              <a:t>07</a:t>
            </a:r>
            <a:endParaRPr lang="en-US" sz="1100" dirty="0"/>
          </a:p>
        </p:txBody>
      </p:sp>
      <p:sp>
        <p:nvSpPr>
          <p:cNvPr id="4" name="Text 2">
            <a:extLst>
              <a:ext uri="{FF2B5EF4-FFF2-40B4-BE49-F238E27FC236}">
                <a16:creationId xmlns:a16="http://schemas.microsoft.com/office/drawing/2014/main" id="{CEA001A5-06B6-DEEE-79C4-DAE4F574C0A7}"/>
              </a:ext>
            </a:extLst>
          </p:cNvPr>
          <p:cNvSpPr/>
          <p:nvPr/>
        </p:nvSpPr>
        <p:spPr>
          <a:xfrm>
            <a:off x="868680" y="256032"/>
            <a:ext cx="4572000" cy="320040"/>
          </a:xfrm>
          <a:prstGeom prst="rect">
            <a:avLst/>
          </a:prstGeom>
          <a:noFill/>
          <a:ln/>
        </p:spPr>
        <p:txBody>
          <a:bodyPr wrap="square" lIns="0" tIns="0" rIns="0" bIns="0" rtlCol="0" anchor="ctr"/>
          <a:lstStyle/>
          <a:p>
            <a:pPr marL="0" indent="0">
              <a:buNone/>
            </a:pPr>
            <a:r>
              <a:rPr lang="en-US" sz="1200" dirty="0">
                <a:solidFill>
                  <a:srgbClr val="9999BB"/>
                </a:solidFill>
              </a:rPr>
              <a:t>Reflection</a:t>
            </a:r>
            <a:endParaRPr lang="en-US" sz="1200" dirty="0"/>
          </a:p>
        </p:txBody>
      </p:sp>
      <p:sp>
        <p:nvSpPr>
          <p:cNvPr id="5" name="Text 3">
            <a:extLst>
              <a:ext uri="{FF2B5EF4-FFF2-40B4-BE49-F238E27FC236}">
                <a16:creationId xmlns:a16="http://schemas.microsoft.com/office/drawing/2014/main" id="{2E1B7AB3-2FDD-8F8E-E86B-352ED14D67E5}"/>
              </a:ext>
            </a:extLst>
          </p:cNvPr>
          <p:cNvSpPr/>
          <p:nvPr/>
        </p:nvSpPr>
        <p:spPr>
          <a:xfrm>
            <a:off x="457200" y="685800"/>
            <a:ext cx="8229600" cy="502920"/>
          </a:xfrm>
          <a:prstGeom prst="rect">
            <a:avLst/>
          </a:prstGeom>
          <a:noFill/>
          <a:ln/>
        </p:spPr>
        <p:txBody>
          <a:bodyPr wrap="square" rtlCol="0" anchor="ctr"/>
          <a:lstStyle/>
          <a:p>
            <a:pPr marL="0" indent="0">
              <a:buNone/>
            </a:pPr>
            <a:r>
              <a:rPr lang="en-US" sz="2800" b="1" dirty="0">
                <a:solidFill>
                  <a:srgbClr val="FFFFFF"/>
                </a:solidFill>
              </a:rPr>
              <a:t>What worked and what we'd revisit</a:t>
            </a:r>
            <a:endParaRPr lang="en-US" sz="2800" dirty="0"/>
          </a:p>
        </p:txBody>
      </p:sp>
      <p:sp>
        <p:nvSpPr>
          <p:cNvPr id="9" name="Shape 7">
            <a:extLst>
              <a:ext uri="{FF2B5EF4-FFF2-40B4-BE49-F238E27FC236}">
                <a16:creationId xmlns:a16="http://schemas.microsoft.com/office/drawing/2014/main" id="{37B6BF2F-E573-ECD9-24F5-7D6438C6DFD3}"/>
              </a:ext>
            </a:extLst>
          </p:cNvPr>
          <p:cNvSpPr/>
          <p:nvPr/>
        </p:nvSpPr>
        <p:spPr>
          <a:xfrm>
            <a:off x="612649" y="1400293"/>
            <a:ext cx="3845644" cy="3376028"/>
          </a:xfrm>
          <a:prstGeom prst="rect">
            <a:avLst/>
          </a:prstGeom>
          <a:solidFill>
            <a:srgbClr val="1E1E2E"/>
          </a:solidFill>
          <a:ln w="6350">
            <a:solidFill>
              <a:srgbClr val="2A2A3E"/>
            </a:solidFill>
            <a:prstDash val="solid"/>
          </a:ln>
        </p:spPr>
        <p:txBody>
          <a:bodyPr/>
          <a:lstStyle/>
          <a:p>
            <a:endParaRPr lang="de-CH"/>
          </a:p>
        </p:txBody>
      </p:sp>
      <p:sp>
        <p:nvSpPr>
          <p:cNvPr id="10" name="Text 8">
            <a:extLst>
              <a:ext uri="{FF2B5EF4-FFF2-40B4-BE49-F238E27FC236}">
                <a16:creationId xmlns:a16="http://schemas.microsoft.com/office/drawing/2014/main" id="{5205D7D7-C62C-31E9-16BB-8881DEA863C2}"/>
              </a:ext>
            </a:extLst>
          </p:cNvPr>
          <p:cNvSpPr/>
          <p:nvPr/>
        </p:nvSpPr>
        <p:spPr>
          <a:xfrm>
            <a:off x="795528" y="1491733"/>
            <a:ext cx="3461000" cy="333218"/>
          </a:xfrm>
          <a:prstGeom prst="rect">
            <a:avLst/>
          </a:prstGeom>
          <a:noFill/>
          <a:ln/>
        </p:spPr>
        <p:txBody>
          <a:bodyPr wrap="square" rtlCol="0" anchor="ctr"/>
          <a:lstStyle/>
          <a:p>
            <a:pPr marL="0" indent="0">
              <a:buNone/>
            </a:pPr>
            <a:r>
              <a:rPr lang="en-US" sz="1500" b="1" dirty="0">
                <a:solidFill>
                  <a:srgbClr val="1DB954"/>
                </a:solidFill>
              </a:rPr>
              <a:t>What worked</a:t>
            </a:r>
            <a:endParaRPr lang="en-US" sz="1500" dirty="0"/>
          </a:p>
        </p:txBody>
      </p:sp>
      <p:sp>
        <p:nvSpPr>
          <p:cNvPr id="11" name="Text 9">
            <a:extLst>
              <a:ext uri="{FF2B5EF4-FFF2-40B4-BE49-F238E27FC236}">
                <a16:creationId xmlns:a16="http://schemas.microsoft.com/office/drawing/2014/main" id="{8A31EF5A-9C5E-4C49-D2F5-74833F250F66}"/>
              </a:ext>
            </a:extLst>
          </p:cNvPr>
          <p:cNvSpPr/>
          <p:nvPr/>
        </p:nvSpPr>
        <p:spPr>
          <a:xfrm>
            <a:off x="795528" y="1948933"/>
            <a:ext cx="3589185" cy="569979"/>
          </a:xfrm>
          <a:prstGeom prst="rect">
            <a:avLst/>
          </a:prstGeom>
          <a:noFill/>
          <a:ln/>
        </p:spPr>
        <p:txBody>
          <a:bodyPr wrap="square" rtlCol="0" anchor="ctr"/>
          <a:lstStyle/>
          <a:p>
            <a:pPr marL="0" indent="0">
              <a:buNone/>
            </a:pPr>
            <a:r>
              <a:rPr lang="en-US" sz="1500" b="1" dirty="0">
                <a:solidFill>
                  <a:srgbClr val="1DB954"/>
                </a:solidFill>
              </a:rPr>
              <a:t>✓  </a:t>
            </a:r>
            <a:r>
              <a:rPr lang="en-US" sz="1500" dirty="0">
                <a:solidFill>
                  <a:srgbClr val="FFFFFF"/>
                </a:solidFill>
              </a:rPr>
              <a:t>Martini glass</a:t>
            </a:r>
            <a:endParaRPr lang="en-US" sz="1500" dirty="0"/>
          </a:p>
        </p:txBody>
      </p:sp>
      <p:sp>
        <p:nvSpPr>
          <p:cNvPr id="12" name="Text 10">
            <a:extLst>
              <a:ext uri="{FF2B5EF4-FFF2-40B4-BE49-F238E27FC236}">
                <a16:creationId xmlns:a16="http://schemas.microsoft.com/office/drawing/2014/main" id="{7C7465C8-EEB3-0A4C-6ADA-F696C16831EF}"/>
              </a:ext>
            </a:extLst>
          </p:cNvPr>
          <p:cNvSpPr/>
          <p:nvPr/>
        </p:nvSpPr>
        <p:spPr>
          <a:xfrm>
            <a:off x="795528" y="2653021"/>
            <a:ext cx="3589185" cy="569979"/>
          </a:xfrm>
          <a:prstGeom prst="rect">
            <a:avLst/>
          </a:prstGeom>
          <a:noFill/>
          <a:ln/>
        </p:spPr>
        <p:txBody>
          <a:bodyPr wrap="square" rtlCol="0" anchor="ctr"/>
          <a:lstStyle/>
          <a:p>
            <a:pPr marL="0" indent="0">
              <a:buNone/>
            </a:pPr>
            <a:r>
              <a:rPr lang="en-US" sz="1500" b="1" dirty="0">
                <a:solidFill>
                  <a:srgbClr val="1DB954"/>
                </a:solidFill>
              </a:rPr>
              <a:t>✓  </a:t>
            </a:r>
            <a:r>
              <a:rPr lang="en-US" sz="1500" dirty="0">
                <a:solidFill>
                  <a:srgbClr val="FFFFFF"/>
                </a:solidFill>
              </a:rPr>
              <a:t>Persona-driven language</a:t>
            </a:r>
            <a:endParaRPr lang="en-US" sz="1500" dirty="0"/>
          </a:p>
        </p:txBody>
      </p:sp>
      <p:sp>
        <p:nvSpPr>
          <p:cNvPr id="13" name="Text 11">
            <a:extLst>
              <a:ext uri="{FF2B5EF4-FFF2-40B4-BE49-F238E27FC236}">
                <a16:creationId xmlns:a16="http://schemas.microsoft.com/office/drawing/2014/main" id="{9D912629-FD83-02BE-CC7F-96E41BD955AA}"/>
              </a:ext>
            </a:extLst>
          </p:cNvPr>
          <p:cNvSpPr/>
          <p:nvPr/>
        </p:nvSpPr>
        <p:spPr>
          <a:xfrm>
            <a:off x="795528" y="3357109"/>
            <a:ext cx="3589185" cy="569979"/>
          </a:xfrm>
          <a:prstGeom prst="rect">
            <a:avLst/>
          </a:prstGeom>
          <a:noFill/>
          <a:ln/>
        </p:spPr>
        <p:txBody>
          <a:bodyPr wrap="square" rtlCol="0" anchor="ctr"/>
          <a:lstStyle/>
          <a:p>
            <a:pPr marL="0" indent="0">
              <a:buNone/>
            </a:pPr>
            <a:r>
              <a:rPr lang="en-US" sz="1500" b="1" dirty="0">
                <a:solidFill>
                  <a:srgbClr val="1DB954"/>
                </a:solidFill>
              </a:rPr>
              <a:t>✓  </a:t>
            </a:r>
            <a:r>
              <a:rPr lang="en-US" sz="1500" dirty="0">
                <a:solidFill>
                  <a:srgbClr val="FFFFFF"/>
                </a:solidFill>
              </a:rPr>
              <a:t>"Your track" slider</a:t>
            </a:r>
            <a:endParaRPr lang="en-US" sz="1500" dirty="0"/>
          </a:p>
        </p:txBody>
      </p:sp>
      <p:sp>
        <p:nvSpPr>
          <p:cNvPr id="6" name="Shape 13">
            <a:extLst>
              <a:ext uri="{FF2B5EF4-FFF2-40B4-BE49-F238E27FC236}">
                <a16:creationId xmlns:a16="http://schemas.microsoft.com/office/drawing/2014/main" id="{414696B3-60C9-056F-0755-42EA146BE11E}"/>
              </a:ext>
            </a:extLst>
          </p:cNvPr>
          <p:cNvSpPr/>
          <p:nvPr/>
        </p:nvSpPr>
        <p:spPr>
          <a:xfrm>
            <a:off x="4855778" y="1400609"/>
            <a:ext cx="3845643" cy="3375712"/>
          </a:xfrm>
          <a:prstGeom prst="rect">
            <a:avLst/>
          </a:prstGeom>
          <a:solidFill>
            <a:srgbClr val="1E1E2E"/>
          </a:solidFill>
          <a:ln w="6350">
            <a:solidFill>
              <a:srgbClr val="2A2A3E"/>
            </a:solidFill>
            <a:prstDash val="solid"/>
          </a:ln>
        </p:spPr>
        <p:txBody>
          <a:bodyPr/>
          <a:lstStyle/>
          <a:p>
            <a:endParaRPr lang="de-CH" sz="1500"/>
          </a:p>
        </p:txBody>
      </p:sp>
      <p:sp>
        <p:nvSpPr>
          <p:cNvPr id="7" name="Text 14">
            <a:extLst>
              <a:ext uri="{FF2B5EF4-FFF2-40B4-BE49-F238E27FC236}">
                <a16:creationId xmlns:a16="http://schemas.microsoft.com/office/drawing/2014/main" id="{2808335D-C8FD-796F-1602-4CD49B51A664}"/>
              </a:ext>
            </a:extLst>
          </p:cNvPr>
          <p:cNvSpPr/>
          <p:nvPr/>
        </p:nvSpPr>
        <p:spPr>
          <a:xfrm>
            <a:off x="4886162" y="1501193"/>
            <a:ext cx="3320491" cy="339288"/>
          </a:xfrm>
          <a:prstGeom prst="rect">
            <a:avLst/>
          </a:prstGeom>
          <a:noFill/>
          <a:ln/>
        </p:spPr>
        <p:txBody>
          <a:bodyPr wrap="square" rtlCol="0" anchor="ctr"/>
          <a:lstStyle/>
          <a:p>
            <a:pPr marL="0" indent="0">
              <a:buNone/>
            </a:pPr>
            <a:r>
              <a:rPr lang="en-US" sz="1500" b="1" dirty="0">
                <a:solidFill>
                  <a:srgbClr val="9999BB"/>
                </a:solidFill>
              </a:rPr>
              <a:t>Would revisit</a:t>
            </a:r>
            <a:endParaRPr lang="en-US" sz="1500" dirty="0"/>
          </a:p>
        </p:txBody>
      </p:sp>
      <p:sp>
        <p:nvSpPr>
          <p:cNvPr id="8" name="Text 15">
            <a:extLst>
              <a:ext uri="{FF2B5EF4-FFF2-40B4-BE49-F238E27FC236}">
                <a16:creationId xmlns:a16="http://schemas.microsoft.com/office/drawing/2014/main" id="{40CCAEC8-400C-1F2D-45E4-68E316B3E3D4}"/>
              </a:ext>
            </a:extLst>
          </p:cNvPr>
          <p:cNvSpPr/>
          <p:nvPr/>
        </p:nvSpPr>
        <p:spPr>
          <a:xfrm>
            <a:off x="4886161" y="1876776"/>
            <a:ext cx="3320491" cy="714292"/>
          </a:xfrm>
          <a:prstGeom prst="rect">
            <a:avLst/>
          </a:prstGeom>
          <a:noFill/>
          <a:ln/>
        </p:spPr>
        <p:txBody>
          <a:bodyPr wrap="square" rtlCol="0" anchor="ctr"/>
          <a:lstStyle/>
          <a:p>
            <a:pPr marL="0" indent="0">
              <a:buNone/>
            </a:pPr>
            <a:r>
              <a:rPr lang="en-US" sz="1500" b="1" dirty="0">
                <a:solidFill>
                  <a:srgbClr val="9999BB"/>
                </a:solidFill>
              </a:rPr>
              <a:t>△  </a:t>
            </a:r>
            <a:r>
              <a:rPr lang="en-US" sz="1500" dirty="0">
                <a:solidFill>
                  <a:srgbClr val="CCCCDD"/>
                </a:solidFill>
              </a:rPr>
              <a:t>Mobile layout</a:t>
            </a:r>
            <a:endParaRPr lang="en-US" sz="1500" dirty="0"/>
          </a:p>
        </p:txBody>
      </p:sp>
      <p:sp>
        <p:nvSpPr>
          <p:cNvPr id="15" name="Text 16">
            <a:extLst>
              <a:ext uri="{FF2B5EF4-FFF2-40B4-BE49-F238E27FC236}">
                <a16:creationId xmlns:a16="http://schemas.microsoft.com/office/drawing/2014/main" id="{5D8DF3B3-00A3-EC68-3EFF-935C238573DE}"/>
              </a:ext>
            </a:extLst>
          </p:cNvPr>
          <p:cNvSpPr/>
          <p:nvPr/>
        </p:nvSpPr>
        <p:spPr>
          <a:xfrm>
            <a:off x="4855778" y="2579014"/>
            <a:ext cx="3320491" cy="714292"/>
          </a:xfrm>
          <a:prstGeom prst="rect">
            <a:avLst/>
          </a:prstGeom>
          <a:noFill/>
          <a:ln/>
        </p:spPr>
        <p:txBody>
          <a:bodyPr wrap="square" rtlCol="0" anchor="ctr"/>
          <a:lstStyle/>
          <a:p>
            <a:pPr marL="0" indent="0">
              <a:buNone/>
            </a:pPr>
            <a:r>
              <a:rPr lang="en-US" sz="1500" b="1" dirty="0">
                <a:solidFill>
                  <a:srgbClr val="9999BB"/>
                </a:solidFill>
              </a:rPr>
              <a:t>△  </a:t>
            </a:r>
            <a:r>
              <a:rPr lang="en-US" sz="1500" dirty="0">
                <a:solidFill>
                  <a:srgbClr val="CCCCDD"/>
                </a:solidFill>
              </a:rPr>
              <a:t>Radar chart legend</a:t>
            </a:r>
            <a:endParaRPr lang="en-US" sz="1500" dirty="0"/>
          </a:p>
        </p:txBody>
      </p:sp>
      <p:sp>
        <p:nvSpPr>
          <p:cNvPr id="16" name="Text 17">
            <a:extLst>
              <a:ext uri="{FF2B5EF4-FFF2-40B4-BE49-F238E27FC236}">
                <a16:creationId xmlns:a16="http://schemas.microsoft.com/office/drawing/2014/main" id="{61646DBF-EDED-5A6B-50D6-250046284D44}"/>
              </a:ext>
            </a:extLst>
          </p:cNvPr>
          <p:cNvSpPr/>
          <p:nvPr/>
        </p:nvSpPr>
        <p:spPr>
          <a:xfrm>
            <a:off x="4886162" y="3281252"/>
            <a:ext cx="3320491" cy="714292"/>
          </a:xfrm>
          <a:prstGeom prst="rect">
            <a:avLst/>
          </a:prstGeom>
          <a:noFill/>
          <a:ln/>
        </p:spPr>
        <p:txBody>
          <a:bodyPr wrap="square" rtlCol="0" anchor="ctr"/>
          <a:lstStyle/>
          <a:p>
            <a:pPr marL="0" indent="0">
              <a:buNone/>
            </a:pPr>
            <a:r>
              <a:rPr lang="en-US" sz="1500" b="1" dirty="0">
                <a:solidFill>
                  <a:srgbClr val="9999BB"/>
                </a:solidFill>
              </a:rPr>
              <a:t>△  </a:t>
            </a:r>
            <a:r>
              <a:rPr lang="en-US" sz="1500" dirty="0">
                <a:solidFill>
                  <a:srgbClr val="CCCCDD"/>
                </a:solidFill>
              </a:rPr>
              <a:t>Section 2 heatmap</a:t>
            </a:r>
            <a:endParaRPr lang="en-US" sz="1500" dirty="0"/>
          </a:p>
        </p:txBody>
      </p:sp>
    </p:spTree>
    <p:extLst>
      <p:ext uri="{BB962C8B-B14F-4D97-AF65-F5344CB8AC3E}">
        <p14:creationId xmlns:p14="http://schemas.microsoft.com/office/powerpoint/2010/main" val="4033021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47F3D-567A-D0E7-1AAC-2348CA71C0C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5544BC-D828-729C-E427-81E9FB1A47EB}"/>
              </a:ext>
            </a:extLst>
          </p:cNvPr>
          <p:cNvSpPr/>
          <p:nvPr/>
        </p:nvSpPr>
        <p:spPr>
          <a:xfrm>
            <a:off x="6858000" y="-914400"/>
            <a:ext cx="3657600" cy="3657600"/>
          </a:xfrm>
          <a:prstGeom prst="ellipse">
            <a:avLst/>
          </a:prstGeom>
          <a:solidFill>
            <a:srgbClr val="1DB954">
              <a:alpha val="12000"/>
            </a:srgbClr>
          </a:solidFill>
          <a:ln w="12700">
            <a:solidFill>
              <a:srgbClr val="1DB954">
                <a:alpha val="12000"/>
              </a:srgbClr>
            </a:solidFill>
            <a:prstDash val="solid"/>
          </a:ln>
        </p:spPr>
        <p:txBody>
          <a:bodyPr/>
          <a:lstStyle/>
          <a:p>
            <a:endParaRPr lang="de-CH"/>
          </a:p>
        </p:txBody>
      </p:sp>
      <p:sp>
        <p:nvSpPr>
          <p:cNvPr id="4" name="Text 2">
            <a:extLst>
              <a:ext uri="{FF2B5EF4-FFF2-40B4-BE49-F238E27FC236}">
                <a16:creationId xmlns:a16="http://schemas.microsoft.com/office/drawing/2014/main" id="{6EAE4281-319C-54B9-2BE2-ACE952772A13}"/>
              </a:ext>
            </a:extLst>
          </p:cNvPr>
          <p:cNvSpPr/>
          <p:nvPr/>
        </p:nvSpPr>
        <p:spPr>
          <a:xfrm>
            <a:off x="914400" y="1828800"/>
            <a:ext cx="7315200" cy="457200"/>
          </a:xfrm>
          <a:prstGeom prst="rect">
            <a:avLst/>
          </a:prstGeom>
          <a:noFill/>
          <a:ln/>
        </p:spPr>
        <p:txBody>
          <a:bodyPr wrap="square" rtlCol="0" anchor="ctr"/>
          <a:lstStyle/>
          <a:p>
            <a:pPr marL="0" indent="0" algn="ctr">
              <a:buNone/>
            </a:pPr>
            <a:r>
              <a:rPr lang="en-US" sz="2800" b="1" dirty="0">
                <a:solidFill>
                  <a:srgbClr val="FFFFFF"/>
                </a:solidFill>
              </a:rPr>
              <a:t>Are you curious about a song?</a:t>
            </a:r>
            <a:endParaRPr lang="en-US" sz="2800" dirty="0"/>
          </a:p>
        </p:txBody>
      </p:sp>
      <p:sp>
        <p:nvSpPr>
          <p:cNvPr id="5" name="Text 3">
            <a:extLst>
              <a:ext uri="{FF2B5EF4-FFF2-40B4-BE49-F238E27FC236}">
                <a16:creationId xmlns:a16="http://schemas.microsoft.com/office/drawing/2014/main" id="{8C1FD3A5-4AB8-03F7-241E-1B2475056A97}"/>
              </a:ext>
            </a:extLst>
          </p:cNvPr>
          <p:cNvSpPr/>
          <p:nvPr/>
        </p:nvSpPr>
        <p:spPr>
          <a:xfrm>
            <a:off x="914400" y="2286000"/>
            <a:ext cx="7315200" cy="457200"/>
          </a:xfrm>
          <a:prstGeom prst="rect">
            <a:avLst/>
          </a:prstGeom>
          <a:noFill/>
          <a:ln/>
        </p:spPr>
        <p:txBody>
          <a:bodyPr wrap="square" rtlCol="0" anchor="ctr"/>
          <a:lstStyle/>
          <a:p>
            <a:pPr marL="0" indent="0" algn="ctr">
              <a:buNone/>
            </a:pPr>
            <a:r>
              <a:rPr lang="en-US" sz="2800" dirty="0">
                <a:solidFill>
                  <a:srgbClr val="9999BB"/>
                </a:solidFill>
              </a:rPr>
              <a:t>Let’s find your score!</a:t>
            </a:r>
            <a:endParaRPr lang="en-US" sz="2800" dirty="0"/>
          </a:p>
        </p:txBody>
      </p:sp>
      <p:sp>
        <p:nvSpPr>
          <p:cNvPr id="6" name="Shape 4">
            <a:extLst>
              <a:ext uri="{FF2B5EF4-FFF2-40B4-BE49-F238E27FC236}">
                <a16:creationId xmlns:a16="http://schemas.microsoft.com/office/drawing/2014/main" id="{A6F74C8C-474A-5E6E-5D50-9ED6060770A8}"/>
              </a:ext>
            </a:extLst>
          </p:cNvPr>
          <p:cNvSpPr/>
          <p:nvPr/>
        </p:nvSpPr>
        <p:spPr>
          <a:xfrm>
            <a:off x="2286000" y="3017520"/>
            <a:ext cx="4572000" cy="822960"/>
          </a:xfrm>
          <a:prstGeom prst="rect">
            <a:avLst/>
          </a:prstGeom>
          <a:solidFill>
            <a:srgbClr val="1E1E2E"/>
          </a:solidFill>
          <a:ln w="6350">
            <a:solidFill>
              <a:srgbClr val="2A2A3E"/>
            </a:solidFill>
            <a:prstDash val="solid"/>
          </a:ln>
        </p:spPr>
        <p:txBody>
          <a:bodyPr/>
          <a:lstStyle/>
          <a:p>
            <a:endParaRPr lang="de-CH"/>
          </a:p>
        </p:txBody>
      </p:sp>
      <p:sp>
        <p:nvSpPr>
          <p:cNvPr id="8" name="Text 6">
            <a:extLst>
              <a:ext uri="{FF2B5EF4-FFF2-40B4-BE49-F238E27FC236}">
                <a16:creationId xmlns:a16="http://schemas.microsoft.com/office/drawing/2014/main" id="{9A3D38A6-C159-240F-E8A7-D61E8738850A}"/>
              </a:ext>
            </a:extLst>
          </p:cNvPr>
          <p:cNvSpPr/>
          <p:nvPr/>
        </p:nvSpPr>
        <p:spPr>
          <a:xfrm>
            <a:off x="2377440" y="3255264"/>
            <a:ext cx="4389120" cy="347472"/>
          </a:xfrm>
          <a:prstGeom prst="rect">
            <a:avLst/>
          </a:prstGeom>
          <a:noFill/>
          <a:ln/>
        </p:spPr>
        <p:txBody>
          <a:bodyPr wrap="square" rtlCol="0" anchor="ctr"/>
          <a:lstStyle/>
          <a:p>
            <a:pPr marL="0" indent="0" algn="ctr">
              <a:buNone/>
            </a:pPr>
            <a:r>
              <a:rPr lang="en-US" sz="1300" dirty="0">
                <a:solidFill>
                  <a:srgbClr val="00E676"/>
                </a:solidFill>
              </a:rPr>
              <a:t>podsv-fs26-ad24.github.io/ad24-1-fancyproject/story.html</a:t>
            </a:r>
            <a:endParaRPr lang="en-US" sz="1300" dirty="0"/>
          </a:p>
        </p:txBody>
      </p:sp>
    </p:spTree>
    <p:extLst>
      <p:ext uri="{BB962C8B-B14F-4D97-AF65-F5344CB8AC3E}">
        <p14:creationId xmlns:p14="http://schemas.microsoft.com/office/powerpoint/2010/main" val="9847521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1DB954">
              <a:alpha val="12000"/>
            </a:srgbClr>
          </a:solidFill>
          <a:ln w="12700">
            <a:solidFill>
              <a:srgbClr val="1DB954">
                <a:alpha val="12000"/>
              </a:srgbClr>
            </a:solidFill>
            <a:prstDash val="solid"/>
          </a:ln>
        </p:spPr>
        <p:txBody>
          <a:bodyPr/>
          <a:lstStyle/>
          <a:p>
            <a:endParaRPr lang="de-CH"/>
          </a:p>
        </p:txBody>
      </p:sp>
      <p:sp>
        <p:nvSpPr>
          <p:cNvPr id="3" name="Text 1"/>
          <p:cNvSpPr/>
          <p:nvPr/>
        </p:nvSpPr>
        <p:spPr>
          <a:xfrm>
            <a:off x="914400" y="1188720"/>
            <a:ext cx="7315200" cy="457200"/>
          </a:xfrm>
          <a:prstGeom prst="rect">
            <a:avLst/>
          </a:prstGeom>
          <a:noFill/>
          <a:ln/>
        </p:spPr>
        <p:txBody>
          <a:bodyPr wrap="square" rtlCol="0" anchor="ctr"/>
          <a:lstStyle/>
          <a:p>
            <a:pPr marL="0" indent="0" algn="ctr">
              <a:buNone/>
            </a:pPr>
            <a:r>
              <a:rPr lang="en-US" sz="1300" b="1" kern="0" spc="400" dirty="0">
                <a:solidFill>
                  <a:srgbClr val="1DB954"/>
                </a:solidFill>
              </a:rPr>
              <a:t>THANK YOU</a:t>
            </a:r>
            <a:endParaRPr lang="en-US" sz="1300" dirty="0"/>
          </a:p>
        </p:txBody>
      </p:sp>
      <p:sp>
        <p:nvSpPr>
          <p:cNvPr id="4" name="Text 2"/>
          <p:cNvSpPr/>
          <p:nvPr/>
        </p:nvSpPr>
        <p:spPr>
          <a:xfrm>
            <a:off x="914400" y="1828800"/>
            <a:ext cx="7315200" cy="457200"/>
          </a:xfrm>
          <a:prstGeom prst="rect">
            <a:avLst/>
          </a:prstGeom>
          <a:noFill/>
          <a:ln/>
        </p:spPr>
        <p:txBody>
          <a:bodyPr wrap="square" rtlCol="0" anchor="ctr"/>
          <a:lstStyle/>
          <a:p>
            <a:pPr marL="0" indent="0" algn="ctr">
              <a:buNone/>
            </a:pPr>
            <a:r>
              <a:rPr lang="en-US" sz="2800" b="1" dirty="0">
                <a:solidFill>
                  <a:srgbClr val="FFFFFF"/>
                </a:solidFill>
              </a:rPr>
              <a:t>The design tells a consistent story.</a:t>
            </a:r>
            <a:endParaRPr lang="en-US" sz="2800" dirty="0"/>
          </a:p>
        </p:txBody>
      </p:sp>
      <p:sp>
        <p:nvSpPr>
          <p:cNvPr id="5" name="Text 3"/>
          <p:cNvSpPr/>
          <p:nvPr/>
        </p:nvSpPr>
        <p:spPr>
          <a:xfrm>
            <a:off x="914400" y="2286000"/>
            <a:ext cx="7315200" cy="457200"/>
          </a:xfrm>
          <a:prstGeom prst="rect">
            <a:avLst/>
          </a:prstGeom>
          <a:noFill/>
          <a:ln/>
        </p:spPr>
        <p:txBody>
          <a:bodyPr wrap="square" rtlCol="0" anchor="ctr"/>
          <a:lstStyle/>
          <a:p>
            <a:pPr marL="0" indent="0" algn="ctr">
              <a:buNone/>
            </a:pPr>
            <a:r>
              <a:rPr lang="en-US" sz="2800" dirty="0">
                <a:solidFill>
                  <a:srgbClr val="9999BB"/>
                </a:solidFill>
              </a:rPr>
              <a:t>Theory made every choice defensible.</a:t>
            </a:r>
            <a:endParaRPr lang="en-US" sz="2800" dirty="0"/>
          </a:p>
        </p:txBody>
      </p:sp>
      <p:sp>
        <p:nvSpPr>
          <p:cNvPr id="6" name="Shape 4"/>
          <p:cNvSpPr/>
          <p:nvPr/>
        </p:nvSpPr>
        <p:spPr>
          <a:xfrm>
            <a:off x="2286000" y="3017520"/>
            <a:ext cx="4572000" cy="822960"/>
          </a:xfrm>
          <a:prstGeom prst="rect">
            <a:avLst/>
          </a:prstGeom>
          <a:solidFill>
            <a:srgbClr val="1E1E2E"/>
          </a:solidFill>
          <a:ln w="6350">
            <a:solidFill>
              <a:srgbClr val="2A2A3E"/>
            </a:solidFill>
            <a:prstDash val="solid"/>
          </a:ln>
        </p:spPr>
        <p:txBody>
          <a:bodyPr/>
          <a:lstStyle/>
          <a:p>
            <a:endParaRPr lang="de-CH"/>
          </a:p>
        </p:txBody>
      </p:sp>
      <p:sp>
        <p:nvSpPr>
          <p:cNvPr id="7" name="Text 5"/>
          <p:cNvSpPr/>
          <p:nvPr/>
        </p:nvSpPr>
        <p:spPr>
          <a:xfrm>
            <a:off x="2377440" y="3063240"/>
            <a:ext cx="4389120" cy="320040"/>
          </a:xfrm>
          <a:prstGeom prst="rect">
            <a:avLst/>
          </a:prstGeom>
          <a:noFill/>
          <a:ln/>
        </p:spPr>
        <p:txBody>
          <a:bodyPr wrap="square" rtlCol="0" anchor="ctr"/>
          <a:lstStyle/>
          <a:p>
            <a:pPr marL="0" indent="0" algn="ctr">
              <a:buNone/>
            </a:pPr>
            <a:r>
              <a:rPr lang="en-US" sz="1400" dirty="0">
                <a:solidFill>
                  <a:srgbClr val="9999BB"/>
                </a:solidFill>
              </a:rPr>
              <a:t>Open the data story →</a:t>
            </a:r>
            <a:endParaRPr lang="en-US" sz="1400" dirty="0"/>
          </a:p>
        </p:txBody>
      </p:sp>
      <p:sp>
        <p:nvSpPr>
          <p:cNvPr id="8" name="Text 6"/>
          <p:cNvSpPr/>
          <p:nvPr/>
        </p:nvSpPr>
        <p:spPr>
          <a:xfrm>
            <a:off x="2377440" y="3383280"/>
            <a:ext cx="4389120" cy="347472"/>
          </a:xfrm>
          <a:prstGeom prst="rect">
            <a:avLst/>
          </a:prstGeom>
          <a:noFill/>
          <a:ln/>
        </p:spPr>
        <p:txBody>
          <a:bodyPr wrap="square" rtlCol="0" anchor="ctr"/>
          <a:lstStyle/>
          <a:p>
            <a:pPr marL="0" indent="0" algn="ctr">
              <a:buNone/>
            </a:pPr>
            <a:r>
              <a:rPr lang="en-US" sz="1300" dirty="0">
                <a:solidFill>
                  <a:srgbClr val="00E676"/>
                </a:solidFill>
              </a:rPr>
              <a:t>podsv-fs26-ad24.github.io/ad24-1-fancyproject/story.html</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6D2E1-56B7-7740-7BED-D3B88EBADD6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E6F9026-4B5B-BC08-9E0E-55811C4DB5B0}"/>
              </a:ext>
            </a:extLst>
          </p:cNvPr>
          <p:cNvSpPr/>
          <p:nvPr/>
        </p:nvSpPr>
        <p:spPr>
          <a:xfrm>
            <a:off x="6858000" y="-914400"/>
            <a:ext cx="3657600" cy="3657600"/>
          </a:xfrm>
          <a:prstGeom prst="ellipse">
            <a:avLst/>
          </a:prstGeom>
          <a:solidFill>
            <a:srgbClr val="1DB954">
              <a:alpha val="12000"/>
            </a:srgbClr>
          </a:solidFill>
          <a:ln w="12700">
            <a:solidFill>
              <a:srgbClr val="1DB954">
                <a:alpha val="12000"/>
              </a:srgbClr>
            </a:solidFill>
            <a:prstDash val="solid"/>
          </a:ln>
        </p:spPr>
        <p:txBody>
          <a:bodyPr/>
          <a:lstStyle/>
          <a:p>
            <a:endParaRPr lang="de-CH"/>
          </a:p>
        </p:txBody>
      </p:sp>
      <p:sp>
        <p:nvSpPr>
          <p:cNvPr id="9" name="Titel 8">
            <a:extLst>
              <a:ext uri="{FF2B5EF4-FFF2-40B4-BE49-F238E27FC236}">
                <a16:creationId xmlns:a16="http://schemas.microsoft.com/office/drawing/2014/main" id="{7F962642-F807-228A-0278-E972C061A618}"/>
              </a:ext>
            </a:extLst>
          </p:cNvPr>
          <p:cNvSpPr>
            <a:spLocks noGrp="1"/>
          </p:cNvSpPr>
          <p:nvPr>
            <p:ph type="title"/>
          </p:nvPr>
        </p:nvSpPr>
        <p:spPr/>
        <p:txBody>
          <a:bodyPr/>
          <a:lstStyle/>
          <a:p>
            <a:r>
              <a:rPr lang="en-GB" b="1" dirty="0"/>
              <a:t>References</a:t>
            </a:r>
            <a:endParaRPr lang="de-CH" b="1" dirty="0"/>
          </a:p>
        </p:txBody>
      </p:sp>
      <p:sp>
        <p:nvSpPr>
          <p:cNvPr id="11" name="Inhaltsplatzhalter 4">
            <a:extLst>
              <a:ext uri="{FF2B5EF4-FFF2-40B4-BE49-F238E27FC236}">
                <a16:creationId xmlns:a16="http://schemas.microsoft.com/office/drawing/2014/main" id="{58185CE2-058B-DFC0-AF6D-AACB05532123}"/>
              </a:ext>
            </a:extLst>
          </p:cNvPr>
          <p:cNvSpPr txBox="1">
            <a:spLocks noGrp="1"/>
          </p:cNvSpPr>
          <p:nvPr>
            <p:ph idx="1"/>
          </p:nvPr>
        </p:nvSpPr>
        <p:spPr>
          <a:xfrm>
            <a:off x="628650" y="1370013"/>
            <a:ext cx="7886700" cy="2951577"/>
          </a:xfrm>
          <a:prstGeom prst="rect">
            <a:avLst/>
          </a:prstGeom>
          <a:noFill/>
        </p:spPr>
        <p:txBody>
          <a:bodyPr wrap="square" rtlCol="0">
            <a:spAutoFit/>
          </a:bodyPr>
          <a:lstStyle/>
          <a:p>
            <a:r>
              <a:rPr lang="de-CH" sz="1800" dirty="0"/>
              <a:t>[1] </a:t>
            </a:r>
            <a:r>
              <a:rPr lang="de-CH" sz="1800" dirty="0">
                <a:hlinkClick r:id="rId3"/>
              </a:rPr>
              <a:t>https://www.magnific.com/premium-photo/young-girl-student-smiling-against-university_5670223.html</a:t>
            </a:r>
            <a:endParaRPr lang="de-CH" sz="1800" dirty="0"/>
          </a:p>
          <a:p>
            <a:r>
              <a:rPr lang="de-CH" sz="1800" dirty="0"/>
              <a:t>[2] </a:t>
            </a:r>
            <a:r>
              <a:rPr lang="de-CH" sz="1800" dirty="0">
                <a:hlinkClick r:id="rId4"/>
              </a:rPr>
              <a:t>https://www.digitalmusicnews.com/2021/10/29/how-to-record-music-at-home/</a:t>
            </a:r>
            <a:endParaRPr lang="de-CH" sz="1800" dirty="0"/>
          </a:p>
          <a:p>
            <a:r>
              <a:rPr lang="de-CH" sz="1800" dirty="0" err="1"/>
              <a:t>Based</a:t>
            </a:r>
            <a:r>
              <a:rPr lang="de-CH" sz="1800" dirty="0"/>
              <a:t> on: </a:t>
            </a:r>
            <a:r>
              <a:rPr lang="en-US" sz="1800" dirty="0"/>
              <a:t>podsv-fs26-ad24.github.io/ad24-1-fancyproject/story.html</a:t>
            </a:r>
          </a:p>
          <a:p>
            <a:endParaRPr lang="en-US" sz="1800" dirty="0"/>
          </a:p>
          <a:p>
            <a:r>
              <a:rPr lang="en-US" sz="1800" dirty="0"/>
              <a:t>And if you want to have a listen: </a:t>
            </a:r>
            <a:r>
              <a:rPr lang="en-US" sz="1800"/>
              <a:t>https://soundcloud.com/user-855433362</a:t>
            </a:r>
            <a:endParaRPr lang="en-US" sz="1800" dirty="0"/>
          </a:p>
          <a:p>
            <a:endParaRPr lang="en-US" sz="1800" dirty="0"/>
          </a:p>
          <a:p>
            <a:endParaRPr lang="de-CH" sz="1800" dirty="0"/>
          </a:p>
        </p:txBody>
      </p:sp>
    </p:spTree>
    <p:extLst>
      <p:ext uri="{BB962C8B-B14F-4D97-AF65-F5344CB8AC3E}">
        <p14:creationId xmlns:p14="http://schemas.microsoft.com/office/powerpoint/2010/main" val="2468001066"/>
      </p:ext>
    </p:extLst>
  </p:cSld>
  <p:clrMapOvr>
    <a:masterClrMapping/>
  </p:clrMapOvr>
</p:sld>
</file>

<file path=ppt/theme/theme1.xml><?xml version="1.0" encoding="utf-8"?>
<a:theme xmlns:a="http://schemas.openxmlformats.org/drawingml/2006/main" name="Office 2013 – 2022-Design">
  <a:themeElements>
    <a:clrScheme name="Office 2013 – 2022-Design">
      <a:dk1>
        <a:sysClr val="windowText" lastClr="000000"/>
      </a:dk1>
      <a:lt1>
        <a:sysClr val="window" lastClr="FFFFFF"/>
      </a:lt1>
      <a:dk2>
        <a:srgbClr val="44546A"/>
      </a:dk2>
      <a:lt2>
        <a:srgbClr val="E7E6E6"/>
      </a:lt2>
      <a:accent1>
        <a:srgbClr val="29AF8C"/>
      </a:accent1>
      <a:accent2>
        <a:srgbClr val="97BE49"/>
      </a:accent2>
      <a:accent3>
        <a:srgbClr val="3D9CCC"/>
      </a:accent3>
      <a:accent4>
        <a:srgbClr val="7C60C6"/>
      </a:accent4>
      <a:accent5>
        <a:srgbClr val="C9492C"/>
      </a:accent5>
      <a:accent6>
        <a:srgbClr val="D58C2E"/>
      </a:accent6>
      <a:hlink>
        <a:srgbClr val="0563C1"/>
      </a:hlink>
      <a:folHlink>
        <a:srgbClr val="954F72"/>
      </a:folHlink>
    </a:clrScheme>
    <a:fontScheme name="Office 2013 – 2022-Design">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Design">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3E4F19A7-A959-40BB-972C-4880BAF8EB0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2087</Words>
  <Application>Microsoft Office PowerPoint</Application>
  <PresentationFormat>Bildschirmpräsentation (16:9)</PresentationFormat>
  <Paragraphs>218</Paragraphs>
  <Slides>16</Slides>
  <Notes>16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16</vt:i4>
      </vt:variant>
    </vt:vector>
  </HeadingPairs>
  <TitlesOfParts>
    <vt:vector size="20" baseType="lpstr">
      <vt:lpstr>Arial</vt:lpstr>
      <vt:lpstr>Calibri</vt:lpstr>
      <vt:lpstr>Calibri Light</vt:lpstr>
      <vt:lpstr>Office 2013 – 2022-Design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Spotify Data Story – Design Presentation</dc:title>
  <dc:subject>PptxGenJS Presentation</dc:subject>
  <dc:creator>PptxGenJS</dc:creator>
  <cp:lastModifiedBy>Zambroni Angelina (zambrang)</cp:lastModifiedBy>
  <cp:revision>3</cp:revision>
  <dcterms:created xsi:type="dcterms:W3CDTF">2026-05-28T10:01:10Z</dcterms:created>
  <dcterms:modified xsi:type="dcterms:W3CDTF">2026-05-28T14:27:59Z</dcterms:modified>
</cp:coreProperties>
</file>