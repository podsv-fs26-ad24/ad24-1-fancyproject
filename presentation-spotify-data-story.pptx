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6"/>
  </p:notesMasterIdLst>
  <p:sldIdLst>
    <p:sldId id="256" r:id="rId2"/>
    <p:sldId id="257" r:id="rId3"/>
    <p:sldId id="268" r:id="rId4"/>
    <p:sldId id="258" r:id="rId5"/>
    <p:sldId id="259" r:id="rId6"/>
    <p:sldId id="260" r:id="rId7"/>
    <p:sldId id="262" r:id="rId8"/>
    <p:sldId id="263" r:id="rId9"/>
    <p:sldId id="264" r:id="rId10"/>
    <p:sldId id="270" r:id="rId11"/>
    <p:sldId id="266" r:id="rId12"/>
    <p:sldId id="271" r:id="rId13"/>
    <p:sldId id="267" r:id="rId14"/>
    <p:sldId id="269" r:id="rId1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B954"/>
    <a:srgbClr val="9B5D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9419" autoAdjust="0"/>
  </p:normalViewPr>
  <p:slideViewPr>
    <p:cSldViewPr snapToGrid="0" snapToObjects="1">
      <p:cViewPr>
        <p:scale>
          <a:sx n="119" d="100"/>
          <a:sy n="119" d="100"/>
        </p:scale>
        <p:origin x="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now, as we speak, there are over 100 million songs on Spotify. Every day, tens of thousands more are uploaded. And the vast majority of them will never, ever be heard. Not because they're bad — just because the platform is so overwhelmingly large. That's the question we went after: is there anything in the music itself that separates the ones that reach people from the ones that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had three concrete goals. First, understand whether the audio features Spotify calculates automatically — things like energy, danceability, tempo — actually relate to how popular a track gets. Second, map how different genres sound from each other. And third, give people a way to explore this for themselves, not just read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12776-05DF-7A6F-8680-314C3FEED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C41A9-FA40-83AF-4075-0EAF80D06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34A45-7C70-6018-B298-1AD807421782}"/>
              </a:ext>
            </a:extLst>
          </p:cNvPr>
          <p:cNvSpPr>
            <a:spLocks noGrp="1"/>
          </p:cNvSpPr>
          <p:nvPr>
            <p:ph type="body" idx="1"/>
          </p:nvPr>
        </p:nvSpPr>
        <p:spPr/>
        <p:txBody>
          <a:bodyPr/>
          <a:lstStyle/>
          <a:p>
            <a:r>
              <a:rPr lang="en-GB" dirty="0"/>
              <a:t>The central question we kept coming back to was this: what makes a Spotify track popular? And we wanted the answer to be useful to real people — music fans who are curious, not data scientists who already know what a correlation coefficient is."</a:t>
            </a:r>
            <a:endParaRPr lang="en-US" dirty="0"/>
          </a:p>
        </p:txBody>
      </p:sp>
      <p:sp>
        <p:nvSpPr>
          <p:cNvPr id="4" name="Slide Number Placeholder 3">
            <a:extLst>
              <a:ext uri="{FF2B5EF4-FFF2-40B4-BE49-F238E27FC236}">
                <a16:creationId xmlns:a16="http://schemas.microsoft.com/office/drawing/2014/main" id="{778236B1-5428-D99C-F5B6-D8E9B4F27AF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45730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first user is Lena. She's a communication design student, listens to Spotify every day, and has wondered — like most of us — why certain songs explode and others disappear. She has no data background. She just wants to understand the pattern. She's our benchmark: if the story makes sense to her, it's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Jonas is the second perspective. He actually makes music — releases on SoundCloud and Spotify — and every time he uploads a track, he has no idea what will happen to it. For him, the question isn't just interesting, it's personal. We wanted the tool to speak to him too, without requiring him to be a data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made deliberate choices about how to tell this story. We used an editorial narrator voice — confident, direct, opinionated — rather than the usual neutral academic tone. Structurally, it follows a martini glass: we guide the reader through the findings first, then open it up so they can explore with their own inputs. The most memorable moment in the story — 'happy doesn't equal popular' — was designed to be genuinely surprising. We'll show you why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worked with a Kaggle dataset of 114,000 Spotify tracks across 113 genres. After removing duplicates, that's 89,741 songs, each with a popularity score from 0 to 100 and nine audio features Spotify calculates automatically. One important limitation: there's no release date, so we can't track how popularity changes over time. This is a snapshot, not a time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we shipped is a scrollable data story on GitHub Pages — publicly accessible, fully interactive, no installation required. Six sections take the reader from the big picture down to a hands-on tool where they can drag sliders and see where their own hypothetical song would land. The guiding principle throughout: we show patterns and associations, not a hit formula. The data doesn't promise anything, and we didn't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the technical side: Python for everything data-related, Bokeh for the interactive charts, Quarto to assemble it into a static site, published on GitHub Pages. We ran five usability tests and scored a SUS of 78.5 — that puts us solidly in the 'good' range, above average for web tools. Participants found the story readable and the interactions intuitive."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F6634-FAAC-B6E5-99CE-643E169BC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7EE52-8F53-2E37-7AAA-151BA772B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B53BA-96D5-7A1E-0C91-72529BD48C0E}"/>
              </a:ext>
            </a:extLst>
          </p:cNvPr>
          <p:cNvSpPr>
            <a:spLocks noGrp="1"/>
          </p:cNvSpPr>
          <p:nvPr>
            <p:ph type="body" idx="1"/>
          </p:nvPr>
        </p:nvSpPr>
        <p:spPr/>
        <p:txBody>
          <a:bodyPr/>
          <a:lstStyle/>
          <a:p>
            <a:r>
              <a:rPr lang="en-GB" dirty="0"/>
              <a:t>"Here's what the data actually told us. One in ten tracks scores exactly zero — completely unheard. The strongest correlation between any audio feature and popularity is negative 0.13. That's </a:t>
            </a:r>
            <a:r>
              <a:rPr lang="en-GB" dirty="0" err="1"/>
              <a:t>instrumentalness</a:t>
            </a:r>
            <a:r>
              <a:rPr lang="en-GB" dirty="0"/>
              <a:t>. Essentially nothing. The finding that surprised everyone: the valence of hits — how happy they sound — is 0.484. Non-hits: 0.483. Indistinguishable. And 82% of all genres sit in the energetic half of the mood map. Calm music is a tiny island."</a:t>
            </a:r>
            <a:endParaRPr lang="en-US" dirty="0"/>
          </a:p>
        </p:txBody>
      </p:sp>
      <p:sp>
        <p:nvSpPr>
          <p:cNvPr id="4" name="Slide Number Placeholder 3">
            <a:extLst>
              <a:ext uri="{FF2B5EF4-FFF2-40B4-BE49-F238E27FC236}">
                <a16:creationId xmlns:a16="http://schemas.microsoft.com/office/drawing/2014/main" id="{2EDC2A16-09B5-6AC1-FD2A-08B6306BA0E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44988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open the story itself. [navigate to site] This is what 89,741 tracks look like when you scroll through them — and at the end, there's the slider where you can test your own track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A8AD-8929-3B6D-1C26-582DC17E1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5DFB4-3DFA-A723-0633-9E7600BDF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60F0E-8902-4CC7-9608-3729EDFF8AD2}"/>
              </a:ext>
            </a:extLst>
          </p:cNvPr>
          <p:cNvSpPr>
            <a:spLocks noGrp="1"/>
          </p:cNvSpPr>
          <p:nvPr>
            <p:ph type="body" idx="1"/>
          </p:nvPr>
        </p:nvSpPr>
        <p:spPr/>
        <p:txBody>
          <a:bodyPr/>
          <a:lstStyle/>
          <a:p>
            <a:r>
              <a:rPr lang="en-GB" dirty="0"/>
              <a:t>So here's the honest answer to our opening question. The audio features are real signals — but small ones. They explain each other brilliantly: loud tracks are energetic, energetic tracks aren't acoustic. But none of that transfers to fame. What actually drives popularity — playlist placement, algorithmic timing, a tweet at the right moment — doesn't live in a CSV file. What the data can do is describe the landscape honestly. And that landscape is stark: most songs exist in silence."</a:t>
            </a:r>
            <a:endParaRPr lang="en-US" dirty="0"/>
          </a:p>
        </p:txBody>
      </p:sp>
      <p:sp>
        <p:nvSpPr>
          <p:cNvPr id="4" name="Slide Number Placeholder 3">
            <a:extLst>
              <a:ext uri="{FF2B5EF4-FFF2-40B4-BE49-F238E27FC236}">
                <a16:creationId xmlns:a16="http://schemas.microsoft.com/office/drawing/2014/main" id="{9BD182FD-02FD-3E88-2612-70369DE96C4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24577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data tells a consistent story, but not the one most people expect. We went in looking for a formula. What we found instead was a reminder that music reaches people for reasons that are fundamentally human — and that no amount of danceability will replace being in the right place at the right time. If you want to explore it yourself, the link is live.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9520776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4119002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C764DE79-268F-4C1A-8933-263129D2AF90}"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8080488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40834285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629842" y="1878806"/>
            <a:ext cx="3868340"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4629150" y="1878806"/>
            <a:ext cx="3887391" cy="276344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82160213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12856124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7061270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C764DE79-268F-4C1A-8933-263129D2AF90}"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13572967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C764DE79-268F-4C1A-8933-263129D2AF90}"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8844203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7748523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‹Nr.›</a:t>
            </a:fld>
            <a:endParaRPr lang="en-US" dirty="0"/>
          </a:p>
        </p:txBody>
      </p:sp>
    </p:spTree>
    <p:extLst>
      <p:ext uri="{BB962C8B-B14F-4D97-AF65-F5344CB8AC3E}">
        <p14:creationId xmlns:p14="http://schemas.microsoft.com/office/powerpoint/2010/main" val="23141272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788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5/27/2026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‹Nr.›</a:t>
            </a:fld>
            <a:endParaRPr lang="en-US" dirty="0"/>
          </a:p>
        </p:txBody>
      </p:sp>
    </p:spTree>
    <p:extLst>
      <p:ext uri="{BB962C8B-B14F-4D97-AF65-F5344CB8AC3E}">
        <p14:creationId xmlns:p14="http://schemas.microsoft.com/office/powerpoint/2010/main" val="105084460"/>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www.digitalmusicnews.com/2021/10/29/how-to-record-music-at-home/" TargetMode="External"/><Relationship Id="rId2" Type="http://schemas.openxmlformats.org/officeDocument/2006/relationships/hyperlink" Target="https://www.magnific.com/premium-photo/young-girl-student-smiling-against-university_5670223.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6"/>
        </a:solidFill>
        <a:effectLst/>
      </p:bgPr>
    </p:bg>
    <p:spTree>
      <p:nvGrpSpPr>
        <p:cNvPr id="1" name=""/>
        <p:cNvGrpSpPr/>
        <p:nvPr/>
      </p:nvGrpSpPr>
      <p:grpSpPr>
        <a:xfrm>
          <a:off x="0" y="0"/>
          <a:ext cx="0" cy="0"/>
          <a:chOff x="0" y="0"/>
          <a:chExt cx="0" cy="0"/>
        </a:xfrm>
      </p:grpSpPr>
      <p:sp>
        <p:nvSpPr>
          <p:cNvPr id="2" name="Shape 0"/>
          <p:cNvSpPr/>
          <p:nvPr/>
        </p:nvSpPr>
        <p:spPr>
          <a:xfrm>
            <a:off x="-1371600" y="-914400"/>
            <a:ext cx="4572000" cy="3657600"/>
          </a:xfrm>
          <a:prstGeom prst="ellipse">
            <a:avLst/>
          </a:prstGeom>
          <a:solidFill>
            <a:srgbClr val="1DB954">
              <a:alpha val="10000"/>
            </a:srgbClr>
          </a:solidFill>
          <a:ln w="12700">
            <a:solidFill>
              <a:srgbClr val="1DB954"/>
            </a:solidFill>
            <a:prstDash val="solid"/>
          </a:ln>
        </p:spPr>
        <p:txBody>
          <a:bodyPr/>
          <a:lstStyle/>
          <a:p>
            <a:endParaRPr lang="de-CH"/>
          </a:p>
        </p:txBody>
      </p:sp>
      <p:sp>
        <p:nvSpPr>
          <p:cNvPr id="3" name="Shape 1"/>
          <p:cNvSpPr/>
          <p:nvPr/>
        </p:nvSpPr>
        <p:spPr>
          <a:xfrm>
            <a:off x="6858000" y="-1097280"/>
            <a:ext cx="4114800" cy="3657600"/>
          </a:xfrm>
          <a:prstGeom prst="ellipse">
            <a:avLst/>
          </a:prstGeom>
          <a:solidFill>
            <a:srgbClr val="9B5DE5">
              <a:alpha val="10000"/>
            </a:srgbClr>
          </a:solidFill>
          <a:ln w="12700">
            <a:solidFill>
              <a:srgbClr val="9B5DE5"/>
            </a:solidFill>
            <a:prstDash val="solid"/>
          </a:ln>
        </p:spPr>
        <p:txBody>
          <a:bodyPr/>
          <a:lstStyle/>
          <a:p>
            <a:endParaRPr lang="de-CH"/>
          </a:p>
        </p:txBody>
      </p:sp>
      <p:sp>
        <p:nvSpPr>
          <p:cNvPr id="7" name="Shape 5"/>
          <p:cNvSpPr/>
          <p:nvPr/>
        </p:nvSpPr>
        <p:spPr>
          <a:xfrm>
            <a:off x="3747734" y="1467612"/>
            <a:ext cx="246888" cy="246888"/>
          </a:xfrm>
          <a:prstGeom prst="ellipse">
            <a:avLst/>
          </a:prstGeom>
          <a:solidFill>
            <a:srgbClr val="1ED760"/>
          </a:solidFill>
          <a:ln w="12700">
            <a:solidFill>
              <a:srgbClr val="1ED760"/>
            </a:solidFill>
            <a:prstDash val="solid"/>
          </a:ln>
        </p:spPr>
        <p:txBody>
          <a:bodyPr/>
          <a:lstStyle/>
          <a:p>
            <a:endParaRPr lang="de-CH"/>
          </a:p>
        </p:txBody>
      </p:sp>
      <p:sp>
        <p:nvSpPr>
          <p:cNvPr id="8" name="Text 6"/>
          <p:cNvSpPr/>
          <p:nvPr/>
        </p:nvSpPr>
        <p:spPr>
          <a:xfrm>
            <a:off x="3747734" y="1467612"/>
            <a:ext cx="246888" cy="246888"/>
          </a:xfrm>
          <a:prstGeom prst="rect">
            <a:avLst/>
          </a:prstGeom>
          <a:noFill/>
          <a:ln/>
        </p:spPr>
        <p:txBody>
          <a:bodyPr wrap="square" lIns="0" tIns="0" rIns="0" bIns="0" rtlCol="0" anchor="ctr"/>
          <a:lstStyle/>
          <a:p>
            <a:pPr marL="0" indent="0" algn="ctr">
              <a:buNone/>
            </a:pPr>
            <a:r>
              <a:rPr lang="en-US" sz="900" dirty="0">
                <a:solidFill>
                  <a:srgbClr val="0E0E16"/>
                </a:solidFill>
              </a:rPr>
              <a:t>♪</a:t>
            </a:r>
            <a:endParaRPr lang="en-US" sz="900" dirty="0"/>
          </a:p>
        </p:txBody>
      </p:sp>
      <p:sp>
        <p:nvSpPr>
          <p:cNvPr id="9" name="Text 7"/>
          <p:cNvSpPr/>
          <p:nvPr/>
        </p:nvSpPr>
        <p:spPr>
          <a:xfrm>
            <a:off x="3994622" y="1449324"/>
            <a:ext cx="1574074" cy="283464"/>
          </a:xfrm>
          <a:prstGeom prst="rect">
            <a:avLst/>
          </a:prstGeom>
          <a:noFill/>
          <a:ln/>
        </p:spPr>
        <p:txBody>
          <a:bodyPr wrap="square" rtlCol="0" anchor="ctr"/>
          <a:lstStyle/>
          <a:p>
            <a:pPr marL="0" indent="0">
              <a:buNone/>
            </a:pPr>
            <a:r>
              <a:rPr lang="en-US" sz="1350" b="1" dirty="0">
                <a:solidFill>
                  <a:srgbClr val="1ED760"/>
                </a:solidFill>
                <a:latin typeface="Calibri" pitchFamily="34" charset="0"/>
                <a:ea typeface="Calibri" pitchFamily="34" charset="-122"/>
                <a:cs typeface="Calibri" pitchFamily="34" charset="-120"/>
              </a:rPr>
              <a:t>Spotify Data Story</a:t>
            </a:r>
            <a:endParaRPr lang="en-US" sz="1350" dirty="0"/>
          </a:p>
        </p:txBody>
      </p:sp>
      <p:sp>
        <p:nvSpPr>
          <p:cNvPr id="10" name="Text 8"/>
          <p:cNvSpPr/>
          <p:nvPr/>
        </p:nvSpPr>
        <p:spPr>
          <a:xfrm>
            <a:off x="868680" y="1787652"/>
            <a:ext cx="7315200" cy="530352"/>
          </a:xfrm>
          <a:prstGeom prst="rect">
            <a:avLst/>
          </a:prstGeom>
          <a:noFill/>
          <a:ln/>
        </p:spPr>
        <p:txBody>
          <a:bodyPr wrap="square" rtlCol="0" anchor="ctr"/>
          <a:lstStyle/>
          <a:p>
            <a:pPr marL="0" indent="0" algn="ctr">
              <a:buNone/>
            </a:pPr>
            <a:r>
              <a:rPr lang="en-US" sz="3100" b="1" dirty="0">
                <a:solidFill>
                  <a:srgbClr val="F4F4F8"/>
                </a:solidFill>
                <a:latin typeface="Calibri" pitchFamily="34" charset="0"/>
                <a:ea typeface="Calibri" pitchFamily="34" charset="-122"/>
                <a:cs typeface="Calibri" pitchFamily="34" charset="-120"/>
              </a:rPr>
              <a:t>Why do some songs </a:t>
            </a:r>
            <a:r>
              <a:rPr lang="en-US" sz="3100" b="1" dirty="0">
                <a:solidFill>
                  <a:srgbClr val="1ED760"/>
                </a:solidFill>
                <a:latin typeface="Calibri" pitchFamily="34" charset="0"/>
                <a:ea typeface="Calibri" pitchFamily="34" charset="-122"/>
                <a:cs typeface="Calibri" pitchFamily="34" charset="-120"/>
              </a:rPr>
              <a:t>blow up</a:t>
            </a:r>
            <a:r>
              <a:rPr lang="en-US" sz="3100" b="1" dirty="0">
                <a:solidFill>
                  <a:srgbClr val="F4F4F8"/>
                </a:solidFill>
                <a:latin typeface="Calibri" pitchFamily="34" charset="0"/>
                <a:ea typeface="Calibri" pitchFamily="34" charset="-122"/>
                <a:cs typeface="Calibri" pitchFamily="34" charset="-120"/>
              </a:rPr>
              <a:t> on Spotify,</a:t>
            </a:r>
            <a:endParaRPr lang="en-US" sz="3100" dirty="0"/>
          </a:p>
        </p:txBody>
      </p:sp>
      <p:sp>
        <p:nvSpPr>
          <p:cNvPr id="11" name="Text 9"/>
          <p:cNvSpPr/>
          <p:nvPr/>
        </p:nvSpPr>
        <p:spPr>
          <a:xfrm>
            <a:off x="868680" y="2336292"/>
            <a:ext cx="7315200" cy="530352"/>
          </a:xfrm>
          <a:prstGeom prst="rect">
            <a:avLst/>
          </a:prstGeom>
          <a:noFill/>
          <a:ln/>
        </p:spPr>
        <p:txBody>
          <a:bodyPr wrap="square" rtlCol="0" anchor="ctr"/>
          <a:lstStyle/>
          <a:p>
            <a:pPr marL="0" indent="0" algn="ctr">
              <a:buNone/>
            </a:pPr>
            <a:r>
              <a:rPr lang="en-US" sz="3100" b="1" dirty="0">
                <a:solidFill>
                  <a:srgbClr val="F4F4F8"/>
                </a:solidFill>
                <a:latin typeface="Calibri" pitchFamily="34" charset="0"/>
                <a:ea typeface="Calibri" pitchFamily="34" charset="-122"/>
                <a:cs typeface="Calibri" pitchFamily="34" charset="-120"/>
              </a:rPr>
              <a:t>while most tracks are </a:t>
            </a:r>
            <a:r>
              <a:rPr lang="en-US" sz="3100" b="1" dirty="0">
                <a:solidFill>
                  <a:srgbClr val="9B5DE5"/>
                </a:solidFill>
                <a:latin typeface="Calibri" pitchFamily="34" charset="0"/>
                <a:ea typeface="Calibri" pitchFamily="34" charset="-122"/>
                <a:cs typeface="Calibri" pitchFamily="34" charset="-120"/>
              </a:rPr>
              <a:t>never heard</a:t>
            </a:r>
            <a:r>
              <a:rPr lang="en-US" sz="3100" b="1" dirty="0">
                <a:solidFill>
                  <a:srgbClr val="F4F4F8"/>
                </a:solidFill>
                <a:latin typeface="Calibri" pitchFamily="34" charset="0"/>
                <a:ea typeface="Calibri" pitchFamily="34" charset="-122"/>
                <a:cs typeface="Calibri" pitchFamily="34" charset="-120"/>
              </a:rPr>
              <a:t>?</a:t>
            </a:r>
            <a:endParaRPr lang="en-US" sz="3100" dirty="0"/>
          </a:p>
        </p:txBody>
      </p:sp>
      <p:sp>
        <p:nvSpPr>
          <p:cNvPr id="13" name="Shape 11"/>
          <p:cNvSpPr/>
          <p:nvPr/>
        </p:nvSpPr>
        <p:spPr>
          <a:xfrm>
            <a:off x="1810512" y="3515868"/>
            <a:ext cx="1737360" cy="640080"/>
          </a:xfrm>
          <a:prstGeom prst="rect">
            <a:avLst/>
          </a:prstGeom>
          <a:solidFill>
            <a:srgbClr val="1A1A26"/>
          </a:solidFill>
          <a:ln w="9525">
            <a:solidFill>
              <a:srgbClr val="2C5C3A"/>
            </a:solidFill>
            <a:prstDash val="solid"/>
          </a:ln>
        </p:spPr>
        <p:txBody>
          <a:bodyPr/>
          <a:lstStyle/>
          <a:p>
            <a:endParaRPr lang="de-CH"/>
          </a:p>
        </p:txBody>
      </p:sp>
      <p:sp>
        <p:nvSpPr>
          <p:cNvPr id="14" name="Text 12"/>
          <p:cNvSpPr/>
          <p:nvPr/>
        </p:nvSpPr>
        <p:spPr>
          <a:xfrm>
            <a:off x="1810512" y="3552444"/>
            <a:ext cx="1737360" cy="338328"/>
          </a:xfrm>
          <a:prstGeom prst="rect">
            <a:avLst/>
          </a:prstGeom>
          <a:noFill/>
          <a:ln/>
        </p:spPr>
        <p:txBody>
          <a:bodyPr wrap="square" rtlCol="0" anchor="ctr"/>
          <a:lstStyle/>
          <a:p>
            <a:pPr marL="0" indent="0" algn="ctr">
              <a:buNone/>
            </a:pPr>
            <a:r>
              <a:rPr lang="en-US" sz="1800" b="1" dirty="0">
                <a:solidFill>
                  <a:srgbClr val="1ED760"/>
                </a:solidFill>
                <a:latin typeface="Calibri" pitchFamily="34" charset="0"/>
                <a:ea typeface="Calibri" pitchFamily="34" charset="-122"/>
                <a:cs typeface="Calibri" pitchFamily="34" charset="-120"/>
              </a:rPr>
              <a:t>89,741</a:t>
            </a:r>
            <a:endParaRPr lang="en-US" sz="1800" dirty="0"/>
          </a:p>
        </p:txBody>
      </p:sp>
      <p:sp>
        <p:nvSpPr>
          <p:cNvPr id="15" name="Text 13"/>
          <p:cNvSpPr/>
          <p:nvPr/>
        </p:nvSpPr>
        <p:spPr>
          <a:xfrm>
            <a:off x="1810512" y="3899916"/>
            <a:ext cx="1737360" cy="210312"/>
          </a:xfrm>
          <a:prstGeom prst="rect">
            <a:avLst/>
          </a:prstGeom>
          <a:noFill/>
          <a:ln/>
        </p:spPr>
        <p:txBody>
          <a:bodyPr wrap="square" rtlCol="0" anchor="ctr"/>
          <a:lstStyle/>
          <a:p>
            <a:pPr marL="0" indent="0" algn="ctr">
              <a:buNone/>
            </a:pPr>
            <a:r>
              <a:rPr lang="en-US" sz="700" b="1" kern="0" spc="150" dirty="0">
                <a:solidFill>
                  <a:srgbClr val="9CA3B8"/>
                </a:solidFill>
                <a:latin typeface="Calibri" pitchFamily="34" charset="0"/>
                <a:ea typeface="Calibri" pitchFamily="34" charset="-122"/>
                <a:cs typeface="Calibri" pitchFamily="34" charset="-120"/>
              </a:rPr>
              <a:t>TRACKS</a:t>
            </a:r>
            <a:endParaRPr lang="en-US" sz="700" dirty="0"/>
          </a:p>
        </p:txBody>
      </p:sp>
      <p:sp>
        <p:nvSpPr>
          <p:cNvPr id="16" name="Shape 14"/>
          <p:cNvSpPr/>
          <p:nvPr/>
        </p:nvSpPr>
        <p:spPr>
          <a:xfrm>
            <a:off x="3657600" y="3515868"/>
            <a:ext cx="1737360" cy="640080"/>
          </a:xfrm>
          <a:prstGeom prst="rect">
            <a:avLst/>
          </a:prstGeom>
          <a:solidFill>
            <a:srgbClr val="1A1A26"/>
          </a:solidFill>
          <a:ln w="9525">
            <a:solidFill>
              <a:srgbClr val="2C5C3A"/>
            </a:solidFill>
            <a:prstDash val="solid"/>
          </a:ln>
        </p:spPr>
        <p:txBody>
          <a:bodyPr/>
          <a:lstStyle/>
          <a:p>
            <a:endParaRPr lang="de-CH"/>
          </a:p>
        </p:txBody>
      </p:sp>
      <p:sp>
        <p:nvSpPr>
          <p:cNvPr id="17" name="Text 15"/>
          <p:cNvSpPr/>
          <p:nvPr/>
        </p:nvSpPr>
        <p:spPr>
          <a:xfrm>
            <a:off x="3657600" y="3552444"/>
            <a:ext cx="1737360" cy="338328"/>
          </a:xfrm>
          <a:prstGeom prst="rect">
            <a:avLst/>
          </a:prstGeom>
          <a:noFill/>
          <a:ln/>
        </p:spPr>
        <p:txBody>
          <a:bodyPr wrap="square" rtlCol="0" anchor="ctr"/>
          <a:lstStyle/>
          <a:p>
            <a:pPr marL="0" indent="0" algn="ctr">
              <a:buNone/>
            </a:pPr>
            <a:r>
              <a:rPr lang="en-US" sz="1800" b="1" dirty="0">
                <a:solidFill>
                  <a:srgbClr val="1ED760"/>
                </a:solidFill>
                <a:latin typeface="Calibri" pitchFamily="34" charset="0"/>
                <a:ea typeface="Calibri" pitchFamily="34" charset="-122"/>
                <a:cs typeface="Calibri" pitchFamily="34" charset="-120"/>
              </a:rPr>
              <a:t>113</a:t>
            </a:r>
            <a:endParaRPr lang="en-US" sz="1800" dirty="0"/>
          </a:p>
        </p:txBody>
      </p:sp>
      <p:sp>
        <p:nvSpPr>
          <p:cNvPr id="18" name="Text 16"/>
          <p:cNvSpPr/>
          <p:nvPr/>
        </p:nvSpPr>
        <p:spPr>
          <a:xfrm>
            <a:off x="3657600" y="3899916"/>
            <a:ext cx="1737360" cy="210312"/>
          </a:xfrm>
          <a:prstGeom prst="rect">
            <a:avLst/>
          </a:prstGeom>
          <a:noFill/>
          <a:ln/>
        </p:spPr>
        <p:txBody>
          <a:bodyPr wrap="square" rtlCol="0" anchor="ctr"/>
          <a:lstStyle/>
          <a:p>
            <a:pPr marL="0" indent="0" algn="ctr">
              <a:buNone/>
            </a:pPr>
            <a:r>
              <a:rPr lang="en-US" sz="700" b="1" kern="0" spc="150" dirty="0">
                <a:solidFill>
                  <a:srgbClr val="9CA3B8"/>
                </a:solidFill>
                <a:latin typeface="Calibri" pitchFamily="34" charset="0"/>
                <a:ea typeface="Calibri" pitchFamily="34" charset="-122"/>
                <a:cs typeface="Calibri" pitchFamily="34" charset="-120"/>
              </a:rPr>
              <a:t>GENRES</a:t>
            </a:r>
            <a:endParaRPr lang="en-US" sz="700" dirty="0"/>
          </a:p>
        </p:txBody>
      </p:sp>
      <p:sp>
        <p:nvSpPr>
          <p:cNvPr id="19" name="Shape 17"/>
          <p:cNvSpPr/>
          <p:nvPr/>
        </p:nvSpPr>
        <p:spPr>
          <a:xfrm>
            <a:off x="5504688" y="3515868"/>
            <a:ext cx="1737360" cy="640080"/>
          </a:xfrm>
          <a:prstGeom prst="rect">
            <a:avLst/>
          </a:prstGeom>
          <a:solidFill>
            <a:srgbClr val="1A1A26"/>
          </a:solidFill>
          <a:ln w="9525">
            <a:solidFill>
              <a:srgbClr val="2C5C3A"/>
            </a:solidFill>
            <a:prstDash val="solid"/>
          </a:ln>
        </p:spPr>
        <p:txBody>
          <a:bodyPr/>
          <a:lstStyle/>
          <a:p>
            <a:endParaRPr lang="de-CH"/>
          </a:p>
        </p:txBody>
      </p:sp>
      <p:sp>
        <p:nvSpPr>
          <p:cNvPr id="20" name="Text 18"/>
          <p:cNvSpPr/>
          <p:nvPr/>
        </p:nvSpPr>
        <p:spPr>
          <a:xfrm>
            <a:off x="5504688" y="3552444"/>
            <a:ext cx="1737360" cy="338328"/>
          </a:xfrm>
          <a:prstGeom prst="rect">
            <a:avLst/>
          </a:prstGeom>
          <a:noFill/>
          <a:ln/>
        </p:spPr>
        <p:txBody>
          <a:bodyPr wrap="square" rtlCol="0" anchor="ctr"/>
          <a:lstStyle/>
          <a:p>
            <a:pPr marL="0" indent="0" algn="ctr">
              <a:buNone/>
            </a:pPr>
            <a:r>
              <a:rPr lang="en-US" sz="1800" b="1" dirty="0">
                <a:solidFill>
                  <a:srgbClr val="1ED760"/>
                </a:solidFill>
                <a:latin typeface="Calibri" pitchFamily="34" charset="0"/>
                <a:ea typeface="Calibri" pitchFamily="34" charset="-122"/>
                <a:cs typeface="Calibri" pitchFamily="34" charset="-120"/>
              </a:rPr>
              <a:t>6</a:t>
            </a:r>
            <a:endParaRPr lang="en-US" sz="1800" dirty="0"/>
          </a:p>
        </p:txBody>
      </p:sp>
      <p:sp>
        <p:nvSpPr>
          <p:cNvPr id="21" name="Text 19"/>
          <p:cNvSpPr/>
          <p:nvPr/>
        </p:nvSpPr>
        <p:spPr>
          <a:xfrm>
            <a:off x="5504688" y="3899916"/>
            <a:ext cx="1737360" cy="210312"/>
          </a:xfrm>
          <a:prstGeom prst="rect">
            <a:avLst/>
          </a:prstGeom>
          <a:noFill/>
          <a:ln/>
        </p:spPr>
        <p:txBody>
          <a:bodyPr wrap="square" rtlCol="0" anchor="ctr"/>
          <a:lstStyle/>
          <a:p>
            <a:pPr marL="0" indent="0" algn="ctr">
              <a:buNone/>
            </a:pPr>
            <a:r>
              <a:rPr lang="en-US" sz="700" b="1" kern="0" spc="150" dirty="0">
                <a:solidFill>
                  <a:srgbClr val="9CA3B8"/>
                </a:solidFill>
                <a:latin typeface="Calibri" pitchFamily="34" charset="0"/>
                <a:ea typeface="Calibri" pitchFamily="34" charset="-122"/>
                <a:cs typeface="Calibri" pitchFamily="34" charset="-120"/>
              </a:rPr>
              <a:t>INTERACTIVE SECTIONS</a:t>
            </a:r>
            <a:endParaRPr lang="en-US" sz="700" dirty="0"/>
          </a:p>
        </p:txBody>
      </p:sp>
      <p:sp>
        <p:nvSpPr>
          <p:cNvPr id="22" name="Shape 20"/>
          <p:cNvSpPr/>
          <p:nvPr/>
        </p:nvSpPr>
        <p:spPr>
          <a:xfrm>
            <a:off x="1051560" y="4283964"/>
            <a:ext cx="6949440" cy="0"/>
          </a:xfrm>
          <a:prstGeom prst="line">
            <a:avLst/>
          </a:prstGeom>
          <a:noFill/>
          <a:ln w="9525">
            <a:solidFill>
              <a:srgbClr val="2E2E42"/>
            </a:solidFill>
            <a:prstDash val="solid"/>
          </a:ln>
        </p:spPr>
        <p:txBody>
          <a:bodyPr/>
          <a:lstStyle/>
          <a:p>
            <a:endParaRPr lang="de-CH"/>
          </a:p>
        </p:txBody>
      </p:sp>
      <p:sp>
        <p:nvSpPr>
          <p:cNvPr id="23" name="Text 21"/>
          <p:cNvSpPr/>
          <p:nvPr/>
        </p:nvSpPr>
        <p:spPr>
          <a:xfrm>
            <a:off x="1051560" y="4375404"/>
            <a:ext cx="6949440" cy="256032"/>
          </a:xfrm>
          <a:prstGeom prst="rect">
            <a:avLst/>
          </a:prstGeom>
          <a:noFill/>
          <a:ln/>
        </p:spPr>
        <p:txBody>
          <a:bodyPr wrap="square" rtlCol="0" anchor="ctr"/>
          <a:lstStyle/>
          <a:p>
            <a:pPr marL="0" indent="0" algn="ctr">
              <a:buNone/>
            </a:pPr>
            <a:r>
              <a:rPr lang="en-US" sz="1100" b="1" dirty="0">
                <a:solidFill>
                  <a:srgbClr val="F4F4F8"/>
                </a:solidFill>
                <a:latin typeface="Calibri" pitchFamily="34" charset="0"/>
                <a:ea typeface="Calibri" pitchFamily="34" charset="-122"/>
                <a:cs typeface="Calibri" pitchFamily="34" charset="-120"/>
              </a:rPr>
              <a:t>Cécile Sulzer, Charlotte </a:t>
            </a:r>
            <a:r>
              <a:rPr lang="en-US" sz="1100" b="1" dirty="0" err="1">
                <a:solidFill>
                  <a:srgbClr val="F4F4F8"/>
                </a:solidFill>
                <a:latin typeface="Calibri" pitchFamily="34" charset="0"/>
                <a:ea typeface="Calibri" pitchFamily="34" charset="-122"/>
                <a:cs typeface="Calibri" pitchFamily="34" charset="-120"/>
              </a:rPr>
              <a:t>Windlin</a:t>
            </a:r>
            <a:r>
              <a:rPr lang="en-US" sz="1100" b="1" dirty="0">
                <a:solidFill>
                  <a:srgbClr val="F4F4F8"/>
                </a:solidFill>
                <a:latin typeface="Calibri" pitchFamily="34" charset="0"/>
                <a:ea typeface="Calibri" pitchFamily="34" charset="-122"/>
                <a:cs typeface="Calibri" pitchFamily="34" charset="-120"/>
              </a:rPr>
              <a:t>, Angelina Zambroni</a:t>
            </a:r>
            <a:endParaRPr lang="en-US" sz="1100" dirty="0"/>
          </a:p>
        </p:txBody>
      </p:sp>
      <p:sp>
        <p:nvSpPr>
          <p:cNvPr id="24" name="Text 22"/>
          <p:cNvSpPr/>
          <p:nvPr/>
        </p:nvSpPr>
        <p:spPr>
          <a:xfrm>
            <a:off x="1051560" y="4649724"/>
            <a:ext cx="6949440" cy="219456"/>
          </a:xfrm>
          <a:prstGeom prst="rect">
            <a:avLst/>
          </a:prstGeom>
          <a:noFill/>
          <a:ln/>
        </p:spPr>
        <p:txBody>
          <a:bodyPr wrap="square" rtlCol="0" anchor="ctr"/>
          <a:lstStyle/>
          <a:p>
            <a:pPr marL="0" indent="0" algn="ctr">
              <a:buNone/>
            </a:pPr>
            <a:r>
              <a:rPr lang="en-US" sz="950" dirty="0">
                <a:solidFill>
                  <a:srgbClr val="9CA3B8"/>
                </a:solidFill>
                <a:latin typeface="Calibri" pitchFamily="34" charset="0"/>
                <a:ea typeface="Calibri" pitchFamily="34" charset="-122"/>
                <a:cs typeface="Calibri" pitchFamily="34" charset="-120"/>
              </a:rPr>
              <a:t>8 June 2026, Project Oriented Digital Storytelling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6"/>
        </a:solidFill>
        <a:effectLst/>
      </p:bgPr>
    </p:bg>
    <p:spTree>
      <p:nvGrpSpPr>
        <p:cNvPr id="1" name=""/>
        <p:cNvGrpSpPr/>
        <p:nvPr/>
      </p:nvGrpSpPr>
      <p:grpSpPr>
        <a:xfrm>
          <a:off x="0" y="0"/>
          <a:ext cx="0" cy="0"/>
          <a:chOff x="0" y="0"/>
          <a:chExt cx="0" cy="0"/>
        </a:xfrm>
      </p:grpSpPr>
      <p:sp>
        <p:nvSpPr>
          <p:cNvPr id="2" name="Shape 0"/>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3" name="Text 1"/>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01</a:t>
            </a:r>
            <a:endParaRPr lang="en-US" sz="950" dirty="0"/>
          </a:p>
        </p:txBody>
      </p:sp>
      <p:sp>
        <p:nvSpPr>
          <p:cNvPr id="4" name="Text 2"/>
          <p:cNvSpPr/>
          <p:nvPr/>
        </p:nvSpPr>
        <p:spPr>
          <a:xfrm>
            <a:off x="1005840" y="519081"/>
            <a:ext cx="2369997" cy="365760"/>
          </a:xfrm>
          <a:prstGeom prst="rect">
            <a:avLst/>
          </a:prstGeom>
          <a:noFill/>
          <a:ln/>
        </p:spPr>
        <p:txBody>
          <a:bodyPr wrap="square" lIns="0" tIns="0" rIns="0" bIns="0" rtlCol="0" anchor="ctr"/>
          <a:lstStyle/>
          <a:p>
            <a:pPr marL="0" indent="0">
              <a:buNone/>
            </a:pPr>
            <a:r>
              <a:rPr lang="en-US" sz="2100" b="1" dirty="0">
                <a:solidFill>
                  <a:srgbClr val="F4F4F8"/>
                </a:solidFill>
                <a:latin typeface="Calibri" pitchFamily="34" charset="0"/>
                <a:ea typeface="Calibri" pitchFamily="34" charset="-122"/>
                <a:cs typeface="Calibri" pitchFamily="34" charset="-120"/>
              </a:rPr>
              <a:t>Topic &amp; main goal</a:t>
            </a:r>
            <a:endParaRPr lang="en-US" sz="2100" dirty="0"/>
          </a:p>
        </p:txBody>
      </p:sp>
      <p:sp>
        <p:nvSpPr>
          <p:cNvPr id="5" name="Text 3"/>
          <p:cNvSpPr/>
          <p:nvPr/>
        </p:nvSpPr>
        <p:spPr>
          <a:xfrm>
            <a:off x="520548" y="968686"/>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6" name="Text 4"/>
          <p:cNvSpPr/>
          <p:nvPr/>
        </p:nvSpPr>
        <p:spPr>
          <a:xfrm>
            <a:off x="820843" y="942308"/>
            <a:ext cx="8248951" cy="1160651"/>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Explore the relationship between measurable audio features and track popularity</a:t>
            </a:r>
            <a:endParaRPr lang="en-US" dirty="0"/>
          </a:p>
        </p:txBody>
      </p:sp>
      <p:sp>
        <p:nvSpPr>
          <p:cNvPr id="8" name="Text 6"/>
          <p:cNvSpPr/>
          <p:nvPr/>
        </p:nvSpPr>
        <p:spPr>
          <a:xfrm>
            <a:off x="528635" y="1841886"/>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9" name="Text 7"/>
          <p:cNvSpPr/>
          <p:nvPr/>
        </p:nvSpPr>
        <p:spPr>
          <a:xfrm>
            <a:off x="804669" y="1815508"/>
            <a:ext cx="8248951" cy="1160651"/>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Compare how audio profiles differ across music genres</a:t>
            </a:r>
            <a:endParaRPr lang="en-US" dirty="0"/>
          </a:p>
        </p:txBody>
      </p:sp>
      <p:sp>
        <p:nvSpPr>
          <p:cNvPr id="11" name="Text 9"/>
          <p:cNvSpPr/>
          <p:nvPr/>
        </p:nvSpPr>
        <p:spPr>
          <a:xfrm>
            <a:off x="525450" y="2700263"/>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12" name="Text 10"/>
          <p:cNvSpPr/>
          <p:nvPr/>
        </p:nvSpPr>
        <p:spPr>
          <a:xfrm>
            <a:off x="820843" y="2673885"/>
            <a:ext cx="8248951" cy="1160651"/>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Identify what a "popular" song sounds like, and how that varies by genre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AAC4C-5DF7-998A-F30E-EBB8C57413FC}"/>
            </a:ext>
          </a:extLst>
        </p:cNvPr>
        <p:cNvGrpSpPr/>
        <p:nvPr/>
      </p:nvGrpSpPr>
      <p:grpSpPr>
        <a:xfrm>
          <a:off x="0" y="0"/>
          <a:ext cx="0" cy="0"/>
          <a:chOff x="0" y="0"/>
          <a:chExt cx="0" cy="0"/>
        </a:xfrm>
      </p:grpSpPr>
      <p:sp>
        <p:nvSpPr>
          <p:cNvPr id="13" name="Shape 11">
            <a:extLst>
              <a:ext uri="{FF2B5EF4-FFF2-40B4-BE49-F238E27FC236}">
                <a16:creationId xmlns:a16="http://schemas.microsoft.com/office/drawing/2014/main" id="{8CC53AA3-3A02-BDF6-AD5A-9E0B31C0633A}"/>
              </a:ext>
            </a:extLst>
          </p:cNvPr>
          <p:cNvSpPr/>
          <p:nvPr/>
        </p:nvSpPr>
        <p:spPr>
          <a:xfrm>
            <a:off x="457200" y="1787334"/>
            <a:ext cx="8229600" cy="881438"/>
          </a:xfrm>
          <a:prstGeom prst="rect">
            <a:avLst/>
          </a:prstGeom>
          <a:solidFill>
            <a:srgbClr val="152B1C"/>
          </a:solidFill>
          <a:ln w="9525">
            <a:solidFill>
              <a:srgbClr val="2A6B3C"/>
            </a:solidFill>
            <a:prstDash val="solid"/>
          </a:ln>
        </p:spPr>
        <p:txBody>
          <a:bodyPr/>
          <a:lstStyle/>
          <a:p>
            <a:endParaRPr lang="de-CH"/>
          </a:p>
        </p:txBody>
      </p:sp>
      <p:sp>
        <p:nvSpPr>
          <p:cNvPr id="14" name="Text 12">
            <a:extLst>
              <a:ext uri="{FF2B5EF4-FFF2-40B4-BE49-F238E27FC236}">
                <a16:creationId xmlns:a16="http://schemas.microsoft.com/office/drawing/2014/main" id="{BB3E4377-ACE8-F570-C395-476AD0DD2D03}"/>
              </a:ext>
            </a:extLst>
          </p:cNvPr>
          <p:cNvSpPr/>
          <p:nvPr/>
        </p:nvSpPr>
        <p:spPr>
          <a:xfrm>
            <a:off x="384048" y="1787121"/>
            <a:ext cx="8229600" cy="881651"/>
          </a:xfrm>
          <a:prstGeom prst="rect">
            <a:avLst/>
          </a:prstGeom>
          <a:noFill/>
          <a:ln/>
        </p:spPr>
        <p:txBody>
          <a:bodyPr wrap="square" lIns="0" tIns="0" rIns="0" bIns="0" rtlCol="0" anchor="ctr"/>
          <a:lstStyle/>
          <a:p>
            <a:pPr marL="0" indent="0" algn="ctr">
              <a:buNone/>
            </a:pPr>
            <a:r>
              <a:rPr lang="en-US" sz="2400" b="1" dirty="0">
                <a:solidFill>
                  <a:srgbClr val="1ED760"/>
                </a:solidFill>
                <a:latin typeface="Calibri" pitchFamily="34" charset="0"/>
                <a:ea typeface="Calibri" pitchFamily="34" charset="-122"/>
                <a:cs typeface="Calibri" pitchFamily="34" charset="-120"/>
              </a:rPr>
              <a:t>Central question: </a:t>
            </a:r>
            <a:r>
              <a:rPr lang="en-US" sz="2400" dirty="0">
                <a:solidFill>
                  <a:srgbClr val="F4F4F8"/>
                </a:solidFill>
                <a:latin typeface="Calibri" pitchFamily="34" charset="0"/>
                <a:ea typeface="Calibri" pitchFamily="34" charset="-122"/>
                <a:cs typeface="Calibri" pitchFamily="34" charset="-120"/>
              </a:rPr>
              <a:t>What makes a Spotify track popular?</a:t>
            </a:r>
            <a:endParaRPr lang="en-US" sz="2400" dirty="0"/>
          </a:p>
        </p:txBody>
      </p:sp>
      <p:sp>
        <p:nvSpPr>
          <p:cNvPr id="15" name="Shape 13">
            <a:extLst>
              <a:ext uri="{FF2B5EF4-FFF2-40B4-BE49-F238E27FC236}">
                <a16:creationId xmlns:a16="http://schemas.microsoft.com/office/drawing/2014/main" id="{C8ED89E7-D3C7-EB78-2C3F-08DE9F607364}"/>
              </a:ext>
            </a:extLst>
          </p:cNvPr>
          <p:cNvSpPr/>
          <p:nvPr/>
        </p:nvSpPr>
        <p:spPr>
          <a:xfrm>
            <a:off x="457200" y="3149790"/>
            <a:ext cx="64008" cy="804672"/>
          </a:xfrm>
          <a:prstGeom prst="rect">
            <a:avLst/>
          </a:prstGeom>
          <a:solidFill>
            <a:srgbClr val="1DB954"/>
          </a:solidFill>
          <a:ln w="12700">
            <a:solidFill>
              <a:srgbClr val="1DB954"/>
            </a:solidFill>
            <a:prstDash val="solid"/>
          </a:ln>
        </p:spPr>
        <p:txBody>
          <a:bodyPr/>
          <a:lstStyle/>
          <a:p>
            <a:endParaRPr lang="de-CH"/>
          </a:p>
        </p:txBody>
      </p:sp>
      <p:sp>
        <p:nvSpPr>
          <p:cNvPr id="16" name="Shape 14">
            <a:extLst>
              <a:ext uri="{FF2B5EF4-FFF2-40B4-BE49-F238E27FC236}">
                <a16:creationId xmlns:a16="http://schemas.microsoft.com/office/drawing/2014/main" id="{B75CBF7C-BDF9-FD13-B579-8F974FC87C7C}"/>
              </a:ext>
            </a:extLst>
          </p:cNvPr>
          <p:cNvSpPr/>
          <p:nvPr/>
        </p:nvSpPr>
        <p:spPr>
          <a:xfrm>
            <a:off x="521208" y="3149790"/>
            <a:ext cx="8165592" cy="804672"/>
          </a:xfrm>
          <a:prstGeom prst="rect">
            <a:avLst/>
          </a:prstGeom>
          <a:solidFill>
            <a:srgbClr val="161E18"/>
          </a:solidFill>
          <a:ln w="12700">
            <a:solidFill>
              <a:srgbClr val="161E18"/>
            </a:solidFill>
            <a:prstDash val="solid"/>
          </a:ln>
        </p:spPr>
        <p:txBody>
          <a:bodyPr/>
          <a:lstStyle/>
          <a:p>
            <a:endParaRPr lang="de-CH"/>
          </a:p>
        </p:txBody>
      </p:sp>
      <p:sp>
        <p:nvSpPr>
          <p:cNvPr id="17" name="Text 15">
            <a:extLst>
              <a:ext uri="{FF2B5EF4-FFF2-40B4-BE49-F238E27FC236}">
                <a16:creationId xmlns:a16="http://schemas.microsoft.com/office/drawing/2014/main" id="{66A22FFF-FCBC-1E28-F6F8-A9BBA957C701}"/>
              </a:ext>
            </a:extLst>
          </p:cNvPr>
          <p:cNvSpPr/>
          <p:nvPr/>
        </p:nvSpPr>
        <p:spPr>
          <a:xfrm>
            <a:off x="658368" y="3149790"/>
            <a:ext cx="7955280" cy="804672"/>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Main goal: </a:t>
            </a:r>
            <a:r>
              <a:rPr lang="en-US" dirty="0">
                <a:solidFill>
                  <a:srgbClr val="F4F4F8"/>
                </a:solidFill>
                <a:latin typeface="Calibri" pitchFamily="34" charset="0"/>
                <a:ea typeface="Calibri" pitchFamily="34" charset="-122"/>
                <a:cs typeface="Calibri" pitchFamily="34" charset="-120"/>
              </a:rPr>
              <a:t>Help music fans explore patterns in Spotify audio data</a:t>
            </a:r>
            <a:endParaRPr lang="en-US" dirty="0"/>
          </a:p>
        </p:txBody>
      </p:sp>
      <p:sp>
        <p:nvSpPr>
          <p:cNvPr id="18" name="Shape 0">
            <a:extLst>
              <a:ext uri="{FF2B5EF4-FFF2-40B4-BE49-F238E27FC236}">
                <a16:creationId xmlns:a16="http://schemas.microsoft.com/office/drawing/2014/main" id="{FCEC5E61-DEE2-D745-703A-8D63DADBD5AA}"/>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19" name="Text 1">
            <a:extLst>
              <a:ext uri="{FF2B5EF4-FFF2-40B4-BE49-F238E27FC236}">
                <a16:creationId xmlns:a16="http://schemas.microsoft.com/office/drawing/2014/main" id="{E491D4A2-3E59-71B9-98B3-179C8217B740}"/>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01</a:t>
            </a:r>
            <a:endParaRPr lang="en-US" sz="950" dirty="0"/>
          </a:p>
        </p:txBody>
      </p:sp>
      <p:sp>
        <p:nvSpPr>
          <p:cNvPr id="20" name="Text 2">
            <a:extLst>
              <a:ext uri="{FF2B5EF4-FFF2-40B4-BE49-F238E27FC236}">
                <a16:creationId xmlns:a16="http://schemas.microsoft.com/office/drawing/2014/main" id="{A47F57B3-B0B8-9064-8B78-BFA9CFAE5726}"/>
              </a:ext>
            </a:extLst>
          </p:cNvPr>
          <p:cNvSpPr/>
          <p:nvPr/>
        </p:nvSpPr>
        <p:spPr>
          <a:xfrm>
            <a:off x="1005840" y="519081"/>
            <a:ext cx="2369997" cy="365760"/>
          </a:xfrm>
          <a:prstGeom prst="rect">
            <a:avLst/>
          </a:prstGeom>
          <a:noFill/>
          <a:ln/>
        </p:spPr>
        <p:txBody>
          <a:bodyPr wrap="square" lIns="0" tIns="0" rIns="0" bIns="0" rtlCol="0" anchor="ctr"/>
          <a:lstStyle/>
          <a:p>
            <a:pPr marL="0" indent="0">
              <a:buNone/>
            </a:pPr>
            <a:r>
              <a:rPr lang="en-US" sz="2100" b="1" dirty="0">
                <a:solidFill>
                  <a:srgbClr val="F4F4F8"/>
                </a:solidFill>
                <a:latin typeface="Calibri" pitchFamily="34" charset="0"/>
                <a:ea typeface="Calibri" pitchFamily="34" charset="-122"/>
                <a:cs typeface="Calibri" pitchFamily="34" charset="-120"/>
              </a:rPr>
              <a:t>Topic &amp; main goal</a:t>
            </a:r>
            <a:endParaRPr lang="en-US" sz="2100" dirty="0"/>
          </a:p>
        </p:txBody>
      </p:sp>
    </p:spTree>
    <p:extLst>
      <p:ext uri="{BB962C8B-B14F-4D97-AF65-F5344CB8AC3E}">
        <p14:creationId xmlns:p14="http://schemas.microsoft.com/office/powerpoint/2010/main" val="114176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E0E16"/>
        </a:solidFill>
        <a:effectLst/>
      </p:bgPr>
    </p:bg>
    <p:spTree>
      <p:nvGrpSpPr>
        <p:cNvPr id="1" name=""/>
        <p:cNvGrpSpPr/>
        <p:nvPr/>
      </p:nvGrpSpPr>
      <p:grpSpPr>
        <a:xfrm>
          <a:off x="0" y="0"/>
          <a:ext cx="0" cy="0"/>
          <a:chOff x="0" y="0"/>
          <a:chExt cx="0" cy="0"/>
        </a:xfrm>
      </p:grpSpPr>
      <p:sp>
        <p:nvSpPr>
          <p:cNvPr id="5" name="Shape 3"/>
          <p:cNvSpPr/>
          <p:nvPr/>
        </p:nvSpPr>
        <p:spPr>
          <a:xfrm>
            <a:off x="457200" y="1474523"/>
            <a:ext cx="749808" cy="749808"/>
          </a:xfrm>
          <a:prstGeom prst="ellipse">
            <a:avLst/>
          </a:prstGeom>
          <a:solidFill>
            <a:srgbClr val="9B5DE5"/>
          </a:solidFill>
          <a:ln w="12700">
            <a:solidFill>
              <a:srgbClr val="9B5DE5"/>
            </a:solidFill>
            <a:prstDash val="solid"/>
          </a:ln>
        </p:spPr>
        <p:txBody>
          <a:bodyPr/>
          <a:lstStyle/>
          <a:p>
            <a:endParaRPr lang="de-CH"/>
          </a:p>
        </p:txBody>
      </p:sp>
      <p:sp>
        <p:nvSpPr>
          <p:cNvPr id="6" name="Text 4"/>
          <p:cNvSpPr/>
          <p:nvPr/>
        </p:nvSpPr>
        <p:spPr>
          <a:xfrm>
            <a:off x="457200" y="1474523"/>
            <a:ext cx="749808" cy="749808"/>
          </a:xfrm>
          <a:prstGeom prst="rect">
            <a:avLst/>
          </a:prstGeom>
          <a:noFill/>
          <a:ln/>
        </p:spPr>
        <p:txBody>
          <a:bodyPr wrap="square" lIns="0" tIns="0" rIns="0" bIns="0" rtlCol="0" anchor="ctr"/>
          <a:lstStyle/>
          <a:p>
            <a:pPr marL="0" indent="0" algn="ctr">
              <a:buNone/>
            </a:pPr>
            <a:r>
              <a:rPr lang="en-US" sz="2500" b="1" dirty="0">
                <a:solidFill>
                  <a:srgbClr val="FFFFFF"/>
                </a:solidFill>
                <a:latin typeface="Calibri" pitchFamily="34" charset="0"/>
                <a:ea typeface="Calibri" pitchFamily="34" charset="-122"/>
                <a:cs typeface="Calibri" pitchFamily="34" charset="-120"/>
              </a:rPr>
              <a:t>L</a:t>
            </a:r>
            <a:endParaRPr lang="en-US" sz="2500" dirty="0"/>
          </a:p>
        </p:txBody>
      </p:sp>
      <p:sp>
        <p:nvSpPr>
          <p:cNvPr id="7" name="Text 5"/>
          <p:cNvSpPr/>
          <p:nvPr/>
        </p:nvSpPr>
        <p:spPr>
          <a:xfrm>
            <a:off x="1335024" y="1492811"/>
            <a:ext cx="3200400" cy="310896"/>
          </a:xfrm>
          <a:prstGeom prst="rect">
            <a:avLst/>
          </a:prstGeom>
          <a:noFill/>
          <a:ln/>
        </p:spPr>
        <p:txBody>
          <a:bodyPr wrap="square" rtlCol="0" anchor="ctr"/>
          <a:lstStyle/>
          <a:p>
            <a:pPr marL="0" indent="0">
              <a:buNone/>
            </a:pPr>
            <a:r>
              <a:rPr lang="en-US" sz="2000" b="1" dirty="0">
                <a:solidFill>
                  <a:srgbClr val="F4F4F8"/>
                </a:solidFill>
                <a:latin typeface="Calibri" pitchFamily="34" charset="0"/>
                <a:ea typeface="Calibri" pitchFamily="34" charset="-122"/>
                <a:cs typeface="Calibri" pitchFamily="34" charset="-120"/>
              </a:rPr>
              <a:t>Lena Bachmann</a:t>
            </a:r>
            <a:endParaRPr lang="en-US" sz="2000" dirty="0"/>
          </a:p>
        </p:txBody>
      </p:sp>
      <p:sp>
        <p:nvSpPr>
          <p:cNvPr id="8" name="Text 6"/>
          <p:cNvSpPr/>
          <p:nvPr/>
        </p:nvSpPr>
        <p:spPr>
          <a:xfrm>
            <a:off x="1335024" y="1821995"/>
            <a:ext cx="3200400" cy="256032"/>
          </a:xfrm>
          <a:prstGeom prst="rect">
            <a:avLst/>
          </a:prstGeom>
          <a:noFill/>
          <a:ln/>
        </p:spPr>
        <p:txBody>
          <a:bodyPr wrap="square" rtlCol="0" anchor="ctr"/>
          <a:lstStyle/>
          <a:p>
            <a:pPr marL="0" indent="0">
              <a:buNone/>
            </a:pPr>
            <a:r>
              <a:rPr lang="en-US" sz="1200" dirty="0">
                <a:solidFill>
                  <a:srgbClr val="9CA3B8"/>
                </a:solidFill>
                <a:latin typeface="Calibri" pitchFamily="34" charset="0"/>
                <a:ea typeface="Calibri" pitchFamily="34" charset="-122"/>
                <a:cs typeface="Calibri" pitchFamily="34" charset="-120"/>
              </a:rPr>
              <a:t>Communication design student</a:t>
            </a:r>
            <a:endParaRPr lang="en-US" sz="1200" dirty="0"/>
          </a:p>
        </p:txBody>
      </p:sp>
      <p:sp>
        <p:nvSpPr>
          <p:cNvPr id="9" name="Text 7"/>
          <p:cNvSpPr/>
          <p:nvPr/>
        </p:nvSpPr>
        <p:spPr>
          <a:xfrm>
            <a:off x="548640" y="2344267"/>
            <a:ext cx="3840480" cy="1463040"/>
          </a:xfrm>
          <a:prstGeom prst="rect">
            <a:avLst/>
          </a:prstGeom>
          <a:noFill/>
          <a:ln/>
        </p:spPr>
        <p:txBody>
          <a:bodyPr wrap="square" rtlCol="0" anchor="ctr"/>
          <a:lstStyle/>
          <a:p>
            <a:pPr marL="342900" indent="-342900">
              <a:buSzPct val="100000"/>
              <a:buChar char="•"/>
            </a:pPr>
            <a:r>
              <a:rPr lang="en-US" dirty="0">
                <a:solidFill>
                  <a:srgbClr val="9CA3B8"/>
                </a:solidFill>
                <a:latin typeface="Calibri" pitchFamily="34" charset="0"/>
                <a:ea typeface="Calibri" pitchFamily="34" charset="-122"/>
                <a:cs typeface="Calibri" pitchFamily="34" charset="-120"/>
              </a:rPr>
              <a:t>Daily Spotify listener</a:t>
            </a:r>
            <a:endParaRPr lang="en-US" dirty="0"/>
          </a:p>
          <a:p>
            <a:pPr marL="342900" indent="-342900">
              <a:buSzPct val="100000"/>
              <a:buChar char="•"/>
            </a:pPr>
            <a:r>
              <a:rPr lang="en-US" dirty="0">
                <a:solidFill>
                  <a:srgbClr val="9CA3B8"/>
                </a:solidFill>
                <a:latin typeface="Calibri" pitchFamily="34" charset="0"/>
                <a:ea typeface="Calibri" pitchFamily="34" charset="-122"/>
                <a:cs typeface="Calibri" pitchFamily="34" charset="-120"/>
              </a:rPr>
              <a:t>No coding or data background</a:t>
            </a:r>
            <a:endParaRPr lang="en-US" dirty="0"/>
          </a:p>
          <a:p>
            <a:pPr marL="342900" indent="-342900">
              <a:buSzPct val="100000"/>
              <a:buChar char="•"/>
            </a:pPr>
            <a:r>
              <a:rPr lang="en-US" dirty="0">
                <a:solidFill>
                  <a:srgbClr val="9CA3B8"/>
                </a:solidFill>
                <a:latin typeface="Calibri" pitchFamily="34" charset="0"/>
                <a:ea typeface="Calibri" pitchFamily="34" charset="-122"/>
                <a:cs typeface="Calibri" pitchFamily="34" charset="-120"/>
              </a:rPr>
              <a:t>Wants to understand why some songs blow up</a:t>
            </a:r>
            <a:endParaRPr lang="en-US" dirty="0"/>
          </a:p>
        </p:txBody>
      </p:sp>
      <p:sp>
        <p:nvSpPr>
          <p:cNvPr id="12" name="Shape 0">
            <a:extLst>
              <a:ext uri="{FF2B5EF4-FFF2-40B4-BE49-F238E27FC236}">
                <a16:creationId xmlns:a16="http://schemas.microsoft.com/office/drawing/2014/main" id="{40F2F40C-864C-F0B5-54B1-A34B9C06E83E}"/>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13" name="Text 1">
            <a:extLst>
              <a:ext uri="{FF2B5EF4-FFF2-40B4-BE49-F238E27FC236}">
                <a16:creationId xmlns:a16="http://schemas.microsoft.com/office/drawing/2014/main" id="{65490466-177A-06DD-A71C-07CE6793705D}"/>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02</a:t>
            </a:r>
            <a:endParaRPr lang="en-US" sz="950" dirty="0"/>
          </a:p>
        </p:txBody>
      </p:sp>
      <p:sp>
        <p:nvSpPr>
          <p:cNvPr id="14" name="Text 2">
            <a:extLst>
              <a:ext uri="{FF2B5EF4-FFF2-40B4-BE49-F238E27FC236}">
                <a16:creationId xmlns:a16="http://schemas.microsoft.com/office/drawing/2014/main" id="{778CEDDC-F0DF-1243-DB2A-A4D86A08E5CF}"/>
              </a:ext>
            </a:extLst>
          </p:cNvPr>
          <p:cNvSpPr/>
          <p:nvPr/>
        </p:nvSpPr>
        <p:spPr>
          <a:xfrm>
            <a:off x="1005840" y="519081"/>
            <a:ext cx="3566160"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Target group: Casual music fans</a:t>
            </a:r>
            <a:endParaRPr lang="en-US" sz="2100" dirty="0"/>
          </a:p>
        </p:txBody>
      </p:sp>
      <p:pic>
        <p:nvPicPr>
          <p:cNvPr id="15" name="Picture 2" descr="Young girl student smiling against university. | Premium Photo">
            <a:extLst>
              <a:ext uri="{FF2B5EF4-FFF2-40B4-BE49-F238E27FC236}">
                <a16:creationId xmlns:a16="http://schemas.microsoft.com/office/drawing/2014/main" id="{BB6AD364-2A2E-E3CB-3A72-9C92D3E27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0656" y="1821995"/>
            <a:ext cx="3684704" cy="24545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6" name="Textfeld 15">
            <a:extLst>
              <a:ext uri="{FF2B5EF4-FFF2-40B4-BE49-F238E27FC236}">
                <a16:creationId xmlns:a16="http://schemas.microsoft.com/office/drawing/2014/main" id="{812EA512-16A4-156D-01CB-4CE6C2EF5058}"/>
              </a:ext>
            </a:extLst>
          </p:cNvPr>
          <p:cNvSpPr txBox="1"/>
          <p:nvPr/>
        </p:nvSpPr>
        <p:spPr>
          <a:xfrm>
            <a:off x="4966043" y="4395510"/>
            <a:ext cx="4177957" cy="338554"/>
          </a:xfrm>
          <a:prstGeom prst="rect">
            <a:avLst/>
          </a:prstGeom>
          <a:noFill/>
        </p:spPr>
        <p:txBody>
          <a:bodyPr wrap="square" rtlCol="0">
            <a:spAutoFit/>
          </a:bodyPr>
          <a:lstStyle/>
          <a:p>
            <a:r>
              <a:rPr lang="de-CH" sz="800" dirty="0"/>
              <a:t>[1] https://www.magnific.com/premium-photo/young-girl-student-smiling-against-university_5670223.html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E0E16"/>
        </a:solidFill>
        <a:effectLst/>
      </p:bgPr>
    </p:bg>
    <p:spTree>
      <p:nvGrpSpPr>
        <p:cNvPr id="1" name=""/>
        <p:cNvGrpSpPr/>
        <p:nvPr/>
      </p:nvGrpSpPr>
      <p:grpSpPr>
        <a:xfrm>
          <a:off x="0" y="0"/>
          <a:ext cx="0" cy="0"/>
          <a:chOff x="0" y="0"/>
          <a:chExt cx="0" cy="0"/>
        </a:xfrm>
      </p:grpSpPr>
      <p:sp>
        <p:nvSpPr>
          <p:cNvPr id="7" name="Shape 5"/>
          <p:cNvSpPr/>
          <p:nvPr/>
        </p:nvSpPr>
        <p:spPr>
          <a:xfrm>
            <a:off x="4882896" y="1708440"/>
            <a:ext cx="749808" cy="749808"/>
          </a:xfrm>
          <a:prstGeom prst="ellipse">
            <a:avLst/>
          </a:prstGeom>
          <a:solidFill>
            <a:srgbClr val="56CFE1"/>
          </a:solidFill>
          <a:ln w="12700">
            <a:solidFill>
              <a:srgbClr val="56CFE1"/>
            </a:solidFill>
            <a:prstDash val="solid"/>
          </a:ln>
        </p:spPr>
        <p:txBody>
          <a:bodyPr/>
          <a:lstStyle/>
          <a:p>
            <a:endParaRPr lang="de-CH"/>
          </a:p>
        </p:txBody>
      </p:sp>
      <p:sp>
        <p:nvSpPr>
          <p:cNvPr id="8" name="Text 6"/>
          <p:cNvSpPr/>
          <p:nvPr/>
        </p:nvSpPr>
        <p:spPr>
          <a:xfrm>
            <a:off x="4882896" y="1708440"/>
            <a:ext cx="749808" cy="749808"/>
          </a:xfrm>
          <a:prstGeom prst="rect">
            <a:avLst/>
          </a:prstGeom>
          <a:noFill/>
          <a:ln/>
        </p:spPr>
        <p:txBody>
          <a:bodyPr wrap="square" lIns="0" tIns="0" rIns="0" bIns="0" rtlCol="0" anchor="ctr"/>
          <a:lstStyle/>
          <a:p>
            <a:pPr marL="0" indent="0" algn="ctr">
              <a:buNone/>
            </a:pPr>
            <a:r>
              <a:rPr lang="en-US" sz="2500" b="1" dirty="0">
                <a:solidFill>
                  <a:srgbClr val="FFFFFF"/>
                </a:solidFill>
                <a:latin typeface="Calibri" pitchFamily="34" charset="0"/>
                <a:ea typeface="Calibri" pitchFamily="34" charset="-122"/>
                <a:cs typeface="Calibri" pitchFamily="34" charset="-120"/>
              </a:rPr>
              <a:t>J</a:t>
            </a:r>
            <a:endParaRPr lang="en-US" sz="2500" dirty="0"/>
          </a:p>
        </p:txBody>
      </p:sp>
      <p:sp>
        <p:nvSpPr>
          <p:cNvPr id="9" name="Text 7"/>
          <p:cNvSpPr/>
          <p:nvPr/>
        </p:nvSpPr>
        <p:spPr>
          <a:xfrm>
            <a:off x="5760720" y="1726728"/>
            <a:ext cx="3017520" cy="310896"/>
          </a:xfrm>
          <a:prstGeom prst="rect">
            <a:avLst/>
          </a:prstGeom>
          <a:noFill/>
          <a:ln/>
        </p:spPr>
        <p:txBody>
          <a:bodyPr wrap="square" rtlCol="0" anchor="ctr"/>
          <a:lstStyle/>
          <a:p>
            <a:pPr marL="0" indent="0">
              <a:buNone/>
            </a:pPr>
            <a:r>
              <a:rPr lang="en-US" sz="2000" b="1" dirty="0">
                <a:solidFill>
                  <a:srgbClr val="F4F4F8"/>
                </a:solidFill>
                <a:latin typeface="Calibri" pitchFamily="34" charset="0"/>
                <a:ea typeface="Calibri" pitchFamily="34" charset="-122"/>
                <a:cs typeface="Calibri" pitchFamily="34" charset="-120"/>
              </a:rPr>
              <a:t>Jonas Müller</a:t>
            </a:r>
            <a:endParaRPr lang="en-US" sz="2000" dirty="0"/>
          </a:p>
        </p:txBody>
      </p:sp>
      <p:sp>
        <p:nvSpPr>
          <p:cNvPr id="10" name="Text 8"/>
          <p:cNvSpPr/>
          <p:nvPr/>
        </p:nvSpPr>
        <p:spPr>
          <a:xfrm>
            <a:off x="5760720" y="2055912"/>
            <a:ext cx="3017520" cy="256032"/>
          </a:xfrm>
          <a:prstGeom prst="rect">
            <a:avLst/>
          </a:prstGeom>
          <a:noFill/>
          <a:ln/>
        </p:spPr>
        <p:txBody>
          <a:bodyPr wrap="square" rtlCol="0" anchor="ctr"/>
          <a:lstStyle/>
          <a:p>
            <a:pPr marL="0" indent="0">
              <a:buNone/>
            </a:pPr>
            <a:r>
              <a:rPr lang="en-US" sz="1200" dirty="0">
                <a:solidFill>
                  <a:srgbClr val="9CA3B8"/>
                </a:solidFill>
                <a:latin typeface="Calibri" pitchFamily="34" charset="0"/>
                <a:ea typeface="Calibri" pitchFamily="34" charset="-122"/>
                <a:cs typeface="Calibri" pitchFamily="34" charset="-120"/>
              </a:rPr>
              <a:t>Bedroom electronic music producer</a:t>
            </a:r>
            <a:endParaRPr lang="en-US" sz="1200" dirty="0"/>
          </a:p>
        </p:txBody>
      </p:sp>
      <p:sp>
        <p:nvSpPr>
          <p:cNvPr id="11" name="Text 9"/>
          <p:cNvSpPr/>
          <p:nvPr/>
        </p:nvSpPr>
        <p:spPr>
          <a:xfrm>
            <a:off x="4974336" y="2571750"/>
            <a:ext cx="3749040" cy="1005840"/>
          </a:xfrm>
          <a:prstGeom prst="rect">
            <a:avLst/>
          </a:prstGeom>
          <a:noFill/>
          <a:ln/>
        </p:spPr>
        <p:txBody>
          <a:bodyPr wrap="square" rtlCol="0" anchor="ctr"/>
          <a:lstStyle/>
          <a:p>
            <a:pPr marL="342900" indent="-342900">
              <a:buSzPct val="100000"/>
              <a:buChar char="•"/>
            </a:pPr>
            <a:r>
              <a:rPr lang="en-US" dirty="0">
                <a:solidFill>
                  <a:srgbClr val="9CA3B8"/>
                </a:solidFill>
                <a:latin typeface="Calibri" pitchFamily="34" charset="0"/>
                <a:ea typeface="Calibri" pitchFamily="34" charset="-122"/>
                <a:cs typeface="Calibri" pitchFamily="34" charset="-120"/>
              </a:rPr>
              <a:t>Releases on SoundCloud and Spotify</a:t>
            </a:r>
            <a:endParaRPr lang="en-US" dirty="0"/>
          </a:p>
          <a:p>
            <a:pPr marL="342900" indent="-342900">
              <a:buSzPct val="100000"/>
              <a:buChar char="•"/>
            </a:pPr>
            <a:r>
              <a:rPr lang="en-US" dirty="0">
                <a:solidFill>
                  <a:srgbClr val="9CA3B8"/>
                </a:solidFill>
                <a:latin typeface="Calibri" pitchFamily="34" charset="0"/>
                <a:ea typeface="Calibri" pitchFamily="34" charset="-122"/>
                <a:cs typeface="Calibri" pitchFamily="34" charset="-120"/>
              </a:rPr>
              <a:t>No data science background</a:t>
            </a:r>
            <a:endParaRPr lang="en-US" dirty="0"/>
          </a:p>
        </p:txBody>
      </p:sp>
      <p:sp>
        <p:nvSpPr>
          <p:cNvPr id="12" name="Shape 0">
            <a:extLst>
              <a:ext uri="{FF2B5EF4-FFF2-40B4-BE49-F238E27FC236}">
                <a16:creationId xmlns:a16="http://schemas.microsoft.com/office/drawing/2014/main" id="{F667B9BF-381C-EE79-B9C8-8DDC8FAEC32E}"/>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13" name="Text 1">
            <a:extLst>
              <a:ext uri="{FF2B5EF4-FFF2-40B4-BE49-F238E27FC236}">
                <a16:creationId xmlns:a16="http://schemas.microsoft.com/office/drawing/2014/main" id="{33B2F869-123C-F3DE-6397-65E669BC4451}"/>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02</a:t>
            </a:r>
            <a:endParaRPr lang="en-US" sz="950" dirty="0"/>
          </a:p>
        </p:txBody>
      </p:sp>
      <p:sp>
        <p:nvSpPr>
          <p:cNvPr id="14" name="Text 2">
            <a:extLst>
              <a:ext uri="{FF2B5EF4-FFF2-40B4-BE49-F238E27FC236}">
                <a16:creationId xmlns:a16="http://schemas.microsoft.com/office/drawing/2014/main" id="{EE23F884-9FC1-ECC9-6A2E-ED5D318E190B}"/>
              </a:ext>
            </a:extLst>
          </p:cNvPr>
          <p:cNvSpPr/>
          <p:nvPr/>
        </p:nvSpPr>
        <p:spPr>
          <a:xfrm>
            <a:off x="1005839" y="519081"/>
            <a:ext cx="4496509"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Target group: Independent musicians</a:t>
            </a:r>
            <a:endParaRPr lang="en-US" sz="2100" dirty="0"/>
          </a:p>
        </p:txBody>
      </p:sp>
      <p:pic>
        <p:nvPicPr>
          <p:cNvPr id="15" name="Picture 6">
            <a:extLst>
              <a:ext uri="{FF2B5EF4-FFF2-40B4-BE49-F238E27FC236}">
                <a16:creationId xmlns:a16="http://schemas.microsoft.com/office/drawing/2014/main" id="{13020072-F5E1-1B47-EACF-76D4C1E92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445" y="1587696"/>
            <a:ext cx="3548514" cy="236683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7" name="Textfeld 16">
            <a:extLst>
              <a:ext uri="{FF2B5EF4-FFF2-40B4-BE49-F238E27FC236}">
                <a16:creationId xmlns:a16="http://schemas.microsoft.com/office/drawing/2014/main" id="{A665B227-C109-CDAD-CC53-4214ECDEF70D}"/>
              </a:ext>
            </a:extLst>
          </p:cNvPr>
          <p:cNvSpPr txBox="1"/>
          <p:nvPr/>
        </p:nvSpPr>
        <p:spPr>
          <a:xfrm>
            <a:off x="667512" y="4115522"/>
            <a:ext cx="4572000" cy="215444"/>
          </a:xfrm>
          <a:prstGeom prst="rect">
            <a:avLst/>
          </a:prstGeom>
          <a:noFill/>
        </p:spPr>
        <p:txBody>
          <a:bodyPr wrap="square">
            <a:spAutoFit/>
          </a:bodyPr>
          <a:lstStyle/>
          <a:p>
            <a:r>
              <a:rPr lang="de-CH" sz="800" dirty="0"/>
              <a:t>[2] https://www.digitalmusicnews.com/2021/10/29/how-to-record-music-at-home/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E0E16"/>
        </a:solidFill>
        <a:effectLst/>
      </p:bgPr>
    </p:bg>
    <p:spTree>
      <p:nvGrpSpPr>
        <p:cNvPr id="1" name=""/>
        <p:cNvGrpSpPr/>
        <p:nvPr/>
      </p:nvGrpSpPr>
      <p:grpSpPr>
        <a:xfrm>
          <a:off x="0" y="0"/>
          <a:ext cx="0" cy="0"/>
          <a:chOff x="0" y="0"/>
          <a:chExt cx="0" cy="0"/>
        </a:xfrm>
      </p:grpSpPr>
      <p:sp>
        <p:nvSpPr>
          <p:cNvPr id="5" name="Shape 3"/>
          <p:cNvSpPr/>
          <p:nvPr/>
        </p:nvSpPr>
        <p:spPr>
          <a:xfrm>
            <a:off x="457200" y="1664846"/>
            <a:ext cx="2011680" cy="475488"/>
          </a:xfrm>
          <a:prstGeom prst="rect">
            <a:avLst/>
          </a:prstGeom>
          <a:solidFill>
            <a:srgbClr val="152B1C"/>
          </a:solidFill>
          <a:ln w="12700">
            <a:solidFill>
              <a:srgbClr val="152B1C"/>
            </a:solidFill>
            <a:prstDash val="solid"/>
          </a:ln>
        </p:spPr>
        <p:txBody>
          <a:bodyPr/>
          <a:lstStyle/>
          <a:p>
            <a:endParaRPr lang="de-CH"/>
          </a:p>
        </p:txBody>
      </p:sp>
      <p:sp>
        <p:nvSpPr>
          <p:cNvPr id="6" name="Text 4"/>
          <p:cNvSpPr/>
          <p:nvPr/>
        </p:nvSpPr>
        <p:spPr>
          <a:xfrm>
            <a:off x="457200" y="1664846"/>
            <a:ext cx="2011680" cy="475488"/>
          </a:xfrm>
          <a:prstGeom prst="rect">
            <a:avLst/>
          </a:prstGeom>
          <a:noFill/>
          <a:ln/>
        </p:spPr>
        <p:txBody>
          <a:bodyPr wrap="square" lIns="0" tIns="0" rIns="0" bIns="0" rtlCol="0" anchor="ctr"/>
          <a:lstStyle/>
          <a:p>
            <a:pPr marL="0" indent="0" algn="ctr">
              <a:buNone/>
            </a:pPr>
            <a:r>
              <a:rPr lang="en-US" b="1" dirty="0">
                <a:solidFill>
                  <a:srgbClr val="1ED760"/>
                </a:solidFill>
                <a:latin typeface="Calibri" pitchFamily="34" charset="0"/>
                <a:ea typeface="Calibri" pitchFamily="34" charset="-122"/>
                <a:cs typeface="Calibri" pitchFamily="34" charset="-120"/>
              </a:rPr>
              <a:t>Narrator</a:t>
            </a:r>
            <a:endParaRPr lang="en-US" dirty="0"/>
          </a:p>
        </p:txBody>
      </p:sp>
      <p:sp>
        <p:nvSpPr>
          <p:cNvPr id="7" name="Shape 5"/>
          <p:cNvSpPr/>
          <p:nvPr/>
        </p:nvSpPr>
        <p:spPr>
          <a:xfrm>
            <a:off x="2578608" y="1664846"/>
            <a:ext cx="6108192" cy="475488"/>
          </a:xfrm>
          <a:prstGeom prst="rect">
            <a:avLst/>
          </a:prstGeom>
          <a:solidFill>
            <a:srgbClr val="1C1C28"/>
          </a:solidFill>
          <a:ln w="12700">
            <a:solidFill>
              <a:srgbClr val="1C1C28"/>
            </a:solidFill>
            <a:prstDash val="solid"/>
          </a:ln>
        </p:spPr>
        <p:txBody>
          <a:bodyPr/>
          <a:lstStyle/>
          <a:p>
            <a:endParaRPr lang="de-CH"/>
          </a:p>
        </p:txBody>
      </p:sp>
      <p:sp>
        <p:nvSpPr>
          <p:cNvPr id="8" name="Text 6"/>
          <p:cNvSpPr/>
          <p:nvPr/>
        </p:nvSpPr>
        <p:spPr>
          <a:xfrm>
            <a:off x="2724912" y="1664846"/>
            <a:ext cx="5870448" cy="475488"/>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Editorial voice, causal framing, credibility close</a:t>
            </a:r>
            <a:endParaRPr lang="en-US" dirty="0"/>
          </a:p>
        </p:txBody>
      </p:sp>
      <p:sp>
        <p:nvSpPr>
          <p:cNvPr id="9" name="Shape 7"/>
          <p:cNvSpPr/>
          <p:nvPr/>
        </p:nvSpPr>
        <p:spPr>
          <a:xfrm>
            <a:off x="457200" y="2240918"/>
            <a:ext cx="2011680" cy="475488"/>
          </a:xfrm>
          <a:prstGeom prst="rect">
            <a:avLst/>
          </a:prstGeom>
          <a:solidFill>
            <a:srgbClr val="152B1C"/>
          </a:solidFill>
          <a:ln w="12700">
            <a:solidFill>
              <a:srgbClr val="152B1C"/>
            </a:solidFill>
            <a:prstDash val="solid"/>
          </a:ln>
        </p:spPr>
        <p:txBody>
          <a:bodyPr/>
          <a:lstStyle/>
          <a:p>
            <a:endParaRPr lang="de-CH"/>
          </a:p>
        </p:txBody>
      </p:sp>
      <p:sp>
        <p:nvSpPr>
          <p:cNvPr id="10" name="Text 8"/>
          <p:cNvSpPr/>
          <p:nvPr/>
        </p:nvSpPr>
        <p:spPr>
          <a:xfrm>
            <a:off x="457200" y="2240918"/>
            <a:ext cx="2011680" cy="475488"/>
          </a:xfrm>
          <a:prstGeom prst="rect">
            <a:avLst/>
          </a:prstGeom>
          <a:noFill/>
          <a:ln/>
        </p:spPr>
        <p:txBody>
          <a:bodyPr wrap="square" lIns="0" tIns="0" rIns="0" bIns="0" rtlCol="0" anchor="ctr"/>
          <a:lstStyle/>
          <a:p>
            <a:pPr marL="0" indent="0" algn="ctr">
              <a:buNone/>
            </a:pPr>
            <a:r>
              <a:rPr lang="en-US" b="1" dirty="0">
                <a:solidFill>
                  <a:srgbClr val="1ED760"/>
                </a:solidFill>
                <a:latin typeface="Calibri" pitchFamily="34" charset="0"/>
                <a:ea typeface="Calibri" pitchFamily="34" charset="-122"/>
                <a:cs typeface="Calibri" pitchFamily="34" charset="-120"/>
              </a:rPr>
              <a:t>Space &amp; time</a:t>
            </a:r>
            <a:endParaRPr lang="en-US" dirty="0"/>
          </a:p>
        </p:txBody>
      </p:sp>
      <p:sp>
        <p:nvSpPr>
          <p:cNvPr id="11" name="Shape 9"/>
          <p:cNvSpPr/>
          <p:nvPr/>
        </p:nvSpPr>
        <p:spPr>
          <a:xfrm>
            <a:off x="2578608" y="2240918"/>
            <a:ext cx="6108192" cy="475488"/>
          </a:xfrm>
          <a:prstGeom prst="rect">
            <a:avLst/>
          </a:prstGeom>
          <a:solidFill>
            <a:srgbClr val="1C1C28"/>
          </a:solidFill>
          <a:ln w="12700">
            <a:solidFill>
              <a:srgbClr val="1C1C28"/>
            </a:solidFill>
            <a:prstDash val="solid"/>
          </a:ln>
        </p:spPr>
        <p:txBody>
          <a:bodyPr/>
          <a:lstStyle/>
          <a:p>
            <a:endParaRPr lang="de-CH"/>
          </a:p>
        </p:txBody>
      </p:sp>
      <p:sp>
        <p:nvSpPr>
          <p:cNvPr id="12" name="Text 10"/>
          <p:cNvSpPr/>
          <p:nvPr/>
        </p:nvSpPr>
        <p:spPr>
          <a:xfrm>
            <a:off x="2724912" y="2240918"/>
            <a:ext cx="5870448" cy="475488"/>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Mood map, radar chart, popularity as time proxy</a:t>
            </a:r>
            <a:endParaRPr lang="en-US" dirty="0"/>
          </a:p>
        </p:txBody>
      </p:sp>
      <p:sp>
        <p:nvSpPr>
          <p:cNvPr id="13" name="Shape 11"/>
          <p:cNvSpPr/>
          <p:nvPr/>
        </p:nvSpPr>
        <p:spPr>
          <a:xfrm>
            <a:off x="457200" y="2816990"/>
            <a:ext cx="2011680" cy="475488"/>
          </a:xfrm>
          <a:prstGeom prst="rect">
            <a:avLst/>
          </a:prstGeom>
          <a:solidFill>
            <a:srgbClr val="152B1C"/>
          </a:solidFill>
          <a:ln w="12700">
            <a:solidFill>
              <a:srgbClr val="152B1C"/>
            </a:solidFill>
            <a:prstDash val="solid"/>
          </a:ln>
        </p:spPr>
        <p:txBody>
          <a:bodyPr/>
          <a:lstStyle/>
          <a:p>
            <a:endParaRPr lang="de-CH"/>
          </a:p>
        </p:txBody>
      </p:sp>
      <p:sp>
        <p:nvSpPr>
          <p:cNvPr id="14" name="Text 12"/>
          <p:cNvSpPr/>
          <p:nvPr/>
        </p:nvSpPr>
        <p:spPr>
          <a:xfrm>
            <a:off x="457200" y="2816990"/>
            <a:ext cx="2011680" cy="475488"/>
          </a:xfrm>
          <a:prstGeom prst="rect">
            <a:avLst/>
          </a:prstGeom>
          <a:noFill/>
          <a:ln/>
        </p:spPr>
        <p:txBody>
          <a:bodyPr wrap="square" lIns="0" tIns="0" rIns="0" bIns="0" rtlCol="0" anchor="ctr"/>
          <a:lstStyle/>
          <a:p>
            <a:pPr marL="0" indent="0" algn="ctr">
              <a:buNone/>
            </a:pPr>
            <a:r>
              <a:rPr lang="en-US" b="1" dirty="0">
                <a:solidFill>
                  <a:srgbClr val="1ED760"/>
                </a:solidFill>
                <a:latin typeface="Calibri" pitchFamily="34" charset="0"/>
                <a:ea typeface="Calibri" pitchFamily="34" charset="-122"/>
                <a:cs typeface="Calibri" pitchFamily="34" charset="-120"/>
              </a:rPr>
              <a:t>Sequentiality</a:t>
            </a:r>
            <a:endParaRPr lang="en-US" dirty="0"/>
          </a:p>
        </p:txBody>
      </p:sp>
      <p:sp>
        <p:nvSpPr>
          <p:cNvPr id="15" name="Shape 13"/>
          <p:cNvSpPr/>
          <p:nvPr/>
        </p:nvSpPr>
        <p:spPr>
          <a:xfrm>
            <a:off x="2578608" y="2816990"/>
            <a:ext cx="6108192" cy="475488"/>
          </a:xfrm>
          <a:prstGeom prst="rect">
            <a:avLst/>
          </a:prstGeom>
          <a:solidFill>
            <a:srgbClr val="1C1C28"/>
          </a:solidFill>
          <a:ln w="12700">
            <a:solidFill>
              <a:srgbClr val="1C1C28"/>
            </a:solidFill>
            <a:prstDash val="solid"/>
          </a:ln>
        </p:spPr>
        <p:txBody>
          <a:bodyPr/>
          <a:lstStyle/>
          <a:p>
            <a:endParaRPr lang="de-CH"/>
          </a:p>
        </p:txBody>
      </p:sp>
      <p:sp>
        <p:nvSpPr>
          <p:cNvPr id="16" name="Text 14"/>
          <p:cNvSpPr/>
          <p:nvPr/>
        </p:nvSpPr>
        <p:spPr>
          <a:xfrm>
            <a:off x="2724912" y="2816990"/>
            <a:ext cx="5870448" cy="475488"/>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Martini glass: linear scroll → reader exploration (slider)</a:t>
            </a:r>
            <a:endParaRPr lang="en-US" dirty="0"/>
          </a:p>
        </p:txBody>
      </p:sp>
      <p:sp>
        <p:nvSpPr>
          <p:cNvPr id="17" name="Shape 15"/>
          <p:cNvSpPr/>
          <p:nvPr/>
        </p:nvSpPr>
        <p:spPr>
          <a:xfrm>
            <a:off x="457200" y="3393062"/>
            <a:ext cx="2011680" cy="475488"/>
          </a:xfrm>
          <a:prstGeom prst="rect">
            <a:avLst/>
          </a:prstGeom>
          <a:solidFill>
            <a:srgbClr val="152B1C"/>
          </a:solidFill>
          <a:ln w="12700">
            <a:solidFill>
              <a:srgbClr val="152B1C"/>
            </a:solidFill>
            <a:prstDash val="solid"/>
          </a:ln>
        </p:spPr>
        <p:txBody>
          <a:bodyPr/>
          <a:lstStyle/>
          <a:p>
            <a:endParaRPr lang="de-CH"/>
          </a:p>
        </p:txBody>
      </p:sp>
      <p:sp>
        <p:nvSpPr>
          <p:cNvPr id="18" name="Text 16"/>
          <p:cNvSpPr/>
          <p:nvPr/>
        </p:nvSpPr>
        <p:spPr>
          <a:xfrm>
            <a:off x="457200" y="3393062"/>
            <a:ext cx="2011680" cy="475488"/>
          </a:xfrm>
          <a:prstGeom prst="rect">
            <a:avLst/>
          </a:prstGeom>
          <a:noFill/>
          <a:ln/>
        </p:spPr>
        <p:txBody>
          <a:bodyPr wrap="square" lIns="0" tIns="0" rIns="0" bIns="0" rtlCol="0" anchor="ctr"/>
          <a:lstStyle/>
          <a:p>
            <a:pPr marL="0" indent="0" algn="ctr">
              <a:buNone/>
            </a:pPr>
            <a:r>
              <a:rPr lang="en-US" b="1" dirty="0">
                <a:solidFill>
                  <a:srgbClr val="1ED760"/>
                </a:solidFill>
                <a:latin typeface="Calibri" pitchFamily="34" charset="0"/>
                <a:ea typeface="Calibri" pitchFamily="34" charset="-122"/>
                <a:cs typeface="Calibri" pitchFamily="34" charset="-120"/>
              </a:rPr>
              <a:t>Tellability</a:t>
            </a:r>
            <a:endParaRPr lang="en-US" dirty="0"/>
          </a:p>
        </p:txBody>
      </p:sp>
      <p:sp>
        <p:nvSpPr>
          <p:cNvPr id="19" name="Shape 17"/>
          <p:cNvSpPr/>
          <p:nvPr/>
        </p:nvSpPr>
        <p:spPr>
          <a:xfrm>
            <a:off x="2578608" y="3393062"/>
            <a:ext cx="6108192" cy="475488"/>
          </a:xfrm>
          <a:prstGeom prst="rect">
            <a:avLst/>
          </a:prstGeom>
          <a:solidFill>
            <a:srgbClr val="1C1C28"/>
          </a:solidFill>
          <a:ln w="12700">
            <a:solidFill>
              <a:srgbClr val="1C1C28"/>
            </a:solidFill>
            <a:prstDash val="solid"/>
          </a:ln>
        </p:spPr>
        <p:txBody>
          <a:bodyPr/>
          <a:lstStyle/>
          <a:p>
            <a:endParaRPr lang="de-CH"/>
          </a:p>
        </p:txBody>
      </p:sp>
      <p:sp>
        <p:nvSpPr>
          <p:cNvPr id="20" name="Text 18"/>
          <p:cNvSpPr/>
          <p:nvPr/>
        </p:nvSpPr>
        <p:spPr>
          <a:xfrm>
            <a:off x="2724912" y="3393062"/>
            <a:ext cx="5870448" cy="475488"/>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"Happy ≠ popular", personas, participatory slider</a:t>
            </a:r>
            <a:endParaRPr lang="en-US" dirty="0"/>
          </a:p>
        </p:txBody>
      </p:sp>
      <p:sp>
        <p:nvSpPr>
          <p:cNvPr id="33" name="Shape 0">
            <a:extLst>
              <a:ext uri="{FF2B5EF4-FFF2-40B4-BE49-F238E27FC236}">
                <a16:creationId xmlns:a16="http://schemas.microsoft.com/office/drawing/2014/main" id="{1ED0B5C2-D5C1-E0CC-6FD5-520C1B408F1E}"/>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34" name="Text 1">
            <a:extLst>
              <a:ext uri="{FF2B5EF4-FFF2-40B4-BE49-F238E27FC236}">
                <a16:creationId xmlns:a16="http://schemas.microsoft.com/office/drawing/2014/main" id="{947C873B-4BFF-EC7D-95ED-866E9D5D3368}"/>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03</a:t>
            </a:r>
            <a:endParaRPr lang="en-US" sz="950" dirty="0"/>
          </a:p>
        </p:txBody>
      </p:sp>
      <p:sp>
        <p:nvSpPr>
          <p:cNvPr id="35" name="Text 2">
            <a:extLst>
              <a:ext uri="{FF2B5EF4-FFF2-40B4-BE49-F238E27FC236}">
                <a16:creationId xmlns:a16="http://schemas.microsoft.com/office/drawing/2014/main" id="{7E522E4C-D488-F512-FEAE-0DE4D5A50CC2}"/>
              </a:ext>
            </a:extLst>
          </p:cNvPr>
          <p:cNvSpPr/>
          <p:nvPr/>
        </p:nvSpPr>
        <p:spPr>
          <a:xfrm>
            <a:off x="1005839" y="519081"/>
            <a:ext cx="4496509"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Narrative elements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16"/>
        </a:solidFill>
        <a:effectLst/>
      </p:bgPr>
    </p:bg>
    <p:spTree>
      <p:nvGrpSpPr>
        <p:cNvPr id="1" name=""/>
        <p:cNvGrpSpPr/>
        <p:nvPr/>
      </p:nvGrpSpPr>
      <p:grpSpPr>
        <a:xfrm>
          <a:off x="0" y="0"/>
          <a:ext cx="0" cy="0"/>
          <a:chOff x="0" y="0"/>
          <a:chExt cx="0" cy="0"/>
        </a:xfrm>
      </p:grpSpPr>
      <p:sp>
        <p:nvSpPr>
          <p:cNvPr id="5" name="Shape 3"/>
          <p:cNvSpPr/>
          <p:nvPr/>
        </p:nvSpPr>
        <p:spPr>
          <a:xfrm>
            <a:off x="457200" y="1143000"/>
            <a:ext cx="3931920" cy="960120"/>
          </a:xfrm>
          <a:prstGeom prst="rect">
            <a:avLst/>
          </a:prstGeom>
          <a:solidFill>
            <a:srgbClr val="1C1C28"/>
          </a:solidFill>
          <a:ln w="6350">
            <a:solidFill>
              <a:srgbClr val="2E2E42"/>
            </a:solidFill>
            <a:prstDash val="solid"/>
          </a:ln>
        </p:spPr>
        <p:txBody>
          <a:bodyPr/>
          <a:lstStyle/>
          <a:p>
            <a:endParaRPr lang="de-CH"/>
          </a:p>
        </p:txBody>
      </p:sp>
      <p:sp>
        <p:nvSpPr>
          <p:cNvPr id="6" name="Text 4"/>
          <p:cNvSpPr/>
          <p:nvPr/>
        </p:nvSpPr>
        <p:spPr>
          <a:xfrm>
            <a:off x="603504" y="1234440"/>
            <a:ext cx="3639312"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Source</a:t>
            </a:r>
            <a:endParaRPr lang="en-US" dirty="0"/>
          </a:p>
        </p:txBody>
      </p:sp>
      <p:sp>
        <p:nvSpPr>
          <p:cNvPr id="7" name="Text 5"/>
          <p:cNvSpPr/>
          <p:nvPr/>
        </p:nvSpPr>
        <p:spPr>
          <a:xfrm>
            <a:off x="603504" y="1545336"/>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Kaggle: Spotify Tracks Dataset</a:t>
            </a:r>
            <a:endParaRPr lang="en-US" dirty="0"/>
          </a:p>
        </p:txBody>
      </p:sp>
      <p:sp>
        <p:nvSpPr>
          <p:cNvPr id="8" name="Shape 6"/>
          <p:cNvSpPr/>
          <p:nvPr/>
        </p:nvSpPr>
        <p:spPr>
          <a:xfrm>
            <a:off x="4663440" y="1143000"/>
            <a:ext cx="3931920" cy="960120"/>
          </a:xfrm>
          <a:prstGeom prst="rect">
            <a:avLst/>
          </a:prstGeom>
          <a:solidFill>
            <a:srgbClr val="1C1C28"/>
          </a:solidFill>
          <a:ln w="6350">
            <a:solidFill>
              <a:srgbClr val="2E2E42"/>
            </a:solidFill>
            <a:prstDash val="solid"/>
          </a:ln>
        </p:spPr>
        <p:txBody>
          <a:bodyPr/>
          <a:lstStyle/>
          <a:p>
            <a:endParaRPr lang="de-CH"/>
          </a:p>
        </p:txBody>
      </p:sp>
      <p:sp>
        <p:nvSpPr>
          <p:cNvPr id="9" name="Text 7"/>
          <p:cNvSpPr/>
          <p:nvPr/>
        </p:nvSpPr>
        <p:spPr>
          <a:xfrm>
            <a:off x="4809744" y="1234440"/>
            <a:ext cx="3639312"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Scale</a:t>
            </a:r>
            <a:endParaRPr lang="en-US" dirty="0"/>
          </a:p>
        </p:txBody>
      </p:sp>
      <p:sp>
        <p:nvSpPr>
          <p:cNvPr id="10" name="Text 8"/>
          <p:cNvSpPr/>
          <p:nvPr/>
        </p:nvSpPr>
        <p:spPr>
          <a:xfrm>
            <a:off x="4809744" y="1545336"/>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114,000 tracks · 113 genres</a:t>
            </a:r>
            <a:endParaRPr lang="en-US" dirty="0"/>
          </a:p>
          <a:p>
            <a:pPr marL="0" indent="0">
              <a:buNone/>
            </a:pPr>
            <a:r>
              <a:rPr lang="en-US" dirty="0">
                <a:solidFill>
                  <a:srgbClr val="F4F4F8"/>
                </a:solidFill>
                <a:latin typeface="Calibri" pitchFamily="34" charset="0"/>
                <a:ea typeface="Calibri" pitchFamily="34" charset="-122"/>
                <a:cs typeface="Calibri" pitchFamily="34" charset="-120"/>
              </a:rPr>
              <a:t>89,741 after deduplication</a:t>
            </a:r>
            <a:endParaRPr lang="en-US" dirty="0"/>
          </a:p>
        </p:txBody>
      </p:sp>
      <p:sp>
        <p:nvSpPr>
          <p:cNvPr id="11" name="Shape 9"/>
          <p:cNvSpPr/>
          <p:nvPr/>
        </p:nvSpPr>
        <p:spPr>
          <a:xfrm>
            <a:off x="457200" y="2304288"/>
            <a:ext cx="3931920" cy="960120"/>
          </a:xfrm>
          <a:prstGeom prst="rect">
            <a:avLst/>
          </a:prstGeom>
          <a:solidFill>
            <a:srgbClr val="1C1C28"/>
          </a:solidFill>
          <a:ln w="6350">
            <a:solidFill>
              <a:srgbClr val="2E2E42"/>
            </a:solidFill>
            <a:prstDash val="solid"/>
          </a:ln>
        </p:spPr>
        <p:txBody>
          <a:bodyPr/>
          <a:lstStyle/>
          <a:p>
            <a:endParaRPr lang="de-CH"/>
          </a:p>
        </p:txBody>
      </p:sp>
      <p:sp>
        <p:nvSpPr>
          <p:cNvPr id="12" name="Text 10"/>
          <p:cNvSpPr/>
          <p:nvPr/>
        </p:nvSpPr>
        <p:spPr>
          <a:xfrm>
            <a:off x="603504" y="2395728"/>
            <a:ext cx="3639312"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Target variable</a:t>
            </a:r>
            <a:endParaRPr lang="en-US" dirty="0"/>
          </a:p>
        </p:txBody>
      </p:sp>
      <p:sp>
        <p:nvSpPr>
          <p:cNvPr id="13" name="Text 11"/>
          <p:cNvSpPr/>
          <p:nvPr/>
        </p:nvSpPr>
        <p:spPr>
          <a:xfrm>
            <a:off x="603504" y="2706624"/>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Popularity (Spotify score 0 to 100)</a:t>
            </a:r>
            <a:endParaRPr lang="en-US" dirty="0"/>
          </a:p>
        </p:txBody>
      </p:sp>
      <p:sp>
        <p:nvSpPr>
          <p:cNvPr id="14" name="Shape 12"/>
          <p:cNvSpPr/>
          <p:nvPr/>
        </p:nvSpPr>
        <p:spPr>
          <a:xfrm>
            <a:off x="4663440" y="2304288"/>
            <a:ext cx="3931920" cy="960120"/>
          </a:xfrm>
          <a:prstGeom prst="rect">
            <a:avLst/>
          </a:prstGeom>
          <a:solidFill>
            <a:srgbClr val="1C1C28"/>
          </a:solidFill>
          <a:ln w="6350">
            <a:solidFill>
              <a:srgbClr val="2E2E42"/>
            </a:solidFill>
            <a:prstDash val="solid"/>
          </a:ln>
        </p:spPr>
        <p:txBody>
          <a:bodyPr/>
          <a:lstStyle/>
          <a:p>
            <a:endParaRPr lang="de-CH"/>
          </a:p>
        </p:txBody>
      </p:sp>
      <p:sp>
        <p:nvSpPr>
          <p:cNvPr id="15" name="Text 13"/>
          <p:cNvSpPr/>
          <p:nvPr/>
        </p:nvSpPr>
        <p:spPr>
          <a:xfrm>
            <a:off x="4809744" y="2395728"/>
            <a:ext cx="3639312"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Note</a:t>
            </a:r>
            <a:endParaRPr lang="en-US" dirty="0"/>
          </a:p>
        </p:txBody>
      </p:sp>
      <p:sp>
        <p:nvSpPr>
          <p:cNvPr id="16" name="Text 14"/>
          <p:cNvSpPr/>
          <p:nvPr/>
        </p:nvSpPr>
        <p:spPr>
          <a:xfrm>
            <a:off x="4809744" y="2706624"/>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No release date → snapshot analysis, not a time series</a:t>
            </a:r>
            <a:endParaRPr lang="en-US" dirty="0"/>
          </a:p>
        </p:txBody>
      </p:sp>
      <p:sp>
        <p:nvSpPr>
          <p:cNvPr id="17" name="Text 15"/>
          <p:cNvSpPr/>
          <p:nvPr/>
        </p:nvSpPr>
        <p:spPr>
          <a:xfrm>
            <a:off x="603504" y="3726180"/>
            <a:ext cx="4572000" cy="274320"/>
          </a:xfrm>
          <a:prstGeom prst="rect">
            <a:avLst/>
          </a:prstGeom>
          <a:noFill/>
          <a:ln/>
        </p:spPr>
        <p:txBody>
          <a:bodyPr wrap="square" rtlCol="0" anchor="ctr"/>
          <a:lstStyle/>
          <a:p>
            <a:pPr marL="0" indent="0">
              <a:buNone/>
            </a:pPr>
            <a:r>
              <a:rPr lang="en-US" b="1" dirty="0">
                <a:solidFill>
                  <a:srgbClr val="F4F4F8"/>
                </a:solidFill>
                <a:latin typeface="Calibri" pitchFamily="34" charset="0"/>
                <a:ea typeface="Calibri" pitchFamily="34" charset="-122"/>
                <a:cs typeface="Calibri" pitchFamily="34" charset="-120"/>
              </a:rPr>
              <a:t>9 audio features per track:</a:t>
            </a:r>
            <a:endParaRPr lang="en-US" dirty="0"/>
          </a:p>
        </p:txBody>
      </p:sp>
      <p:sp>
        <p:nvSpPr>
          <p:cNvPr id="18" name="Shape 16"/>
          <p:cNvSpPr/>
          <p:nvPr/>
        </p:nvSpPr>
        <p:spPr>
          <a:xfrm>
            <a:off x="603504" y="4046220"/>
            <a:ext cx="1600200" cy="283464"/>
          </a:xfrm>
          <a:prstGeom prst="rect">
            <a:avLst/>
          </a:prstGeom>
          <a:solidFill>
            <a:srgbClr val="1E1E2E"/>
          </a:solidFill>
          <a:ln w="6350">
            <a:solidFill>
              <a:srgbClr val="2E2E42"/>
            </a:solidFill>
            <a:prstDash val="solid"/>
          </a:ln>
        </p:spPr>
        <p:txBody>
          <a:bodyPr/>
          <a:lstStyle/>
          <a:p>
            <a:endParaRPr lang="de-CH"/>
          </a:p>
        </p:txBody>
      </p:sp>
      <p:sp>
        <p:nvSpPr>
          <p:cNvPr id="19" name="Text 17"/>
          <p:cNvSpPr/>
          <p:nvPr/>
        </p:nvSpPr>
        <p:spPr>
          <a:xfrm>
            <a:off x="603504" y="4046220"/>
            <a:ext cx="160020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Danceability</a:t>
            </a:r>
            <a:endParaRPr lang="en-US" dirty="0"/>
          </a:p>
        </p:txBody>
      </p:sp>
      <p:sp>
        <p:nvSpPr>
          <p:cNvPr id="20" name="Shape 18"/>
          <p:cNvSpPr/>
          <p:nvPr/>
        </p:nvSpPr>
        <p:spPr>
          <a:xfrm>
            <a:off x="2313432" y="4046220"/>
            <a:ext cx="1051560" cy="283464"/>
          </a:xfrm>
          <a:prstGeom prst="rect">
            <a:avLst/>
          </a:prstGeom>
          <a:solidFill>
            <a:srgbClr val="1E1E2E"/>
          </a:solidFill>
          <a:ln w="6350">
            <a:solidFill>
              <a:srgbClr val="2E2E42"/>
            </a:solidFill>
            <a:prstDash val="solid"/>
          </a:ln>
        </p:spPr>
        <p:txBody>
          <a:bodyPr/>
          <a:lstStyle/>
          <a:p>
            <a:endParaRPr lang="de-CH"/>
          </a:p>
        </p:txBody>
      </p:sp>
      <p:sp>
        <p:nvSpPr>
          <p:cNvPr id="21" name="Text 19"/>
          <p:cNvSpPr/>
          <p:nvPr/>
        </p:nvSpPr>
        <p:spPr>
          <a:xfrm>
            <a:off x="2313432" y="4046220"/>
            <a:ext cx="105156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Energy</a:t>
            </a:r>
            <a:endParaRPr lang="en-US" dirty="0"/>
          </a:p>
        </p:txBody>
      </p:sp>
      <p:sp>
        <p:nvSpPr>
          <p:cNvPr id="22" name="Shape 20"/>
          <p:cNvSpPr/>
          <p:nvPr/>
        </p:nvSpPr>
        <p:spPr>
          <a:xfrm>
            <a:off x="3474720" y="4046220"/>
            <a:ext cx="1234440" cy="283464"/>
          </a:xfrm>
          <a:prstGeom prst="rect">
            <a:avLst/>
          </a:prstGeom>
          <a:solidFill>
            <a:srgbClr val="1E1E2E"/>
          </a:solidFill>
          <a:ln w="6350">
            <a:solidFill>
              <a:srgbClr val="2E2E42"/>
            </a:solidFill>
            <a:prstDash val="solid"/>
          </a:ln>
        </p:spPr>
        <p:txBody>
          <a:bodyPr/>
          <a:lstStyle/>
          <a:p>
            <a:endParaRPr lang="de-CH"/>
          </a:p>
        </p:txBody>
      </p:sp>
      <p:sp>
        <p:nvSpPr>
          <p:cNvPr id="23" name="Text 21"/>
          <p:cNvSpPr/>
          <p:nvPr/>
        </p:nvSpPr>
        <p:spPr>
          <a:xfrm>
            <a:off x="3474720" y="4046220"/>
            <a:ext cx="123444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Loudness</a:t>
            </a:r>
            <a:endParaRPr lang="en-US" dirty="0"/>
          </a:p>
        </p:txBody>
      </p:sp>
      <p:sp>
        <p:nvSpPr>
          <p:cNvPr id="24" name="Shape 22"/>
          <p:cNvSpPr/>
          <p:nvPr/>
        </p:nvSpPr>
        <p:spPr>
          <a:xfrm>
            <a:off x="4818888" y="4046220"/>
            <a:ext cx="1143000" cy="283464"/>
          </a:xfrm>
          <a:prstGeom prst="rect">
            <a:avLst/>
          </a:prstGeom>
          <a:solidFill>
            <a:srgbClr val="1E1E2E"/>
          </a:solidFill>
          <a:ln w="6350">
            <a:solidFill>
              <a:srgbClr val="2E2E42"/>
            </a:solidFill>
            <a:prstDash val="solid"/>
          </a:ln>
        </p:spPr>
        <p:txBody>
          <a:bodyPr/>
          <a:lstStyle/>
          <a:p>
            <a:endParaRPr lang="de-CH"/>
          </a:p>
        </p:txBody>
      </p:sp>
      <p:sp>
        <p:nvSpPr>
          <p:cNvPr id="25" name="Text 23"/>
          <p:cNvSpPr/>
          <p:nvPr/>
        </p:nvSpPr>
        <p:spPr>
          <a:xfrm>
            <a:off x="4818888" y="4046220"/>
            <a:ext cx="114300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Valence</a:t>
            </a:r>
            <a:endParaRPr lang="en-US" dirty="0"/>
          </a:p>
        </p:txBody>
      </p:sp>
      <p:sp>
        <p:nvSpPr>
          <p:cNvPr id="26" name="Shape 24"/>
          <p:cNvSpPr/>
          <p:nvPr/>
        </p:nvSpPr>
        <p:spPr>
          <a:xfrm>
            <a:off x="6071616" y="4046220"/>
            <a:ext cx="1600200" cy="283464"/>
          </a:xfrm>
          <a:prstGeom prst="rect">
            <a:avLst/>
          </a:prstGeom>
          <a:solidFill>
            <a:srgbClr val="1E1E2E"/>
          </a:solidFill>
          <a:ln w="6350">
            <a:solidFill>
              <a:srgbClr val="2E2E42"/>
            </a:solidFill>
            <a:prstDash val="solid"/>
          </a:ln>
        </p:spPr>
        <p:txBody>
          <a:bodyPr/>
          <a:lstStyle/>
          <a:p>
            <a:endParaRPr lang="de-CH"/>
          </a:p>
        </p:txBody>
      </p:sp>
      <p:sp>
        <p:nvSpPr>
          <p:cNvPr id="27" name="Text 25"/>
          <p:cNvSpPr/>
          <p:nvPr/>
        </p:nvSpPr>
        <p:spPr>
          <a:xfrm>
            <a:off x="6071616" y="4046220"/>
            <a:ext cx="160020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Acousticness</a:t>
            </a:r>
            <a:endParaRPr lang="en-US" dirty="0"/>
          </a:p>
        </p:txBody>
      </p:sp>
      <p:sp>
        <p:nvSpPr>
          <p:cNvPr id="28" name="Shape 26"/>
          <p:cNvSpPr/>
          <p:nvPr/>
        </p:nvSpPr>
        <p:spPr>
          <a:xfrm>
            <a:off x="603504" y="4411980"/>
            <a:ext cx="1965960" cy="283464"/>
          </a:xfrm>
          <a:prstGeom prst="rect">
            <a:avLst/>
          </a:prstGeom>
          <a:solidFill>
            <a:srgbClr val="1E1E2E"/>
          </a:solidFill>
          <a:ln w="6350">
            <a:solidFill>
              <a:srgbClr val="2E2E42"/>
            </a:solidFill>
            <a:prstDash val="solid"/>
          </a:ln>
        </p:spPr>
        <p:txBody>
          <a:bodyPr/>
          <a:lstStyle/>
          <a:p>
            <a:endParaRPr lang="de-CH"/>
          </a:p>
        </p:txBody>
      </p:sp>
      <p:sp>
        <p:nvSpPr>
          <p:cNvPr id="29" name="Text 27"/>
          <p:cNvSpPr/>
          <p:nvPr/>
        </p:nvSpPr>
        <p:spPr>
          <a:xfrm>
            <a:off x="603504" y="4411980"/>
            <a:ext cx="196596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Instrumentalness</a:t>
            </a:r>
            <a:endParaRPr lang="en-US" dirty="0"/>
          </a:p>
        </p:txBody>
      </p:sp>
      <p:sp>
        <p:nvSpPr>
          <p:cNvPr id="30" name="Shape 28"/>
          <p:cNvSpPr/>
          <p:nvPr/>
        </p:nvSpPr>
        <p:spPr>
          <a:xfrm>
            <a:off x="2679192" y="4411980"/>
            <a:ext cx="1508760" cy="283464"/>
          </a:xfrm>
          <a:prstGeom prst="rect">
            <a:avLst/>
          </a:prstGeom>
          <a:solidFill>
            <a:srgbClr val="1E1E2E"/>
          </a:solidFill>
          <a:ln w="6350">
            <a:solidFill>
              <a:srgbClr val="2E2E42"/>
            </a:solidFill>
            <a:prstDash val="solid"/>
          </a:ln>
        </p:spPr>
        <p:txBody>
          <a:bodyPr/>
          <a:lstStyle/>
          <a:p>
            <a:endParaRPr lang="de-CH"/>
          </a:p>
        </p:txBody>
      </p:sp>
      <p:sp>
        <p:nvSpPr>
          <p:cNvPr id="31" name="Text 29"/>
          <p:cNvSpPr/>
          <p:nvPr/>
        </p:nvSpPr>
        <p:spPr>
          <a:xfrm>
            <a:off x="2679192" y="4411980"/>
            <a:ext cx="150876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Speechiness</a:t>
            </a:r>
            <a:endParaRPr lang="en-US" dirty="0"/>
          </a:p>
        </p:txBody>
      </p:sp>
      <p:sp>
        <p:nvSpPr>
          <p:cNvPr id="32" name="Shape 30"/>
          <p:cNvSpPr/>
          <p:nvPr/>
        </p:nvSpPr>
        <p:spPr>
          <a:xfrm>
            <a:off x="4297680" y="4411980"/>
            <a:ext cx="1234440" cy="283464"/>
          </a:xfrm>
          <a:prstGeom prst="rect">
            <a:avLst/>
          </a:prstGeom>
          <a:solidFill>
            <a:srgbClr val="1E1E2E"/>
          </a:solidFill>
          <a:ln w="6350">
            <a:solidFill>
              <a:srgbClr val="2E2E42"/>
            </a:solidFill>
            <a:prstDash val="solid"/>
          </a:ln>
        </p:spPr>
        <p:txBody>
          <a:bodyPr/>
          <a:lstStyle/>
          <a:p>
            <a:endParaRPr lang="de-CH"/>
          </a:p>
        </p:txBody>
      </p:sp>
      <p:sp>
        <p:nvSpPr>
          <p:cNvPr id="33" name="Text 31"/>
          <p:cNvSpPr/>
          <p:nvPr/>
        </p:nvSpPr>
        <p:spPr>
          <a:xfrm>
            <a:off x="4297680" y="4411980"/>
            <a:ext cx="123444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Liveness</a:t>
            </a:r>
            <a:endParaRPr lang="en-US" dirty="0"/>
          </a:p>
        </p:txBody>
      </p:sp>
      <p:sp>
        <p:nvSpPr>
          <p:cNvPr id="34" name="Shape 32"/>
          <p:cNvSpPr/>
          <p:nvPr/>
        </p:nvSpPr>
        <p:spPr>
          <a:xfrm>
            <a:off x="5641848" y="4411980"/>
            <a:ext cx="960120" cy="283464"/>
          </a:xfrm>
          <a:prstGeom prst="rect">
            <a:avLst/>
          </a:prstGeom>
          <a:solidFill>
            <a:srgbClr val="1E1E2E"/>
          </a:solidFill>
          <a:ln w="6350">
            <a:solidFill>
              <a:srgbClr val="2E2E42"/>
            </a:solidFill>
            <a:prstDash val="solid"/>
          </a:ln>
        </p:spPr>
        <p:txBody>
          <a:bodyPr/>
          <a:lstStyle/>
          <a:p>
            <a:endParaRPr lang="de-CH"/>
          </a:p>
        </p:txBody>
      </p:sp>
      <p:sp>
        <p:nvSpPr>
          <p:cNvPr id="35" name="Text 33"/>
          <p:cNvSpPr/>
          <p:nvPr/>
        </p:nvSpPr>
        <p:spPr>
          <a:xfrm>
            <a:off x="5641848" y="4411980"/>
            <a:ext cx="960120" cy="283464"/>
          </a:xfrm>
          <a:prstGeom prst="rect">
            <a:avLst/>
          </a:prstGeom>
          <a:noFill/>
          <a:ln/>
        </p:spPr>
        <p:txBody>
          <a:bodyPr wrap="square" lIns="0" tIns="0" rIns="0" bIns="0" rtlCol="0" anchor="ctr"/>
          <a:lstStyle/>
          <a:p>
            <a:pPr marL="0" indent="0" algn="ctr">
              <a:buNone/>
            </a:pPr>
            <a:r>
              <a:rPr lang="en-US" dirty="0">
                <a:solidFill>
                  <a:srgbClr val="9CA3B8"/>
                </a:solidFill>
                <a:latin typeface="Calibri" pitchFamily="34" charset="0"/>
                <a:ea typeface="Calibri" pitchFamily="34" charset="-122"/>
                <a:cs typeface="Calibri" pitchFamily="34" charset="-120"/>
              </a:rPr>
              <a:t>Tempo</a:t>
            </a:r>
            <a:endParaRPr lang="en-US" dirty="0"/>
          </a:p>
        </p:txBody>
      </p:sp>
      <p:sp>
        <p:nvSpPr>
          <p:cNvPr id="38" name="Shape 0">
            <a:extLst>
              <a:ext uri="{FF2B5EF4-FFF2-40B4-BE49-F238E27FC236}">
                <a16:creationId xmlns:a16="http://schemas.microsoft.com/office/drawing/2014/main" id="{0ADFEB40-5AD4-6332-FC2B-36007FD7238C}"/>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39" name="Text 1">
            <a:extLst>
              <a:ext uri="{FF2B5EF4-FFF2-40B4-BE49-F238E27FC236}">
                <a16:creationId xmlns:a16="http://schemas.microsoft.com/office/drawing/2014/main" id="{2AE052BC-9D5D-9139-BAF4-CE31DD121E4D}"/>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04</a:t>
            </a:r>
            <a:endParaRPr lang="en-US" sz="950" dirty="0"/>
          </a:p>
        </p:txBody>
      </p:sp>
      <p:sp>
        <p:nvSpPr>
          <p:cNvPr id="40" name="Text 2">
            <a:extLst>
              <a:ext uri="{FF2B5EF4-FFF2-40B4-BE49-F238E27FC236}">
                <a16:creationId xmlns:a16="http://schemas.microsoft.com/office/drawing/2014/main" id="{DA711E9E-5AED-E54A-02D7-AF18311DAB77}"/>
              </a:ext>
            </a:extLst>
          </p:cNvPr>
          <p:cNvSpPr/>
          <p:nvPr/>
        </p:nvSpPr>
        <p:spPr>
          <a:xfrm>
            <a:off x="1005840" y="519081"/>
            <a:ext cx="1790524"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The dataset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16"/>
        </a:solidFill>
        <a:effectLst/>
      </p:bgPr>
    </p:bg>
    <p:spTree>
      <p:nvGrpSpPr>
        <p:cNvPr id="1" name=""/>
        <p:cNvGrpSpPr/>
        <p:nvPr/>
      </p:nvGrpSpPr>
      <p:grpSpPr>
        <a:xfrm>
          <a:off x="0" y="0"/>
          <a:ext cx="0" cy="0"/>
          <a:chOff x="0" y="0"/>
          <a:chExt cx="0" cy="0"/>
        </a:xfrm>
      </p:grpSpPr>
      <p:sp>
        <p:nvSpPr>
          <p:cNvPr id="5" name="Shape 3"/>
          <p:cNvSpPr/>
          <p:nvPr/>
        </p:nvSpPr>
        <p:spPr>
          <a:xfrm>
            <a:off x="457200" y="1143001"/>
            <a:ext cx="8229600" cy="1236784"/>
          </a:xfrm>
          <a:prstGeom prst="rect">
            <a:avLst/>
          </a:prstGeom>
          <a:solidFill>
            <a:srgbClr val="1A2E1F"/>
          </a:solidFill>
          <a:ln w="9525">
            <a:solidFill>
              <a:srgbClr val="2A6B3C"/>
            </a:solidFill>
            <a:prstDash val="solid"/>
          </a:ln>
        </p:spPr>
        <p:txBody>
          <a:bodyPr/>
          <a:lstStyle/>
          <a:p>
            <a:endParaRPr lang="de-CH"/>
          </a:p>
        </p:txBody>
      </p:sp>
      <p:sp>
        <p:nvSpPr>
          <p:cNvPr id="6" name="Shape 4"/>
          <p:cNvSpPr/>
          <p:nvPr/>
        </p:nvSpPr>
        <p:spPr>
          <a:xfrm>
            <a:off x="640080" y="1325881"/>
            <a:ext cx="438912" cy="438912"/>
          </a:xfrm>
          <a:prstGeom prst="rect">
            <a:avLst/>
          </a:prstGeom>
          <a:solidFill>
            <a:srgbClr val="9B5DE5"/>
          </a:solidFill>
          <a:ln w="12700">
            <a:solidFill>
              <a:srgbClr val="9B5DE5"/>
            </a:solidFill>
            <a:prstDash val="solid"/>
          </a:ln>
        </p:spPr>
        <p:txBody>
          <a:bodyPr/>
          <a:lstStyle/>
          <a:p>
            <a:endParaRPr lang="de-CH"/>
          </a:p>
        </p:txBody>
      </p:sp>
      <p:sp>
        <p:nvSpPr>
          <p:cNvPr id="7" name="Text 5"/>
          <p:cNvSpPr/>
          <p:nvPr/>
        </p:nvSpPr>
        <p:spPr>
          <a:xfrm>
            <a:off x="640080" y="1325881"/>
            <a:ext cx="438912" cy="438912"/>
          </a:xfrm>
          <a:prstGeom prst="rect">
            <a:avLst/>
          </a:prstGeom>
          <a:noFill/>
          <a:ln/>
        </p:spPr>
        <p:txBody>
          <a:bodyPr wrap="square" lIns="0" tIns="0" rIns="0" bIns="0" rtlCol="0" anchor="ctr"/>
          <a:lstStyle/>
          <a:p>
            <a:pPr marL="0" indent="0" algn="ctr">
              <a:buNone/>
            </a:pPr>
            <a:r>
              <a:rPr lang="en-US" b="1" dirty="0">
                <a:solidFill>
                  <a:srgbClr val="0E0E16"/>
                </a:solidFill>
              </a:rPr>
              <a:t>→</a:t>
            </a:r>
            <a:endParaRPr lang="en-US" dirty="0"/>
          </a:p>
        </p:txBody>
      </p:sp>
      <p:sp>
        <p:nvSpPr>
          <p:cNvPr id="8" name="Text 6"/>
          <p:cNvSpPr/>
          <p:nvPr/>
        </p:nvSpPr>
        <p:spPr>
          <a:xfrm>
            <a:off x="1207008" y="1325881"/>
            <a:ext cx="1463040" cy="274320"/>
          </a:xfrm>
          <a:prstGeom prst="rect">
            <a:avLst/>
          </a:prstGeom>
          <a:noFill/>
          <a:ln/>
        </p:spPr>
        <p:txBody>
          <a:bodyPr wrap="square" rtlCol="0" anchor="ctr"/>
          <a:lstStyle/>
          <a:p>
            <a:pPr marL="0" indent="0">
              <a:buNone/>
            </a:pPr>
            <a:r>
              <a:rPr lang="en-US" b="1" dirty="0">
                <a:solidFill>
                  <a:srgbClr val="F4F4F8"/>
                </a:solidFill>
                <a:latin typeface="Calibri" pitchFamily="34" charset="0"/>
                <a:ea typeface="Calibri" pitchFamily="34" charset="-122"/>
                <a:cs typeface="Calibri" pitchFamily="34" charset="-120"/>
              </a:rPr>
              <a:t>Product</a:t>
            </a:r>
            <a:endParaRPr lang="en-US" dirty="0"/>
          </a:p>
        </p:txBody>
      </p:sp>
      <p:sp>
        <p:nvSpPr>
          <p:cNvPr id="9" name="Text 7"/>
          <p:cNvSpPr/>
          <p:nvPr/>
        </p:nvSpPr>
        <p:spPr>
          <a:xfrm>
            <a:off x="1207008" y="1508760"/>
            <a:ext cx="7269480" cy="746831"/>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Scrollable interactive data story on GitHub Pages, for music fans (not data scientists)</a:t>
            </a:r>
            <a:endParaRPr lang="en-US" dirty="0"/>
          </a:p>
        </p:txBody>
      </p:sp>
      <p:sp>
        <p:nvSpPr>
          <p:cNvPr id="10" name="Shape 8"/>
          <p:cNvSpPr/>
          <p:nvPr/>
        </p:nvSpPr>
        <p:spPr>
          <a:xfrm>
            <a:off x="484632" y="2659416"/>
            <a:ext cx="2578608" cy="2097377"/>
          </a:xfrm>
          <a:prstGeom prst="rect">
            <a:avLst/>
          </a:prstGeom>
          <a:solidFill>
            <a:srgbClr val="1C1C28"/>
          </a:solidFill>
          <a:ln w="6350">
            <a:solidFill>
              <a:srgbClr val="2E2E42"/>
            </a:solidFill>
            <a:prstDash val="solid"/>
          </a:ln>
        </p:spPr>
        <p:txBody>
          <a:bodyPr/>
          <a:lstStyle/>
          <a:p>
            <a:endParaRPr lang="de-CH"/>
          </a:p>
        </p:txBody>
      </p:sp>
      <p:sp>
        <p:nvSpPr>
          <p:cNvPr id="11" name="Shape 9"/>
          <p:cNvSpPr/>
          <p:nvPr/>
        </p:nvSpPr>
        <p:spPr>
          <a:xfrm>
            <a:off x="630936" y="2842298"/>
            <a:ext cx="438912" cy="438912"/>
          </a:xfrm>
          <a:prstGeom prst="rect">
            <a:avLst/>
          </a:prstGeom>
          <a:solidFill>
            <a:srgbClr val="1DB954"/>
          </a:solidFill>
          <a:ln w="12700">
            <a:solidFill>
              <a:srgbClr val="1DB954"/>
            </a:solidFill>
            <a:prstDash val="solid"/>
          </a:ln>
        </p:spPr>
        <p:txBody>
          <a:bodyPr/>
          <a:lstStyle/>
          <a:p>
            <a:endParaRPr lang="de-CH"/>
          </a:p>
        </p:txBody>
      </p:sp>
      <p:sp>
        <p:nvSpPr>
          <p:cNvPr id="12" name="Text 10"/>
          <p:cNvSpPr/>
          <p:nvPr/>
        </p:nvSpPr>
        <p:spPr>
          <a:xfrm>
            <a:off x="630936" y="2842298"/>
            <a:ext cx="438912" cy="438912"/>
          </a:xfrm>
          <a:prstGeom prst="rect">
            <a:avLst/>
          </a:prstGeom>
          <a:noFill/>
          <a:ln/>
        </p:spPr>
        <p:txBody>
          <a:bodyPr wrap="square" lIns="0" tIns="0" rIns="0" bIns="0" rtlCol="0" anchor="ctr"/>
          <a:lstStyle/>
          <a:p>
            <a:pPr marL="0" indent="0" algn="ctr">
              <a:buNone/>
            </a:pPr>
            <a:r>
              <a:rPr lang="en-US" b="1" dirty="0">
                <a:solidFill>
                  <a:srgbClr val="0E0E16"/>
                </a:solidFill>
              </a:rPr>
              <a:t>6</a:t>
            </a:r>
            <a:endParaRPr lang="en-US" dirty="0"/>
          </a:p>
        </p:txBody>
      </p:sp>
      <p:sp>
        <p:nvSpPr>
          <p:cNvPr id="13" name="Text 11"/>
          <p:cNvSpPr/>
          <p:nvPr/>
        </p:nvSpPr>
        <p:spPr>
          <a:xfrm>
            <a:off x="1179576" y="2915875"/>
            <a:ext cx="1737360" cy="274320"/>
          </a:xfrm>
          <a:prstGeom prst="rect">
            <a:avLst/>
          </a:prstGeom>
          <a:noFill/>
          <a:ln/>
        </p:spPr>
        <p:txBody>
          <a:bodyPr wrap="square" rtlCol="0" anchor="ctr"/>
          <a:lstStyle/>
          <a:p>
            <a:pPr marL="0" indent="0">
              <a:buNone/>
            </a:pPr>
            <a:r>
              <a:rPr lang="en-US" b="1" dirty="0">
                <a:solidFill>
                  <a:srgbClr val="F4F4F8"/>
                </a:solidFill>
                <a:latin typeface="Calibri" pitchFamily="34" charset="0"/>
                <a:ea typeface="Calibri" pitchFamily="34" charset="-122"/>
                <a:cs typeface="Calibri" pitchFamily="34" charset="-120"/>
              </a:rPr>
              <a:t>Sections</a:t>
            </a:r>
            <a:endParaRPr lang="en-US" dirty="0"/>
          </a:p>
        </p:txBody>
      </p:sp>
      <p:sp>
        <p:nvSpPr>
          <p:cNvPr id="14" name="Text 12"/>
          <p:cNvSpPr/>
          <p:nvPr/>
        </p:nvSpPr>
        <p:spPr>
          <a:xfrm>
            <a:off x="630936" y="3317786"/>
            <a:ext cx="2286000" cy="976494"/>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Popularity → features → genres → hits → mood map → slider</a:t>
            </a:r>
            <a:endParaRPr lang="en-US" dirty="0"/>
          </a:p>
        </p:txBody>
      </p:sp>
      <p:sp>
        <p:nvSpPr>
          <p:cNvPr id="15" name="Shape 13"/>
          <p:cNvSpPr/>
          <p:nvPr/>
        </p:nvSpPr>
        <p:spPr>
          <a:xfrm>
            <a:off x="3264408" y="2659418"/>
            <a:ext cx="2578608" cy="2097378"/>
          </a:xfrm>
          <a:prstGeom prst="rect">
            <a:avLst/>
          </a:prstGeom>
          <a:solidFill>
            <a:srgbClr val="1C1C28"/>
          </a:solidFill>
          <a:ln w="6350">
            <a:solidFill>
              <a:srgbClr val="2E2E42"/>
            </a:solidFill>
            <a:prstDash val="solid"/>
          </a:ln>
        </p:spPr>
        <p:txBody>
          <a:bodyPr/>
          <a:lstStyle/>
          <a:p>
            <a:endParaRPr lang="de-CH"/>
          </a:p>
        </p:txBody>
      </p:sp>
      <p:sp>
        <p:nvSpPr>
          <p:cNvPr id="16" name="Shape 14"/>
          <p:cNvSpPr/>
          <p:nvPr/>
        </p:nvSpPr>
        <p:spPr>
          <a:xfrm>
            <a:off x="3410712" y="2842298"/>
            <a:ext cx="438912" cy="438912"/>
          </a:xfrm>
          <a:prstGeom prst="rect">
            <a:avLst/>
          </a:prstGeom>
          <a:solidFill>
            <a:srgbClr val="1DB954"/>
          </a:solidFill>
          <a:ln w="12700">
            <a:solidFill>
              <a:srgbClr val="1DB954"/>
            </a:solidFill>
            <a:prstDash val="solid"/>
          </a:ln>
        </p:spPr>
        <p:txBody>
          <a:bodyPr/>
          <a:lstStyle/>
          <a:p>
            <a:endParaRPr lang="de-CH"/>
          </a:p>
        </p:txBody>
      </p:sp>
      <p:sp>
        <p:nvSpPr>
          <p:cNvPr id="17" name="Text 15"/>
          <p:cNvSpPr/>
          <p:nvPr/>
        </p:nvSpPr>
        <p:spPr>
          <a:xfrm>
            <a:off x="3410712" y="2842298"/>
            <a:ext cx="438912" cy="438912"/>
          </a:xfrm>
          <a:prstGeom prst="rect">
            <a:avLst/>
          </a:prstGeom>
          <a:noFill/>
          <a:ln/>
        </p:spPr>
        <p:txBody>
          <a:bodyPr wrap="square" lIns="0" tIns="0" rIns="0" bIns="0" rtlCol="0" anchor="ctr"/>
          <a:lstStyle/>
          <a:p>
            <a:pPr marL="0" indent="0" algn="ctr">
              <a:buNone/>
            </a:pPr>
            <a:r>
              <a:rPr lang="en-US" b="1" dirty="0">
                <a:solidFill>
                  <a:srgbClr val="0E0E16"/>
                </a:solidFill>
              </a:rPr>
              <a:t>★</a:t>
            </a:r>
            <a:endParaRPr lang="en-US" dirty="0"/>
          </a:p>
        </p:txBody>
      </p:sp>
      <p:sp>
        <p:nvSpPr>
          <p:cNvPr id="18" name="Text 16"/>
          <p:cNvSpPr/>
          <p:nvPr/>
        </p:nvSpPr>
        <p:spPr>
          <a:xfrm>
            <a:off x="3956375" y="2918640"/>
            <a:ext cx="1737360" cy="274320"/>
          </a:xfrm>
          <a:prstGeom prst="rect">
            <a:avLst/>
          </a:prstGeom>
          <a:noFill/>
          <a:ln/>
        </p:spPr>
        <p:txBody>
          <a:bodyPr wrap="square" rtlCol="0" anchor="ctr"/>
          <a:lstStyle/>
          <a:p>
            <a:pPr marL="0" indent="0">
              <a:buNone/>
            </a:pPr>
            <a:r>
              <a:rPr lang="en-US" b="1" dirty="0">
                <a:solidFill>
                  <a:srgbClr val="F4F4F8"/>
                </a:solidFill>
                <a:latin typeface="Calibri" pitchFamily="34" charset="0"/>
                <a:ea typeface="Calibri" pitchFamily="34" charset="-122"/>
                <a:cs typeface="Calibri" pitchFamily="34" charset="-120"/>
              </a:rPr>
              <a:t>Differentiator</a:t>
            </a:r>
            <a:endParaRPr lang="en-US" dirty="0"/>
          </a:p>
        </p:txBody>
      </p:sp>
      <p:sp>
        <p:nvSpPr>
          <p:cNvPr id="19" name="Text 17"/>
          <p:cNvSpPr/>
          <p:nvPr/>
        </p:nvSpPr>
        <p:spPr>
          <a:xfrm>
            <a:off x="3410712" y="3317785"/>
            <a:ext cx="2286000" cy="1279523"/>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"What would your song score?": readers test their own track profile</a:t>
            </a:r>
            <a:endParaRPr lang="en-US" dirty="0"/>
          </a:p>
        </p:txBody>
      </p:sp>
      <p:sp>
        <p:nvSpPr>
          <p:cNvPr id="20" name="Shape 18"/>
          <p:cNvSpPr/>
          <p:nvPr/>
        </p:nvSpPr>
        <p:spPr>
          <a:xfrm>
            <a:off x="6044184" y="2659417"/>
            <a:ext cx="2578608" cy="2097379"/>
          </a:xfrm>
          <a:prstGeom prst="rect">
            <a:avLst/>
          </a:prstGeom>
          <a:solidFill>
            <a:srgbClr val="1C1C28"/>
          </a:solidFill>
          <a:ln w="6350">
            <a:solidFill>
              <a:srgbClr val="2E2E42"/>
            </a:solidFill>
            <a:prstDash val="solid"/>
          </a:ln>
        </p:spPr>
        <p:txBody>
          <a:bodyPr/>
          <a:lstStyle/>
          <a:p>
            <a:endParaRPr lang="de-CH"/>
          </a:p>
        </p:txBody>
      </p:sp>
      <p:sp>
        <p:nvSpPr>
          <p:cNvPr id="21" name="Shape 19"/>
          <p:cNvSpPr/>
          <p:nvPr/>
        </p:nvSpPr>
        <p:spPr>
          <a:xfrm>
            <a:off x="6190488" y="2842298"/>
            <a:ext cx="438912" cy="438912"/>
          </a:xfrm>
          <a:prstGeom prst="rect">
            <a:avLst/>
          </a:prstGeom>
          <a:solidFill>
            <a:srgbClr val="1DB954"/>
          </a:solidFill>
          <a:ln w="12700">
            <a:solidFill>
              <a:srgbClr val="1DB954"/>
            </a:solidFill>
            <a:prstDash val="solid"/>
          </a:ln>
        </p:spPr>
        <p:txBody>
          <a:bodyPr/>
          <a:lstStyle/>
          <a:p>
            <a:endParaRPr lang="de-CH"/>
          </a:p>
        </p:txBody>
      </p:sp>
      <p:sp>
        <p:nvSpPr>
          <p:cNvPr id="22" name="Text 20"/>
          <p:cNvSpPr/>
          <p:nvPr/>
        </p:nvSpPr>
        <p:spPr>
          <a:xfrm>
            <a:off x="6190488" y="2842298"/>
            <a:ext cx="438912" cy="438912"/>
          </a:xfrm>
          <a:prstGeom prst="rect">
            <a:avLst/>
          </a:prstGeom>
          <a:noFill/>
          <a:ln/>
        </p:spPr>
        <p:txBody>
          <a:bodyPr wrap="square" lIns="0" tIns="0" rIns="0" bIns="0" rtlCol="0" anchor="ctr"/>
          <a:lstStyle/>
          <a:p>
            <a:pPr marL="0" indent="0" algn="ctr">
              <a:buNone/>
            </a:pPr>
            <a:r>
              <a:rPr lang="en-US" b="1" dirty="0">
                <a:solidFill>
                  <a:srgbClr val="0E0E16"/>
                </a:solidFill>
              </a:rPr>
              <a:t>✓</a:t>
            </a:r>
            <a:endParaRPr lang="en-US" dirty="0"/>
          </a:p>
        </p:txBody>
      </p:sp>
      <p:sp>
        <p:nvSpPr>
          <p:cNvPr id="23" name="Text 21"/>
          <p:cNvSpPr/>
          <p:nvPr/>
        </p:nvSpPr>
        <p:spPr>
          <a:xfrm>
            <a:off x="6739128" y="2924594"/>
            <a:ext cx="1737360" cy="274320"/>
          </a:xfrm>
          <a:prstGeom prst="rect">
            <a:avLst/>
          </a:prstGeom>
          <a:noFill/>
          <a:ln/>
        </p:spPr>
        <p:txBody>
          <a:bodyPr wrap="square" rtlCol="0" anchor="ctr"/>
          <a:lstStyle/>
          <a:p>
            <a:pPr marL="0" indent="0">
              <a:buNone/>
            </a:pPr>
            <a:r>
              <a:rPr lang="en-US" b="1" dirty="0">
                <a:solidFill>
                  <a:srgbClr val="F4F4F8"/>
                </a:solidFill>
                <a:latin typeface="Calibri" pitchFamily="34" charset="0"/>
                <a:ea typeface="Calibri" pitchFamily="34" charset="-122"/>
                <a:cs typeface="Calibri" pitchFamily="34" charset="-120"/>
              </a:rPr>
              <a:t>Principle</a:t>
            </a:r>
            <a:endParaRPr lang="en-US" dirty="0"/>
          </a:p>
        </p:txBody>
      </p:sp>
      <p:sp>
        <p:nvSpPr>
          <p:cNvPr id="24" name="Text 22"/>
          <p:cNvSpPr/>
          <p:nvPr/>
        </p:nvSpPr>
        <p:spPr>
          <a:xfrm>
            <a:off x="6190488" y="3317785"/>
            <a:ext cx="2286000" cy="1279523"/>
          </a:xfrm>
          <a:prstGeom prst="rect">
            <a:avLst/>
          </a:prstGeom>
          <a:noFill/>
          <a:ln/>
        </p:spPr>
        <p:txBody>
          <a:bodyPr wrap="square" rtlCol="0" anchor="ctr"/>
          <a:lstStyle/>
          <a:p>
            <a:pPr marL="0" indent="0">
              <a:buNone/>
            </a:pPr>
            <a:r>
              <a:rPr lang="en-US" dirty="0">
                <a:solidFill>
                  <a:srgbClr val="9CA3B8"/>
                </a:solidFill>
                <a:latin typeface="Calibri" pitchFamily="34" charset="0"/>
                <a:ea typeface="Calibri" pitchFamily="34" charset="-122"/>
                <a:cs typeface="Calibri" pitchFamily="34" charset="-120"/>
              </a:rPr>
              <a:t>Patterns and associations, not causation or a hit formula</a:t>
            </a:r>
            <a:endParaRPr lang="en-US" dirty="0"/>
          </a:p>
        </p:txBody>
      </p:sp>
      <p:sp>
        <p:nvSpPr>
          <p:cNvPr id="25" name="Shape 0">
            <a:extLst>
              <a:ext uri="{FF2B5EF4-FFF2-40B4-BE49-F238E27FC236}">
                <a16:creationId xmlns:a16="http://schemas.microsoft.com/office/drawing/2014/main" id="{30B42C37-B7A3-8A64-8571-316F0F36A34D}"/>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26" name="Text 1">
            <a:extLst>
              <a:ext uri="{FF2B5EF4-FFF2-40B4-BE49-F238E27FC236}">
                <a16:creationId xmlns:a16="http://schemas.microsoft.com/office/drawing/2014/main" id="{23B580DC-EFC4-19A8-C338-A0FF748FB018}"/>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05</a:t>
            </a:r>
            <a:endParaRPr lang="en-US" sz="950" dirty="0"/>
          </a:p>
        </p:txBody>
      </p:sp>
      <p:sp>
        <p:nvSpPr>
          <p:cNvPr id="27" name="Text 2">
            <a:extLst>
              <a:ext uri="{FF2B5EF4-FFF2-40B4-BE49-F238E27FC236}">
                <a16:creationId xmlns:a16="http://schemas.microsoft.com/office/drawing/2014/main" id="{9D486DEA-4DA0-09D3-2D90-B0532C096544}"/>
              </a:ext>
            </a:extLst>
          </p:cNvPr>
          <p:cNvSpPr/>
          <p:nvPr/>
        </p:nvSpPr>
        <p:spPr>
          <a:xfrm>
            <a:off x="1005840" y="519081"/>
            <a:ext cx="1790524"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What we built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16"/>
        </a:solidFill>
        <a:effectLst/>
      </p:bgPr>
    </p:bg>
    <p:spTree>
      <p:nvGrpSpPr>
        <p:cNvPr id="1" name=""/>
        <p:cNvGrpSpPr/>
        <p:nvPr/>
      </p:nvGrpSpPr>
      <p:grpSpPr>
        <a:xfrm>
          <a:off x="0" y="0"/>
          <a:ext cx="0" cy="0"/>
          <a:chOff x="0" y="0"/>
          <a:chExt cx="0" cy="0"/>
        </a:xfrm>
      </p:grpSpPr>
      <p:sp>
        <p:nvSpPr>
          <p:cNvPr id="5" name="Shape 3"/>
          <p:cNvSpPr/>
          <p:nvPr/>
        </p:nvSpPr>
        <p:spPr>
          <a:xfrm>
            <a:off x="457200" y="1627632"/>
            <a:ext cx="2633472" cy="1042416"/>
          </a:xfrm>
          <a:prstGeom prst="rect">
            <a:avLst/>
          </a:prstGeom>
          <a:solidFill>
            <a:srgbClr val="1C1C28"/>
          </a:solidFill>
          <a:ln w="6350">
            <a:solidFill>
              <a:srgbClr val="2E2E42"/>
            </a:solidFill>
            <a:prstDash val="solid"/>
          </a:ln>
        </p:spPr>
        <p:txBody>
          <a:bodyPr/>
          <a:lstStyle/>
          <a:p>
            <a:endParaRPr lang="de-CH"/>
          </a:p>
        </p:txBody>
      </p:sp>
      <p:sp>
        <p:nvSpPr>
          <p:cNvPr id="6" name="Text 4"/>
          <p:cNvSpPr/>
          <p:nvPr/>
        </p:nvSpPr>
        <p:spPr>
          <a:xfrm>
            <a:off x="603504" y="1719072"/>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Language</a:t>
            </a:r>
            <a:endParaRPr lang="en-US" dirty="0"/>
          </a:p>
        </p:txBody>
      </p:sp>
      <p:sp>
        <p:nvSpPr>
          <p:cNvPr id="7" name="Text 5"/>
          <p:cNvSpPr/>
          <p:nvPr/>
        </p:nvSpPr>
        <p:spPr>
          <a:xfrm>
            <a:off x="603504" y="2048256"/>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Python</a:t>
            </a:r>
            <a:endParaRPr lang="en-US" dirty="0"/>
          </a:p>
        </p:txBody>
      </p:sp>
      <p:sp>
        <p:nvSpPr>
          <p:cNvPr id="8" name="Shape 6"/>
          <p:cNvSpPr/>
          <p:nvPr/>
        </p:nvSpPr>
        <p:spPr>
          <a:xfrm>
            <a:off x="3255264" y="1627632"/>
            <a:ext cx="2633472" cy="1042416"/>
          </a:xfrm>
          <a:prstGeom prst="rect">
            <a:avLst/>
          </a:prstGeom>
          <a:solidFill>
            <a:srgbClr val="1C1C28"/>
          </a:solidFill>
          <a:ln w="6350">
            <a:solidFill>
              <a:srgbClr val="2E2E42"/>
            </a:solidFill>
            <a:prstDash val="solid"/>
          </a:ln>
        </p:spPr>
        <p:txBody>
          <a:bodyPr/>
          <a:lstStyle/>
          <a:p>
            <a:endParaRPr lang="de-CH"/>
          </a:p>
        </p:txBody>
      </p:sp>
      <p:sp>
        <p:nvSpPr>
          <p:cNvPr id="9" name="Text 7"/>
          <p:cNvSpPr/>
          <p:nvPr/>
        </p:nvSpPr>
        <p:spPr>
          <a:xfrm>
            <a:off x="3401568" y="1719072"/>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Data processing</a:t>
            </a:r>
            <a:endParaRPr lang="en-US" dirty="0"/>
          </a:p>
        </p:txBody>
      </p:sp>
      <p:sp>
        <p:nvSpPr>
          <p:cNvPr id="10" name="Text 8"/>
          <p:cNvSpPr/>
          <p:nvPr/>
        </p:nvSpPr>
        <p:spPr>
          <a:xfrm>
            <a:off x="3401568" y="2048256"/>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pandas, seaborn, matplotlib</a:t>
            </a:r>
            <a:endParaRPr lang="en-US" dirty="0"/>
          </a:p>
        </p:txBody>
      </p:sp>
      <p:sp>
        <p:nvSpPr>
          <p:cNvPr id="11" name="Shape 9"/>
          <p:cNvSpPr/>
          <p:nvPr/>
        </p:nvSpPr>
        <p:spPr>
          <a:xfrm>
            <a:off x="6053328" y="1627632"/>
            <a:ext cx="2633472" cy="1042416"/>
          </a:xfrm>
          <a:prstGeom prst="rect">
            <a:avLst/>
          </a:prstGeom>
          <a:solidFill>
            <a:srgbClr val="1C1C28"/>
          </a:solidFill>
          <a:ln w="6350">
            <a:solidFill>
              <a:srgbClr val="2E2E42"/>
            </a:solidFill>
            <a:prstDash val="solid"/>
          </a:ln>
        </p:spPr>
        <p:txBody>
          <a:bodyPr/>
          <a:lstStyle/>
          <a:p>
            <a:endParaRPr lang="de-CH"/>
          </a:p>
        </p:txBody>
      </p:sp>
      <p:sp>
        <p:nvSpPr>
          <p:cNvPr id="12" name="Text 10"/>
          <p:cNvSpPr/>
          <p:nvPr/>
        </p:nvSpPr>
        <p:spPr>
          <a:xfrm>
            <a:off x="6199632" y="1719072"/>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Visualisations</a:t>
            </a:r>
            <a:endParaRPr lang="en-US" dirty="0"/>
          </a:p>
        </p:txBody>
      </p:sp>
      <p:sp>
        <p:nvSpPr>
          <p:cNvPr id="13" name="Text 11"/>
          <p:cNvSpPr/>
          <p:nvPr/>
        </p:nvSpPr>
        <p:spPr>
          <a:xfrm>
            <a:off x="6199632" y="2048256"/>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Bokeh: interactive charts</a:t>
            </a:r>
            <a:endParaRPr lang="en-US" dirty="0"/>
          </a:p>
        </p:txBody>
      </p:sp>
      <p:sp>
        <p:nvSpPr>
          <p:cNvPr id="14" name="Shape 12"/>
          <p:cNvSpPr/>
          <p:nvPr/>
        </p:nvSpPr>
        <p:spPr>
          <a:xfrm>
            <a:off x="457200" y="2871216"/>
            <a:ext cx="2633472" cy="1042416"/>
          </a:xfrm>
          <a:prstGeom prst="rect">
            <a:avLst/>
          </a:prstGeom>
          <a:solidFill>
            <a:srgbClr val="1C1C28"/>
          </a:solidFill>
          <a:ln w="6350">
            <a:solidFill>
              <a:srgbClr val="2E2E42"/>
            </a:solidFill>
            <a:prstDash val="solid"/>
          </a:ln>
        </p:spPr>
        <p:txBody>
          <a:bodyPr/>
          <a:lstStyle/>
          <a:p>
            <a:endParaRPr lang="de-CH"/>
          </a:p>
        </p:txBody>
      </p:sp>
      <p:sp>
        <p:nvSpPr>
          <p:cNvPr id="15" name="Text 13"/>
          <p:cNvSpPr/>
          <p:nvPr/>
        </p:nvSpPr>
        <p:spPr>
          <a:xfrm>
            <a:off x="603504" y="2962656"/>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Publishing</a:t>
            </a:r>
            <a:endParaRPr lang="en-US" dirty="0"/>
          </a:p>
        </p:txBody>
      </p:sp>
      <p:sp>
        <p:nvSpPr>
          <p:cNvPr id="16" name="Text 14"/>
          <p:cNvSpPr/>
          <p:nvPr/>
        </p:nvSpPr>
        <p:spPr>
          <a:xfrm>
            <a:off x="603504" y="3291840"/>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Quarto → static site on GitHub Pages</a:t>
            </a:r>
            <a:endParaRPr lang="en-US" dirty="0"/>
          </a:p>
        </p:txBody>
      </p:sp>
      <p:sp>
        <p:nvSpPr>
          <p:cNvPr id="17" name="Shape 15"/>
          <p:cNvSpPr/>
          <p:nvPr/>
        </p:nvSpPr>
        <p:spPr>
          <a:xfrm>
            <a:off x="3255264" y="2871216"/>
            <a:ext cx="2633472" cy="1042416"/>
          </a:xfrm>
          <a:prstGeom prst="rect">
            <a:avLst/>
          </a:prstGeom>
          <a:solidFill>
            <a:srgbClr val="1C1C28"/>
          </a:solidFill>
          <a:ln w="6350">
            <a:solidFill>
              <a:srgbClr val="2E2E42"/>
            </a:solidFill>
            <a:prstDash val="solid"/>
          </a:ln>
        </p:spPr>
        <p:txBody>
          <a:bodyPr/>
          <a:lstStyle/>
          <a:p>
            <a:endParaRPr lang="de-CH"/>
          </a:p>
        </p:txBody>
      </p:sp>
      <p:sp>
        <p:nvSpPr>
          <p:cNvPr id="18" name="Text 16"/>
          <p:cNvSpPr/>
          <p:nvPr/>
        </p:nvSpPr>
        <p:spPr>
          <a:xfrm>
            <a:off x="3401568" y="2962656"/>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Interactivity</a:t>
            </a:r>
            <a:endParaRPr lang="en-US" dirty="0"/>
          </a:p>
        </p:txBody>
      </p:sp>
      <p:sp>
        <p:nvSpPr>
          <p:cNvPr id="19" name="Text 17"/>
          <p:cNvSpPr/>
          <p:nvPr/>
        </p:nvSpPr>
        <p:spPr>
          <a:xfrm>
            <a:off x="3401568" y="3291840"/>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Bokeh widgets via BokehJS</a:t>
            </a:r>
            <a:endParaRPr lang="en-US" dirty="0"/>
          </a:p>
        </p:txBody>
      </p:sp>
      <p:sp>
        <p:nvSpPr>
          <p:cNvPr id="20" name="Shape 18"/>
          <p:cNvSpPr/>
          <p:nvPr/>
        </p:nvSpPr>
        <p:spPr>
          <a:xfrm>
            <a:off x="6053328" y="2871216"/>
            <a:ext cx="2633472" cy="1042416"/>
          </a:xfrm>
          <a:prstGeom prst="rect">
            <a:avLst/>
          </a:prstGeom>
          <a:solidFill>
            <a:srgbClr val="1C1C28"/>
          </a:solidFill>
          <a:ln w="6350">
            <a:solidFill>
              <a:srgbClr val="2E2E42"/>
            </a:solidFill>
            <a:prstDash val="solid"/>
          </a:ln>
        </p:spPr>
        <p:txBody>
          <a:bodyPr/>
          <a:lstStyle/>
          <a:p>
            <a:endParaRPr lang="de-CH"/>
          </a:p>
        </p:txBody>
      </p:sp>
      <p:sp>
        <p:nvSpPr>
          <p:cNvPr id="21" name="Text 19"/>
          <p:cNvSpPr/>
          <p:nvPr/>
        </p:nvSpPr>
        <p:spPr>
          <a:xfrm>
            <a:off x="6199632" y="2962656"/>
            <a:ext cx="2340864" cy="274320"/>
          </a:xfrm>
          <a:prstGeom prst="rect">
            <a:avLst/>
          </a:prstGeom>
          <a:noFill/>
          <a:ln/>
        </p:spPr>
        <p:txBody>
          <a:bodyPr wrap="square" rtlCol="0" anchor="ctr"/>
          <a:lstStyle/>
          <a:p>
            <a:pPr marL="0" indent="0">
              <a:buNone/>
            </a:pPr>
            <a:r>
              <a:rPr lang="en-US" b="1" dirty="0">
                <a:solidFill>
                  <a:srgbClr val="1ED760"/>
                </a:solidFill>
                <a:latin typeface="Calibri" pitchFamily="34" charset="0"/>
                <a:ea typeface="Calibri" pitchFamily="34" charset="-122"/>
                <a:cs typeface="Calibri" pitchFamily="34" charset="-120"/>
              </a:rPr>
              <a:t>Evaluation</a:t>
            </a:r>
            <a:endParaRPr lang="en-US" dirty="0"/>
          </a:p>
        </p:txBody>
      </p:sp>
      <p:sp>
        <p:nvSpPr>
          <p:cNvPr id="22" name="Text 20"/>
          <p:cNvSpPr/>
          <p:nvPr/>
        </p:nvSpPr>
        <p:spPr>
          <a:xfrm>
            <a:off x="6199632" y="3291840"/>
            <a:ext cx="2340864" cy="51206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SUS 78.5, 5 usability tests</a:t>
            </a:r>
            <a:endParaRPr lang="en-US" dirty="0"/>
          </a:p>
        </p:txBody>
      </p:sp>
      <p:sp>
        <p:nvSpPr>
          <p:cNvPr id="25" name="Shape 0">
            <a:extLst>
              <a:ext uri="{FF2B5EF4-FFF2-40B4-BE49-F238E27FC236}">
                <a16:creationId xmlns:a16="http://schemas.microsoft.com/office/drawing/2014/main" id="{7215640D-CE5B-F749-8B4A-AF007B813563}"/>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26" name="Text 1">
            <a:extLst>
              <a:ext uri="{FF2B5EF4-FFF2-40B4-BE49-F238E27FC236}">
                <a16:creationId xmlns:a16="http://schemas.microsoft.com/office/drawing/2014/main" id="{94C9C3D3-6F78-B4FA-7D57-36442A776568}"/>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06</a:t>
            </a:r>
            <a:endParaRPr lang="en-US" sz="950" dirty="0"/>
          </a:p>
        </p:txBody>
      </p:sp>
      <p:sp>
        <p:nvSpPr>
          <p:cNvPr id="27" name="Text 2">
            <a:extLst>
              <a:ext uri="{FF2B5EF4-FFF2-40B4-BE49-F238E27FC236}">
                <a16:creationId xmlns:a16="http://schemas.microsoft.com/office/drawing/2014/main" id="{F73C42CD-709F-CF50-5A76-DA39EF4DEF76}"/>
              </a:ext>
            </a:extLst>
          </p:cNvPr>
          <p:cNvSpPr/>
          <p:nvPr/>
        </p:nvSpPr>
        <p:spPr>
          <a:xfrm>
            <a:off x="1005840" y="519081"/>
            <a:ext cx="1790524"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Technicalities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08C8-73EC-57CD-EB48-6D55FEB7884E}"/>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130DFCB7-3E83-2B19-AF1E-9747537AA9E2}"/>
              </a:ext>
            </a:extLst>
          </p:cNvPr>
          <p:cNvSpPr/>
          <p:nvPr/>
        </p:nvSpPr>
        <p:spPr>
          <a:xfrm>
            <a:off x="457200" y="1142999"/>
            <a:ext cx="3931920" cy="1659021"/>
          </a:xfrm>
          <a:prstGeom prst="rect">
            <a:avLst/>
          </a:prstGeom>
          <a:solidFill>
            <a:srgbClr val="1C1C28"/>
          </a:solidFill>
          <a:ln w="6350">
            <a:solidFill>
              <a:srgbClr val="2E2E42"/>
            </a:solidFill>
            <a:prstDash val="solid"/>
          </a:ln>
        </p:spPr>
        <p:txBody>
          <a:bodyPr/>
          <a:lstStyle/>
          <a:p>
            <a:endParaRPr lang="de-CH"/>
          </a:p>
        </p:txBody>
      </p:sp>
      <p:sp>
        <p:nvSpPr>
          <p:cNvPr id="6" name="Text 4">
            <a:extLst>
              <a:ext uri="{FF2B5EF4-FFF2-40B4-BE49-F238E27FC236}">
                <a16:creationId xmlns:a16="http://schemas.microsoft.com/office/drawing/2014/main" id="{9A79B737-D899-F60C-6D20-39FE3D1ED869}"/>
              </a:ext>
            </a:extLst>
          </p:cNvPr>
          <p:cNvSpPr/>
          <p:nvPr/>
        </p:nvSpPr>
        <p:spPr>
          <a:xfrm>
            <a:off x="603504" y="1234439"/>
            <a:ext cx="3639312" cy="572971"/>
          </a:xfrm>
          <a:prstGeom prst="rect">
            <a:avLst/>
          </a:prstGeom>
          <a:noFill/>
          <a:ln/>
        </p:spPr>
        <p:txBody>
          <a:bodyPr wrap="square" rtlCol="0" anchor="ctr"/>
          <a:lstStyle/>
          <a:p>
            <a:pPr marL="0" indent="0">
              <a:buNone/>
            </a:pPr>
            <a:r>
              <a:rPr lang="en-US" sz="4000" b="1" dirty="0">
                <a:solidFill>
                  <a:srgbClr val="9B5DE5"/>
                </a:solidFill>
                <a:latin typeface="Calibri" pitchFamily="34" charset="0"/>
                <a:ea typeface="Calibri" pitchFamily="34" charset="-122"/>
                <a:cs typeface="Calibri" pitchFamily="34" charset="-120"/>
              </a:rPr>
              <a:t>10.5 %</a:t>
            </a:r>
            <a:endParaRPr lang="en-US" sz="4000" dirty="0">
              <a:solidFill>
                <a:srgbClr val="9B5DE5"/>
              </a:solidFill>
            </a:endParaRPr>
          </a:p>
        </p:txBody>
      </p:sp>
      <p:sp>
        <p:nvSpPr>
          <p:cNvPr id="7" name="Text 5">
            <a:extLst>
              <a:ext uri="{FF2B5EF4-FFF2-40B4-BE49-F238E27FC236}">
                <a16:creationId xmlns:a16="http://schemas.microsoft.com/office/drawing/2014/main" id="{121BC306-66FE-2921-0D30-C6565E7650F8}"/>
              </a:ext>
            </a:extLst>
          </p:cNvPr>
          <p:cNvSpPr/>
          <p:nvPr/>
        </p:nvSpPr>
        <p:spPr>
          <a:xfrm>
            <a:off x="548640" y="2007402"/>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Of tracks score zero</a:t>
            </a:r>
            <a:endParaRPr lang="en-US" dirty="0"/>
          </a:p>
        </p:txBody>
      </p:sp>
      <p:sp>
        <p:nvSpPr>
          <p:cNvPr id="8" name="Shape 6">
            <a:extLst>
              <a:ext uri="{FF2B5EF4-FFF2-40B4-BE49-F238E27FC236}">
                <a16:creationId xmlns:a16="http://schemas.microsoft.com/office/drawing/2014/main" id="{C89FEEFD-3BDF-2AAB-0085-FAC79FBCF853}"/>
              </a:ext>
            </a:extLst>
          </p:cNvPr>
          <p:cNvSpPr/>
          <p:nvPr/>
        </p:nvSpPr>
        <p:spPr>
          <a:xfrm>
            <a:off x="4663440" y="1143000"/>
            <a:ext cx="3931920" cy="1659020"/>
          </a:xfrm>
          <a:prstGeom prst="rect">
            <a:avLst/>
          </a:prstGeom>
          <a:solidFill>
            <a:srgbClr val="1C1C28"/>
          </a:solidFill>
          <a:ln w="6350">
            <a:solidFill>
              <a:srgbClr val="2E2E42"/>
            </a:solidFill>
            <a:prstDash val="solid"/>
          </a:ln>
        </p:spPr>
        <p:txBody>
          <a:bodyPr/>
          <a:lstStyle/>
          <a:p>
            <a:endParaRPr lang="de-CH"/>
          </a:p>
        </p:txBody>
      </p:sp>
      <p:sp>
        <p:nvSpPr>
          <p:cNvPr id="9" name="Text 7">
            <a:extLst>
              <a:ext uri="{FF2B5EF4-FFF2-40B4-BE49-F238E27FC236}">
                <a16:creationId xmlns:a16="http://schemas.microsoft.com/office/drawing/2014/main" id="{D6BF5B04-1410-4062-0E12-1D69DE272D1D}"/>
              </a:ext>
            </a:extLst>
          </p:cNvPr>
          <p:cNvSpPr/>
          <p:nvPr/>
        </p:nvSpPr>
        <p:spPr>
          <a:xfrm>
            <a:off x="4809744" y="1234440"/>
            <a:ext cx="3639312" cy="572970"/>
          </a:xfrm>
          <a:prstGeom prst="rect">
            <a:avLst/>
          </a:prstGeom>
          <a:noFill/>
          <a:ln/>
        </p:spPr>
        <p:txBody>
          <a:bodyPr wrap="square" rtlCol="0" anchor="ctr"/>
          <a:lstStyle/>
          <a:p>
            <a:pPr marL="0" indent="0">
              <a:buNone/>
            </a:pPr>
            <a:r>
              <a:rPr lang="en-US" sz="4000" b="1" dirty="0">
                <a:solidFill>
                  <a:srgbClr val="9B5DE5"/>
                </a:solidFill>
                <a:latin typeface="Calibri" pitchFamily="34" charset="0"/>
                <a:ea typeface="Calibri" pitchFamily="34" charset="-122"/>
                <a:cs typeface="Calibri" pitchFamily="34" charset="-120"/>
              </a:rPr>
              <a:t>-0.13</a:t>
            </a:r>
            <a:endParaRPr lang="en-US" sz="4000" dirty="0">
              <a:solidFill>
                <a:srgbClr val="9B5DE5"/>
              </a:solidFill>
            </a:endParaRPr>
          </a:p>
        </p:txBody>
      </p:sp>
      <p:sp>
        <p:nvSpPr>
          <p:cNvPr id="10" name="Text 8">
            <a:extLst>
              <a:ext uri="{FF2B5EF4-FFF2-40B4-BE49-F238E27FC236}">
                <a16:creationId xmlns:a16="http://schemas.microsoft.com/office/drawing/2014/main" id="{0F2485F4-A7C9-087F-73BF-02F16B14DE71}"/>
              </a:ext>
            </a:extLst>
          </p:cNvPr>
          <p:cNvSpPr/>
          <p:nvPr/>
        </p:nvSpPr>
        <p:spPr>
          <a:xfrm>
            <a:off x="4809744" y="2007402"/>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Strongest correlation between any audio feature and popularity</a:t>
            </a:r>
            <a:endParaRPr lang="en-US" dirty="0"/>
          </a:p>
        </p:txBody>
      </p:sp>
      <p:sp>
        <p:nvSpPr>
          <p:cNvPr id="11" name="Shape 9">
            <a:extLst>
              <a:ext uri="{FF2B5EF4-FFF2-40B4-BE49-F238E27FC236}">
                <a16:creationId xmlns:a16="http://schemas.microsoft.com/office/drawing/2014/main" id="{336B05C2-8AD5-C9D4-F956-A348BE424EE9}"/>
              </a:ext>
            </a:extLst>
          </p:cNvPr>
          <p:cNvSpPr/>
          <p:nvPr/>
        </p:nvSpPr>
        <p:spPr>
          <a:xfrm>
            <a:off x="457200" y="3096753"/>
            <a:ext cx="3931920" cy="1659021"/>
          </a:xfrm>
          <a:prstGeom prst="rect">
            <a:avLst/>
          </a:prstGeom>
          <a:solidFill>
            <a:srgbClr val="1C1C28"/>
          </a:solidFill>
          <a:ln w="6350">
            <a:solidFill>
              <a:srgbClr val="2E2E42"/>
            </a:solidFill>
            <a:prstDash val="solid"/>
          </a:ln>
        </p:spPr>
        <p:txBody>
          <a:bodyPr/>
          <a:lstStyle/>
          <a:p>
            <a:endParaRPr lang="de-CH"/>
          </a:p>
        </p:txBody>
      </p:sp>
      <p:sp>
        <p:nvSpPr>
          <p:cNvPr id="12" name="Text 10">
            <a:extLst>
              <a:ext uri="{FF2B5EF4-FFF2-40B4-BE49-F238E27FC236}">
                <a16:creationId xmlns:a16="http://schemas.microsoft.com/office/drawing/2014/main" id="{0547D497-336F-B1D3-FC1E-595FD8959CB3}"/>
              </a:ext>
            </a:extLst>
          </p:cNvPr>
          <p:cNvSpPr/>
          <p:nvPr/>
        </p:nvSpPr>
        <p:spPr>
          <a:xfrm>
            <a:off x="603504" y="3188193"/>
            <a:ext cx="3639312" cy="581701"/>
          </a:xfrm>
          <a:prstGeom prst="rect">
            <a:avLst/>
          </a:prstGeom>
          <a:noFill/>
          <a:ln/>
        </p:spPr>
        <p:txBody>
          <a:bodyPr wrap="square" rtlCol="0" anchor="ctr"/>
          <a:lstStyle/>
          <a:p>
            <a:pPr marL="0" indent="0">
              <a:buNone/>
            </a:pPr>
            <a:r>
              <a:rPr lang="en-US" sz="4000" b="1" dirty="0">
                <a:solidFill>
                  <a:srgbClr val="1ED760"/>
                </a:solidFill>
                <a:latin typeface="Calibri" pitchFamily="34" charset="0"/>
                <a:ea typeface="Calibri" pitchFamily="34" charset="-122"/>
                <a:cs typeface="Calibri" pitchFamily="34" charset="-120"/>
              </a:rPr>
              <a:t>0.484</a:t>
            </a:r>
            <a:endParaRPr lang="en-US" sz="4000" dirty="0"/>
          </a:p>
        </p:txBody>
      </p:sp>
      <p:sp>
        <p:nvSpPr>
          <p:cNvPr id="13" name="Text 11">
            <a:extLst>
              <a:ext uri="{FF2B5EF4-FFF2-40B4-BE49-F238E27FC236}">
                <a16:creationId xmlns:a16="http://schemas.microsoft.com/office/drawing/2014/main" id="{E2457115-4240-A777-F011-CEE8E250A194}"/>
              </a:ext>
            </a:extLst>
          </p:cNvPr>
          <p:cNvSpPr/>
          <p:nvPr/>
        </p:nvSpPr>
        <p:spPr>
          <a:xfrm>
            <a:off x="548640" y="3965434"/>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Valence of hits</a:t>
            </a:r>
            <a:endParaRPr lang="en-US" dirty="0"/>
          </a:p>
        </p:txBody>
      </p:sp>
      <p:sp>
        <p:nvSpPr>
          <p:cNvPr id="14" name="Shape 12">
            <a:extLst>
              <a:ext uri="{FF2B5EF4-FFF2-40B4-BE49-F238E27FC236}">
                <a16:creationId xmlns:a16="http://schemas.microsoft.com/office/drawing/2014/main" id="{C21C131F-CF40-DAF8-7B14-53D67852AE6B}"/>
              </a:ext>
            </a:extLst>
          </p:cNvPr>
          <p:cNvSpPr/>
          <p:nvPr/>
        </p:nvSpPr>
        <p:spPr>
          <a:xfrm>
            <a:off x="4663440" y="3096754"/>
            <a:ext cx="3931920" cy="1659020"/>
          </a:xfrm>
          <a:prstGeom prst="rect">
            <a:avLst/>
          </a:prstGeom>
          <a:solidFill>
            <a:srgbClr val="1C1C28"/>
          </a:solidFill>
          <a:ln w="6350">
            <a:solidFill>
              <a:srgbClr val="2E2E42"/>
            </a:solidFill>
            <a:prstDash val="solid"/>
          </a:ln>
        </p:spPr>
        <p:txBody>
          <a:bodyPr/>
          <a:lstStyle/>
          <a:p>
            <a:endParaRPr lang="de-CH"/>
          </a:p>
        </p:txBody>
      </p:sp>
      <p:sp>
        <p:nvSpPr>
          <p:cNvPr id="15" name="Text 13">
            <a:extLst>
              <a:ext uri="{FF2B5EF4-FFF2-40B4-BE49-F238E27FC236}">
                <a16:creationId xmlns:a16="http://schemas.microsoft.com/office/drawing/2014/main" id="{27DB76B3-25C8-5B88-F399-C15F07AD7C7B}"/>
              </a:ext>
            </a:extLst>
          </p:cNvPr>
          <p:cNvSpPr/>
          <p:nvPr/>
        </p:nvSpPr>
        <p:spPr>
          <a:xfrm>
            <a:off x="4809744" y="3188194"/>
            <a:ext cx="3639312" cy="581700"/>
          </a:xfrm>
          <a:prstGeom prst="rect">
            <a:avLst/>
          </a:prstGeom>
          <a:noFill/>
          <a:ln/>
        </p:spPr>
        <p:txBody>
          <a:bodyPr wrap="square" rtlCol="0" anchor="ctr"/>
          <a:lstStyle/>
          <a:p>
            <a:pPr marL="0" indent="0">
              <a:buNone/>
            </a:pPr>
            <a:r>
              <a:rPr lang="en-US" sz="4000" b="1" dirty="0">
                <a:solidFill>
                  <a:srgbClr val="1ED760"/>
                </a:solidFill>
                <a:latin typeface="Calibri" pitchFamily="34" charset="0"/>
                <a:ea typeface="Calibri" pitchFamily="34" charset="-122"/>
                <a:cs typeface="Calibri" pitchFamily="34" charset="-120"/>
              </a:rPr>
              <a:t>82%</a:t>
            </a:r>
            <a:endParaRPr lang="en-US" sz="4000" dirty="0"/>
          </a:p>
        </p:txBody>
      </p:sp>
      <p:sp>
        <p:nvSpPr>
          <p:cNvPr id="16" name="Text 14">
            <a:extLst>
              <a:ext uri="{FF2B5EF4-FFF2-40B4-BE49-F238E27FC236}">
                <a16:creationId xmlns:a16="http://schemas.microsoft.com/office/drawing/2014/main" id="{7A698923-0CFD-4E67-3163-3500E70B47EC}"/>
              </a:ext>
            </a:extLst>
          </p:cNvPr>
          <p:cNvSpPr/>
          <p:nvPr/>
        </p:nvSpPr>
        <p:spPr>
          <a:xfrm>
            <a:off x="4809744" y="3965434"/>
            <a:ext cx="3639312" cy="466344"/>
          </a:xfrm>
          <a:prstGeom prst="rect">
            <a:avLst/>
          </a:prstGeom>
          <a:noFill/>
          <a:ln/>
        </p:spPr>
        <p:txBody>
          <a:bodyPr wrap="square" rtlCol="0" anchor="ctr"/>
          <a:lstStyle/>
          <a:p>
            <a:pPr marL="0" indent="0">
              <a:buNone/>
            </a:pPr>
            <a:r>
              <a:rPr lang="en-US" dirty="0">
                <a:solidFill>
                  <a:srgbClr val="F4F4F8"/>
                </a:solidFill>
                <a:latin typeface="Calibri" pitchFamily="34" charset="0"/>
                <a:ea typeface="Calibri" pitchFamily="34" charset="-122"/>
                <a:cs typeface="Calibri" pitchFamily="34" charset="-120"/>
              </a:rPr>
              <a:t>Of all genres are energetic</a:t>
            </a:r>
            <a:endParaRPr lang="en-US" dirty="0"/>
          </a:p>
        </p:txBody>
      </p:sp>
      <p:sp>
        <p:nvSpPr>
          <p:cNvPr id="38" name="Shape 0">
            <a:extLst>
              <a:ext uri="{FF2B5EF4-FFF2-40B4-BE49-F238E27FC236}">
                <a16:creationId xmlns:a16="http://schemas.microsoft.com/office/drawing/2014/main" id="{8BEB0132-5B44-0277-470C-5DD7827D7810}"/>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39" name="Text 1">
            <a:extLst>
              <a:ext uri="{FF2B5EF4-FFF2-40B4-BE49-F238E27FC236}">
                <a16:creationId xmlns:a16="http://schemas.microsoft.com/office/drawing/2014/main" id="{46984AF7-FEB3-C570-A745-EA5096D8734C}"/>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07</a:t>
            </a:r>
            <a:endParaRPr lang="en-US" sz="950" dirty="0"/>
          </a:p>
        </p:txBody>
      </p:sp>
      <p:sp>
        <p:nvSpPr>
          <p:cNvPr id="40" name="Text 2">
            <a:extLst>
              <a:ext uri="{FF2B5EF4-FFF2-40B4-BE49-F238E27FC236}">
                <a16:creationId xmlns:a16="http://schemas.microsoft.com/office/drawing/2014/main" id="{17FDBF8A-D75A-90C5-98C5-9E38C8BA0510}"/>
              </a:ext>
            </a:extLst>
          </p:cNvPr>
          <p:cNvSpPr/>
          <p:nvPr/>
        </p:nvSpPr>
        <p:spPr>
          <a:xfrm>
            <a:off x="1005840" y="519081"/>
            <a:ext cx="1790524"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Key Insights</a:t>
            </a:r>
            <a:endParaRPr lang="en-US" sz="2100" dirty="0"/>
          </a:p>
        </p:txBody>
      </p:sp>
    </p:spTree>
    <p:extLst>
      <p:ext uri="{BB962C8B-B14F-4D97-AF65-F5344CB8AC3E}">
        <p14:creationId xmlns:p14="http://schemas.microsoft.com/office/powerpoint/2010/main" val="2049247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16"/>
        </a:solidFill>
        <a:effectLst/>
      </p:bgPr>
    </p:bg>
    <p:spTree>
      <p:nvGrpSpPr>
        <p:cNvPr id="1" name=""/>
        <p:cNvGrpSpPr/>
        <p:nvPr/>
      </p:nvGrpSpPr>
      <p:grpSpPr>
        <a:xfrm>
          <a:off x="0" y="0"/>
          <a:ext cx="0" cy="0"/>
          <a:chOff x="0" y="0"/>
          <a:chExt cx="0" cy="0"/>
        </a:xfrm>
      </p:grpSpPr>
      <p:sp>
        <p:nvSpPr>
          <p:cNvPr id="3" name="Text 1"/>
          <p:cNvSpPr/>
          <p:nvPr/>
        </p:nvSpPr>
        <p:spPr>
          <a:xfrm>
            <a:off x="457200" y="219456"/>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10</a:t>
            </a:r>
            <a:endParaRPr lang="en-US" sz="950" dirty="0"/>
          </a:p>
        </p:txBody>
      </p:sp>
      <p:sp>
        <p:nvSpPr>
          <p:cNvPr id="14" name="Text 12"/>
          <p:cNvSpPr/>
          <p:nvPr/>
        </p:nvSpPr>
        <p:spPr>
          <a:xfrm>
            <a:off x="6370497" y="4325112"/>
            <a:ext cx="2301949" cy="530352"/>
          </a:xfrm>
          <a:prstGeom prst="rect">
            <a:avLst/>
          </a:prstGeom>
          <a:noFill/>
          <a:ln/>
        </p:spPr>
        <p:txBody>
          <a:bodyPr wrap="square" rtlCol="0" anchor="ctr"/>
          <a:lstStyle/>
          <a:p>
            <a:pPr marL="0" indent="0">
              <a:buNone/>
            </a:pPr>
            <a:r>
              <a:rPr lang="en-US" sz="950" dirty="0">
                <a:solidFill>
                  <a:srgbClr val="9CA3B8"/>
                </a:solidFill>
                <a:latin typeface="Calibri" pitchFamily="34" charset="0"/>
                <a:ea typeface="Calibri" pitchFamily="34" charset="-122"/>
                <a:cs typeface="Calibri" pitchFamily="34" charset="-120"/>
              </a:rPr>
              <a:t>Live site:</a:t>
            </a:r>
            <a:endParaRPr lang="en-US" sz="950" dirty="0"/>
          </a:p>
          <a:p>
            <a:pPr marL="0" indent="0">
              <a:buNone/>
            </a:pPr>
            <a:r>
              <a:rPr lang="en-US" sz="950" dirty="0">
                <a:solidFill>
                  <a:srgbClr val="9CA3B8"/>
                </a:solidFill>
                <a:latin typeface="Calibri" pitchFamily="34" charset="0"/>
                <a:ea typeface="Calibri" pitchFamily="34" charset="-122"/>
                <a:cs typeface="Calibri" pitchFamily="34" charset="-120"/>
              </a:rPr>
              <a:t>https://podsv-fs26-ad24.github.io/ad24-1-fancyproject/</a:t>
            </a:r>
            <a:endParaRPr lang="en-US" sz="950" dirty="0"/>
          </a:p>
        </p:txBody>
      </p:sp>
      <p:sp>
        <p:nvSpPr>
          <p:cNvPr id="15" name="Shape 13"/>
          <p:cNvSpPr/>
          <p:nvPr/>
        </p:nvSpPr>
        <p:spPr>
          <a:xfrm>
            <a:off x="2667177" y="832104"/>
            <a:ext cx="3611880" cy="4023360"/>
          </a:xfrm>
          <a:prstGeom prst="rect">
            <a:avLst/>
          </a:prstGeom>
          <a:solidFill>
            <a:srgbClr val="1C1C28"/>
          </a:solidFill>
          <a:ln w="6350">
            <a:solidFill>
              <a:srgbClr val="2E2E42"/>
            </a:solidFill>
            <a:prstDash val="solid"/>
          </a:ln>
        </p:spPr>
        <p:txBody>
          <a:bodyPr/>
          <a:lstStyle/>
          <a:p>
            <a:endParaRPr lang="de-CH"/>
          </a:p>
        </p:txBody>
      </p:sp>
      <p:sp>
        <p:nvSpPr>
          <p:cNvPr id="16" name="Text 14"/>
          <p:cNvSpPr/>
          <p:nvPr/>
        </p:nvSpPr>
        <p:spPr>
          <a:xfrm>
            <a:off x="2667177" y="1252728"/>
            <a:ext cx="3611880" cy="274320"/>
          </a:xfrm>
          <a:prstGeom prst="rect">
            <a:avLst/>
          </a:prstGeom>
          <a:noFill/>
          <a:ln/>
        </p:spPr>
        <p:txBody>
          <a:bodyPr wrap="square" rtlCol="0" anchor="ctr"/>
          <a:lstStyle/>
          <a:p>
            <a:pPr marL="0" indent="0" algn="ctr">
              <a:buNone/>
            </a:pPr>
            <a:r>
              <a:rPr lang="en-US" sz="900" b="1" kern="0" spc="200" dirty="0">
                <a:solidFill>
                  <a:srgbClr val="1DB954"/>
                </a:solidFill>
                <a:latin typeface="Calibri" pitchFamily="34" charset="0"/>
                <a:ea typeface="Calibri" pitchFamily="34" charset="-122"/>
                <a:cs typeface="Calibri" pitchFamily="34" charset="-120"/>
              </a:rPr>
              <a:t>TOOL DEMO</a:t>
            </a:r>
            <a:endParaRPr lang="en-US" sz="900" dirty="0"/>
          </a:p>
        </p:txBody>
      </p:sp>
      <p:sp>
        <p:nvSpPr>
          <p:cNvPr id="17" name="Text 15"/>
          <p:cNvSpPr/>
          <p:nvPr/>
        </p:nvSpPr>
        <p:spPr>
          <a:xfrm>
            <a:off x="2667177" y="1581912"/>
            <a:ext cx="3611880" cy="438912"/>
          </a:xfrm>
          <a:prstGeom prst="rect">
            <a:avLst/>
          </a:prstGeom>
          <a:noFill/>
          <a:ln/>
        </p:spPr>
        <p:txBody>
          <a:bodyPr wrap="square" rtlCol="0" anchor="ctr"/>
          <a:lstStyle/>
          <a:p>
            <a:pPr marL="0" indent="0" algn="ctr">
              <a:buNone/>
            </a:pPr>
            <a:r>
              <a:rPr lang="en-US" sz="2200" b="1" dirty="0">
                <a:solidFill>
                  <a:srgbClr val="F4F4F8"/>
                </a:solidFill>
                <a:latin typeface="Calibri" pitchFamily="34" charset="0"/>
                <a:ea typeface="Calibri" pitchFamily="34" charset="-122"/>
                <a:cs typeface="Calibri" pitchFamily="34" charset="-120"/>
              </a:rPr>
              <a:t>Live product</a:t>
            </a:r>
            <a:endParaRPr lang="en-US" sz="2200" dirty="0"/>
          </a:p>
        </p:txBody>
      </p:sp>
      <p:sp>
        <p:nvSpPr>
          <p:cNvPr id="18" name="Text 16"/>
          <p:cNvSpPr/>
          <p:nvPr/>
        </p:nvSpPr>
        <p:spPr>
          <a:xfrm>
            <a:off x="2667177" y="2066543"/>
            <a:ext cx="3611880" cy="747681"/>
          </a:xfrm>
          <a:prstGeom prst="rect">
            <a:avLst/>
          </a:prstGeom>
          <a:noFill/>
          <a:ln/>
        </p:spPr>
        <p:txBody>
          <a:bodyPr wrap="square" rtlCol="0" anchor="ctr"/>
          <a:lstStyle/>
          <a:p>
            <a:pPr marL="0" indent="0" algn="ctr">
              <a:buNone/>
            </a:pPr>
            <a:r>
              <a:rPr lang="en-US" sz="1050" dirty="0">
                <a:solidFill>
                  <a:srgbClr val="9CA3B8"/>
                </a:solidFill>
                <a:latin typeface="Calibri" pitchFamily="34" charset="0"/>
                <a:ea typeface="Calibri" pitchFamily="34" charset="-122"/>
                <a:cs typeface="Calibri" pitchFamily="34" charset="-120"/>
              </a:rPr>
              <a:t>89,741 tracks</a:t>
            </a:r>
          </a:p>
          <a:p>
            <a:pPr marL="0" indent="0" algn="ctr">
              <a:buNone/>
            </a:pPr>
            <a:r>
              <a:rPr lang="en-US" sz="1050" dirty="0">
                <a:solidFill>
                  <a:srgbClr val="9CA3B8"/>
                </a:solidFill>
                <a:latin typeface="Calibri" pitchFamily="34" charset="0"/>
                <a:ea typeface="Calibri" pitchFamily="34" charset="-122"/>
                <a:cs typeface="Calibri" pitchFamily="34" charset="-120"/>
              </a:rPr>
              <a:t> 6 sections </a:t>
            </a:r>
          </a:p>
          <a:p>
            <a:pPr marL="0" indent="0" algn="ctr">
              <a:buNone/>
            </a:pPr>
            <a:r>
              <a:rPr lang="en-US" sz="1050" dirty="0">
                <a:solidFill>
                  <a:srgbClr val="9CA3B8"/>
                </a:solidFill>
                <a:latin typeface="Calibri" pitchFamily="34" charset="0"/>
                <a:ea typeface="Calibri" pitchFamily="34" charset="-122"/>
                <a:cs typeface="Calibri" pitchFamily="34" charset="-120"/>
              </a:rPr>
              <a:t>interactive</a:t>
            </a:r>
            <a:endParaRPr lang="en-US" sz="1050" dirty="0"/>
          </a:p>
        </p:txBody>
      </p:sp>
      <p:sp>
        <p:nvSpPr>
          <p:cNvPr id="19" name="Shape 17"/>
          <p:cNvSpPr/>
          <p:nvPr/>
        </p:nvSpPr>
        <p:spPr>
          <a:xfrm>
            <a:off x="3160953" y="4087368"/>
            <a:ext cx="210312" cy="274320"/>
          </a:xfrm>
          <a:prstGeom prst="rect">
            <a:avLst/>
          </a:prstGeom>
          <a:solidFill>
            <a:srgbClr val="1ED760"/>
          </a:solidFill>
          <a:ln w="12700">
            <a:solidFill>
              <a:srgbClr val="1ED760"/>
            </a:solidFill>
            <a:prstDash val="solid"/>
          </a:ln>
        </p:spPr>
        <p:txBody>
          <a:bodyPr/>
          <a:lstStyle/>
          <a:p>
            <a:endParaRPr lang="de-CH"/>
          </a:p>
        </p:txBody>
      </p:sp>
      <p:sp>
        <p:nvSpPr>
          <p:cNvPr id="20" name="Shape 18"/>
          <p:cNvSpPr/>
          <p:nvPr/>
        </p:nvSpPr>
        <p:spPr>
          <a:xfrm>
            <a:off x="3462705" y="3904488"/>
            <a:ext cx="210312" cy="457200"/>
          </a:xfrm>
          <a:prstGeom prst="rect">
            <a:avLst/>
          </a:prstGeom>
          <a:solidFill>
            <a:srgbClr val="1ED760"/>
          </a:solidFill>
          <a:ln w="12700">
            <a:solidFill>
              <a:srgbClr val="1ED760"/>
            </a:solidFill>
            <a:prstDash val="solid"/>
          </a:ln>
        </p:spPr>
        <p:txBody>
          <a:bodyPr/>
          <a:lstStyle/>
          <a:p>
            <a:endParaRPr lang="de-CH"/>
          </a:p>
        </p:txBody>
      </p:sp>
      <p:sp>
        <p:nvSpPr>
          <p:cNvPr id="21" name="Shape 19"/>
          <p:cNvSpPr/>
          <p:nvPr/>
        </p:nvSpPr>
        <p:spPr>
          <a:xfrm>
            <a:off x="3764457" y="3584448"/>
            <a:ext cx="210312" cy="777240"/>
          </a:xfrm>
          <a:prstGeom prst="rect">
            <a:avLst/>
          </a:prstGeom>
          <a:solidFill>
            <a:srgbClr val="1ED760"/>
          </a:solidFill>
          <a:ln w="12700">
            <a:solidFill>
              <a:srgbClr val="1ED760"/>
            </a:solidFill>
            <a:prstDash val="solid"/>
          </a:ln>
        </p:spPr>
        <p:txBody>
          <a:bodyPr/>
          <a:lstStyle/>
          <a:p>
            <a:endParaRPr lang="de-CH"/>
          </a:p>
        </p:txBody>
      </p:sp>
      <p:sp>
        <p:nvSpPr>
          <p:cNvPr id="22" name="Shape 20"/>
          <p:cNvSpPr/>
          <p:nvPr/>
        </p:nvSpPr>
        <p:spPr>
          <a:xfrm>
            <a:off x="4066209" y="3355848"/>
            <a:ext cx="210312" cy="1005840"/>
          </a:xfrm>
          <a:prstGeom prst="rect">
            <a:avLst/>
          </a:prstGeom>
          <a:solidFill>
            <a:srgbClr val="1ED760"/>
          </a:solidFill>
          <a:ln w="12700">
            <a:solidFill>
              <a:srgbClr val="1ED760"/>
            </a:solidFill>
            <a:prstDash val="solid"/>
          </a:ln>
        </p:spPr>
        <p:txBody>
          <a:bodyPr/>
          <a:lstStyle/>
          <a:p>
            <a:endParaRPr lang="de-CH"/>
          </a:p>
        </p:txBody>
      </p:sp>
      <p:sp>
        <p:nvSpPr>
          <p:cNvPr id="23" name="Shape 21"/>
          <p:cNvSpPr/>
          <p:nvPr/>
        </p:nvSpPr>
        <p:spPr>
          <a:xfrm>
            <a:off x="4367961" y="3538728"/>
            <a:ext cx="210312" cy="822960"/>
          </a:xfrm>
          <a:prstGeom prst="rect">
            <a:avLst/>
          </a:prstGeom>
          <a:solidFill>
            <a:srgbClr val="1ED760"/>
          </a:solidFill>
          <a:ln w="12700">
            <a:solidFill>
              <a:srgbClr val="1ED760"/>
            </a:solidFill>
            <a:prstDash val="solid"/>
          </a:ln>
        </p:spPr>
        <p:txBody>
          <a:bodyPr/>
          <a:lstStyle/>
          <a:p>
            <a:endParaRPr lang="de-CH"/>
          </a:p>
        </p:txBody>
      </p:sp>
      <p:sp>
        <p:nvSpPr>
          <p:cNvPr id="24" name="Shape 22"/>
          <p:cNvSpPr/>
          <p:nvPr/>
        </p:nvSpPr>
        <p:spPr>
          <a:xfrm>
            <a:off x="4669713" y="3767328"/>
            <a:ext cx="210312" cy="594360"/>
          </a:xfrm>
          <a:prstGeom prst="rect">
            <a:avLst/>
          </a:prstGeom>
          <a:solidFill>
            <a:srgbClr val="1ED760"/>
          </a:solidFill>
          <a:ln w="12700">
            <a:solidFill>
              <a:srgbClr val="1ED760"/>
            </a:solidFill>
            <a:prstDash val="solid"/>
          </a:ln>
        </p:spPr>
        <p:txBody>
          <a:bodyPr/>
          <a:lstStyle/>
          <a:p>
            <a:endParaRPr lang="de-CH"/>
          </a:p>
        </p:txBody>
      </p:sp>
      <p:sp>
        <p:nvSpPr>
          <p:cNvPr id="25" name="Shape 23"/>
          <p:cNvSpPr/>
          <p:nvPr/>
        </p:nvSpPr>
        <p:spPr>
          <a:xfrm>
            <a:off x="4971465" y="3950208"/>
            <a:ext cx="210312" cy="411480"/>
          </a:xfrm>
          <a:prstGeom prst="rect">
            <a:avLst/>
          </a:prstGeom>
          <a:solidFill>
            <a:srgbClr val="1ED760"/>
          </a:solidFill>
          <a:ln w="12700">
            <a:solidFill>
              <a:srgbClr val="1ED760"/>
            </a:solidFill>
            <a:prstDash val="solid"/>
          </a:ln>
        </p:spPr>
        <p:txBody>
          <a:bodyPr/>
          <a:lstStyle/>
          <a:p>
            <a:endParaRPr lang="de-CH"/>
          </a:p>
        </p:txBody>
      </p:sp>
      <p:sp>
        <p:nvSpPr>
          <p:cNvPr id="26" name="Shape 24"/>
          <p:cNvSpPr/>
          <p:nvPr/>
        </p:nvSpPr>
        <p:spPr>
          <a:xfrm>
            <a:off x="5273217" y="3703320"/>
            <a:ext cx="210312" cy="658368"/>
          </a:xfrm>
          <a:prstGeom prst="rect">
            <a:avLst/>
          </a:prstGeom>
          <a:solidFill>
            <a:srgbClr val="1ED760"/>
          </a:solidFill>
          <a:ln w="12700">
            <a:solidFill>
              <a:srgbClr val="1ED760"/>
            </a:solidFill>
            <a:prstDash val="solid"/>
          </a:ln>
        </p:spPr>
        <p:txBody>
          <a:bodyPr/>
          <a:lstStyle/>
          <a:p>
            <a:endParaRPr lang="de-CH"/>
          </a:p>
        </p:txBody>
      </p:sp>
      <p:sp>
        <p:nvSpPr>
          <p:cNvPr id="27" name="Shape 25"/>
          <p:cNvSpPr/>
          <p:nvPr/>
        </p:nvSpPr>
        <p:spPr>
          <a:xfrm>
            <a:off x="5574969" y="3858768"/>
            <a:ext cx="210312" cy="502920"/>
          </a:xfrm>
          <a:prstGeom prst="rect">
            <a:avLst/>
          </a:prstGeom>
          <a:solidFill>
            <a:srgbClr val="1ED760"/>
          </a:solidFill>
          <a:ln w="12700">
            <a:solidFill>
              <a:srgbClr val="1ED760"/>
            </a:solidFill>
            <a:prstDash val="solid"/>
          </a:ln>
        </p:spPr>
        <p:txBody>
          <a:bodyPr/>
          <a:lstStyle/>
          <a:p>
            <a:endParaRPr lang="de-CH"/>
          </a:p>
        </p:txBody>
      </p:sp>
      <p:sp>
        <p:nvSpPr>
          <p:cNvPr id="28" name="Shape 0">
            <a:extLst>
              <a:ext uri="{FF2B5EF4-FFF2-40B4-BE49-F238E27FC236}">
                <a16:creationId xmlns:a16="http://schemas.microsoft.com/office/drawing/2014/main" id="{1FA8D73B-2C6C-9B2A-4659-5E399EB049EE}"/>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29" name="Text 1">
            <a:extLst>
              <a:ext uri="{FF2B5EF4-FFF2-40B4-BE49-F238E27FC236}">
                <a16:creationId xmlns:a16="http://schemas.microsoft.com/office/drawing/2014/main" id="{85B7B467-528B-23D5-5D1B-96E86D44C883}"/>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08</a:t>
            </a:r>
            <a:endParaRPr lang="en-US" sz="950" dirty="0"/>
          </a:p>
        </p:txBody>
      </p:sp>
      <p:sp>
        <p:nvSpPr>
          <p:cNvPr id="30" name="Text 2">
            <a:extLst>
              <a:ext uri="{FF2B5EF4-FFF2-40B4-BE49-F238E27FC236}">
                <a16:creationId xmlns:a16="http://schemas.microsoft.com/office/drawing/2014/main" id="{9A083C5D-7097-F20A-5165-5D3A2D124BB1}"/>
              </a:ext>
            </a:extLst>
          </p:cNvPr>
          <p:cNvSpPr/>
          <p:nvPr/>
        </p:nvSpPr>
        <p:spPr>
          <a:xfrm>
            <a:off x="1005840" y="519081"/>
            <a:ext cx="1790524" cy="365760"/>
          </a:xfrm>
          <a:prstGeom prst="rect">
            <a:avLst/>
          </a:prstGeom>
          <a:noFill/>
          <a:ln/>
        </p:spPr>
        <p:txBody>
          <a:bodyPr wrap="square" lIns="0" tIns="0" rIns="0" bIns="0" rtlCol="0" anchor="ctr"/>
          <a:lstStyle/>
          <a:p>
            <a:r>
              <a:rPr lang="en-US" sz="2100" b="1" dirty="0">
                <a:solidFill>
                  <a:srgbClr val="F4F4F8"/>
                </a:solidFill>
                <a:latin typeface="Calibri" pitchFamily="34" charset="0"/>
                <a:ea typeface="Calibri" pitchFamily="34" charset="-122"/>
                <a:cs typeface="Calibri" pitchFamily="34" charset="-120"/>
              </a:rPr>
              <a:t>Live demo</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ACEE-844D-5440-ACDD-5E396C81BC3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FC4727-F2FA-0F05-F88A-F50A7D3209B4}"/>
              </a:ext>
            </a:extLst>
          </p:cNvPr>
          <p:cNvSpPr/>
          <p:nvPr/>
        </p:nvSpPr>
        <p:spPr>
          <a:xfrm>
            <a:off x="457200" y="555657"/>
            <a:ext cx="420624" cy="292608"/>
          </a:xfrm>
          <a:prstGeom prst="rect">
            <a:avLst/>
          </a:prstGeom>
          <a:solidFill>
            <a:srgbClr val="1DB954"/>
          </a:solidFill>
          <a:ln w="12700">
            <a:solidFill>
              <a:srgbClr val="1DB954"/>
            </a:solidFill>
            <a:prstDash val="solid"/>
          </a:ln>
        </p:spPr>
        <p:txBody>
          <a:bodyPr/>
          <a:lstStyle/>
          <a:p>
            <a:endParaRPr lang="de-CH"/>
          </a:p>
        </p:txBody>
      </p:sp>
      <p:sp>
        <p:nvSpPr>
          <p:cNvPr id="3" name="Text 1">
            <a:extLst>
              <a:ext uri="{FF2B5EF4-FFF2-40B4-BE49-F238E27FC236}">
                <a16:creationId xmlns:a16="http://schemas.microsoft.com/office/drawing/2014/main" id="{AFE2FE0A-9B5B-898D-63CD-E349F4DD4E6F}"/>
              </a:ext>
            </a:extLst>
          </p:cNvPr>
          <p:cNvSpPr/>
          <p:nvPr/>
        </p:nvSpPr>
        <p:spPr>
          <a:xfrm>
            <a:off x="457200" y="555657"/>
            <a:ext cx="420624" cy="292608"/>
          </a:xfrm>
          <a:prstGeom prst="rect">
            <a:avLst/>
          </a:prstGeom>
          <a:noFill/>
          <a:ln/>
        </p:spPr>
        <p:txBody>
          <a:bodyPr wrap="square" lIns="0" tIns="0" rIns="0" bIns="0" rtlCol="0" anchor="ctr"/>
          <a:lstStyle/>
          <a:p>
            <a:pPr marL="0" indent="0" algn="ctr">
              <a:buNone/>
            </a:pPr>
            <a:r>
              <a:rPr lang="en-US" sz="950" b="1" dirty="0">
                <a:solidFill>
                  <a:srgbClr val="0E0E16"/>
                </a:solidFill>
                <a:latin typeface="Calibri" pitchFamily="34" charset="0"/>
                <a:ea typeface="Calibri" pitchFamily="34" charset="-122"/>
                <a:cs typeface="Calibri" pitchFamily="34" charset="-120"/>
              </a:rPr>
              <a:t>09</a:t>
            </a:r>
            <a:endParaRPr lang="en-US" sz="950" dirty="0"/>
          </a:p>
        </p:txBody>
      </p:sp>
      <p:sp>
        <p:nvSpPr>
          <p:cNvPr id="4" name="Text 2">
            <a:extLst>
              <a:ext uri="{FF2B5EF4-FFF2-40B4-BE49-F238E27FC236}">
                <a16:creationId xmlns:a16="http://schemas.microsoft.com/office/drawing/2014/main" id="{0C601377-D51A-65BD-3D5E-B880B63DD7ED}"/>
              </a:ext>
            </a:extLst>
          </p:cNvPr>
          <p:cNvSpPr/>
          <p:nvPr/>
        </p:nvSpPr>
        <p:spPr>
          <a:xfrm>
            <a:off x="1005840" y="519081"/>
            <a:ext cx="4197149" cy="365760"/>
          </a:xfrm>
          <a:prstGeom prst="rect">
            <a:avLst/>
          </a:prstGeom>
          <a:noFill/>
          <a:ln/>
        </p:spPr>
        <p:txBody>
          <a:bodyPr wrap="square" lIns="0" tIns="0" rIns="0" bIns="0" rtlCol="0" anchor="ctr"/>
          <a:lstStyle/>
          <a:p>
            <a:r>
              <a:rPr lang="en-GB" sz="2100" b="1" dirty="0">
                <a:solidFill>
                  <a:srgbClr val="F4F4F8"/>
                </a:solidFill>
                <a:latin typeface="Calibri" pitchFamily="34" charset="0"/>
                <a:ea typeface="Calibri" pitchFamily="34" charset="-122"/>
                <a:cs typeface="Calibri" pitchFamily="34" charset="-120"/>
              </a:rPr>
              <a:t>So what actually drives popularity?</a:t>
            </a:r>
            <a:endParaRPr lang="en-US" sz="2100" b="1" dirty="0"/>
          </a:p>
        </p:txBody>
      </p:sp>
      <p:sp>
        <p:nvSpPr>
          <p:cNvPr id="5" name="Text 3">
            <a:extLst>
              <a:ext uri="{FF2B5EF4-FFF2-40B4-BE49-F238E27FC236}">
                <a16:creationId xmlns:a16="http://schemas.microsoft.com/office/drawing/2014/main" id="{0F2C7D48-7FB4-BFAE-3DC0-02237F759046}"/>
              </a:ext>
            </a:extLst>
          </p:cNvPr>
          <p:cNvSpPr/>
          <p:nvPr/>
        </p:nvSpPr>
        <p:spPr>
          <a:xfrm>
            <a:off x="285264" y="1270960"/>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6" name="Text 4">
            <a:extLst>
              <a:ext uri="{FF2B5EF4-FFF2-40B4-BE49-F238E27FC236}">
                <a16:creationId xmlns:a16="http://schemas.microsoft.com/office/drawing/2014/main" id="{CDC2C7BC-0693-340E-B1A2-DD4C6A785A4A}"/>
              </a:ext>
            </a:extLst>
          </p:cNvPr>
          <p:cNvSpPr/>
          <p:nvPr/>
        </p:nvSpPr>
        <p:spPr>
          <a:xfrm>
            <a:off x="569385" y="1249204"/>
            <a:ext cx="8248951" cy="1160651"/>
          </a:xfrm>
          <a:prstGeom prst="rect">
            <a:avLst/>
          </a:prstGeom>
          <a:noFill/>
          <a:ln/>
        </p:spPr>
        <p:txBody>
          <a:bodyPr wrap="square" rtlCol="0" anchor="ctr"/>
          <a:lstStyle/>
          <a:p>
            <a:pPr marL="0" indent="0">
              <a:buNone/>
            </a:pPr>
            <a:r>
              <a:rPr lang="en-GB" dirty="0">
                <a:solidFill>
                  <a:srgbClr val="9CA3B8"/>
                </a:solidFill>
                <a:latin typeface="Calibri" pitchFamily="34" charset="0"/>
                <a:ea typeface="Calibri" pitchFamily="34" charset="-122"/>
                <a:cs typeface="Calibri" pitchFamily="34" charset="-120"/>
              </a:rPr>
              <a:t>Audio features are real but small signals — they explain each other far more than they explain fame</a:t>
            </a:r>
            <a:endParaRPr lang="en-US" dirty="0"/>
          </a:p>
        </p:txBody>
      </p:sp>
      <p:sp>
        <p:nvSpPr>
          <p:cNvPr id="8" name="Text 6">
            <a:extLst>
              <a:ext uri="{FF2B5EF4-FFF2-40B4-BE49-F238E27FC236}">
                <a16:creationId xmlns:a16="http://schemas.microsoft.com/office/drawing/2014/main" id="{8F71BA4F-221D-E007-D369-FA221672E170}"/>
              </a:ext>
            </a:extLst>
          </p:cNvPr>
          <p:cNvSpPr/>
          <p:nvPr/>
        </p:nvSpPr>
        <p:spPr>
          <a:xfrm>
            <a:off x="293351" y="2144160"/>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9" name="Text 7">
            <a:extLst>
              <a:ext uri="{FF2B5EF4-FFF2-40B4-BE49-F238E27FC236}">
                <a16:creationId xmlns:a16="http://schemas.microsoft.com/office/drawing/2014/main" id="{7DFFB6B8-432F-70D9-362A-C5FD65DE10DC}"/>
              </a:ext>
            </a:extLst>
          </p:cNvPr>
          <p:cNvSpPr/>
          <p:nvPr/>
        </p:nvSpPr>
        <p:spPr>
          <a:xfrm>
            <a:off x="553211" y="2117781"/>
            <a:ext cx="8248951" cy="1160651"/>
          </a:xfrm>
          <a:prstGeom prst="rect">
            <a:avLst/>
          </a:prstGeom>
          <a:noFill/>
          <a:ln/>
        </p:spPr>
        <p:txBody>
          <a:bodyPr wrap="square" rtlCol="0" anchor="ctr"/>
          <a:lstStyle/>
          <a:p>
            <a:pPr marL="0" indent="0">
              <a:buNone/>
            </a:pPr>
            <a:r>
              <a:rPr lang="en-GB" dirty="0">
                <a:solidFill>
                  <a:srgbClr val="9CA3B8"/>
                </a:solidFill>
                <a:latin typeface="Calibri" pitchFamily="34" charset="0"/>
                <a:ea typeface="Calibri" pitchFamily="34" charset="-122"/>
                <a:cs typeface="Calibri" pitchFamily="34" charset="-120"/>
              </a:rPr>
              <a:t>What the data </a:t>
            </a:r>
            <a:r>
              <a:rPr lang="en-GB" dirty="0">
                <a:solidFill>
                  <a:srgbClr val="9B5DE5"/>
                </a:solidFill>
                <a:latin typeface="Calibri" pitchFamily="34" charset="0"/>
                <a:ea typeface="Calibri" pitchFamily="34" charset="-122"/>
                <a:cs typeface="Calibri" pitchFamily="34" charset="-120"/>
              </a:rPr>
              <a:t>can't measure</a:t>
            </a:r>
            <a:r>
              <a:rPr lang="en-GB" dirty="0">
                <a:solidFill>
                  <a:srgbClr val="9CA3B8"/>
                </a:solidFill>
                <a:latin typeface="Calibri" pitchFamily="34" charset="0"/>
                <a:ea typeface="Calibri" pitchFamily="34" charset="-122"/>
                <a:cs typeface="Calibri" pitchFamily="34" charset="-120"/>
              </a:rPr>
              <a:t>: playlist placement, algorithmic push, social momentum, timing</a:t>
            </a:r>
            <a:endParaRPr lang="en-US" dirty="0"/>
          </a:p>
        </p:txBody>
      </p:sp>
      <p:sp>
        <p:nvSpPr>
          <p:cNvPr id="11" name="Text 9">
            <a:extLst>
              <a:ext uri="{FF2B5EF4-FFF2-40B4-BE49-F238E27FC236}">
                <a16:creationId xmlns:a16="http://schemas.microsoft.com/office/drawing/2014/main" id="{D53B80BB-B1C3-1243-8504-BAF0596FFEAA}"/>
              </a:ext>
            </a:extLst>
          </p:cNvPr>
          <p:cNvSpPr/>
          <p:nvPr/>
        </p:nvSpPr>
        <p:spPr>
          <a:xfrm>
            <a:off x="290166" y="3002537"/>
            <a:ext cx="267947" cy="1107894"/>
          </a:xfrm>
          <a:prstGeom prst="rect">
            <a:avLst/>
          </a:prstGeom>
          <a:noFill/>
          <a:ln/>
        </p:spPr>
        <p:txBody>
          <a:bodyPr wrap="square" rtlCol="0" anchor="ctr"/>
          <a:lstStyle/>
          <a:p>
            <a:pPr marL="0" indent="0" algn="ctr">
              <a:buNone/>
            </a:pPr>
            <a:r>
              <a:rPr lang="en-US" sz="2800" dirty="0">
                <a:solidFill>
                  <a:srgbClr val="1DB954"/>
                </a:solidFill>
              </a:rPr>
              <a:t>♪</a:t>
            </a:r>
            <a:endParaRPr lang="en-US" sz="2800" dirty="0"/>
          </a:p>
        </p:txBody>
      </p:sp>
      <p:sp>
        <p:nvSpPr>
          <p:cNvPr id="12" name="Text 10">
            <a:extLst>
              <a:ext uri="{FF2B5EF4-FFF2-40B4-BE49-F238E27FC236}">
                <a16:creationId xmlns:a16="http://schemas.microsoft.com/office/drawing/2014/main" id="{AEFB46FB-5B1B-BC56-56FE-61D7D76DAD74}"/>
              </a:ext>
            </a:extLst>
          </p:cNvPr>
          <p:cNvSpPr/>
          <p:nvPr/>
        </p:nvSpPr>
        <p:spPr>
          <a:xfrm>
            <a:off x="569385" y="2976159"/>
            <a:ext cx="8248951" cy="1160651"/>
          </a:xfrm>
          <a:prstGeom prst="rect">
            <a:avLst/>
          </a:prstGeom>
          <a:noFill/>
          <a:ln/>
        </p:spPr>
        <p:txBody>
          <a:bodyPr wrap="square" rtlCol="0" anchor="ctr"/>
          <a:lstStyle/>
          <a:p>
            <a:pPr marL="0" indent="0">
              <a:buNone/>
            </a:pPr>
            <a:r>
              <a:rPr lang="en-GB" dirty="0">
                <a:solidFill>
                  <a:srgbClr val="9CA3B8"/>
                </a:solidFill>
                <a:latin typeface="Calibri" pitchFamily="34" charset="0"/>
                <a:ea typeface="Calibri" pitchFamily="34" charset="-122"/>
                <a:cs typeface="Calibri" pitchFamily="34" charset="-120"/>
              </a:rPr>
              <a:t>What the data </a:t>
            </a:r>
            <a:r>
              <a:rPr lang="en-GB" dirty="0">
                <a:solidFill>
                  <a:srgbClr val="1DB954"/>
                </a:solidFill>
                <a:latin typeface="Calibri" pitchFamily="34" charset="0"/>
                <a:ea typeface="Calibri" pitchFamily="34" charset="-122"/>
                <a:cs typeface="Calibri" pitchFamily="34" charset="-120"/>
              </a:rPr>
              <a:t>can</a:t>
            </a:r>
            <a:r>
              <a:rPr lang="en-GB" dirty="0">
                <a:solidFill>
                  <a:srgbClr val="9CA3B8"/>
                </a:solidFill>
                <a:latin typeface="Calibri" pitchFamily="34" charset="0"/>
                <a:ea typeface="Calibri" pitchFamily="34" charset="-122"/>
                <a:cs typeface="Calibri" pitchFamily="34" charset="-120"/>
              </a:rPr>
              <a:t> </a:t>
            </a:r>
            <a:r>
              <a:rPr lang="en-GB" dirty="0">
                <a:solidFill>
                  <a:srgbClr val="1DB954"/>
                </a:solidFill>
                <a:latin typeface="Calibri" pitchFamily="34" charset="0"/>
                <a:ea typeface="Calibri" pitchFamily="34" charset="-122"/>
                <a:cs typeface="Calibri" pitchFamily="34" charset="-120"/>
              </a:rPr>
              <a:t>do</a:t>
            </a:r>
            <a:r>
              <a:rPr lang="en-GB" dirty="0">
                <a:solidFill>
                  <a:srgbClr val="9CA3B8"/>
                </a:solidFill>
                <a:latin typeface="Calibri" pitchFamily="34" charset="0"/>
                <a:ea typeface="Calibri" pitchFamily="34" charset="-122"/>
                <a:cs typeface="Calibri" pitchFamily="34" charset="-120"/>
              </a:rPr>
              <a:t>: describe the landscape honestly — most songs exist in silence</a:t>
            </a:r>
            <a:endParaRPr lang="en-US" dirty="0"/>
          </a:p>
        </p:txBody>
      </p:sp>
    </p:spTree>
    <p:extLst>
      <p:ext uri="{BB962C8B-B14F-4D97-AF65-F5344CB8AC3E}">
        <p14:creationId xmlns:p14="http://schemas.microsoft.com/office/powerpoint/2010/main" val="103578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E0E16"/>
        </a:solidFill>
        <a:effectLst/>
      </p:bgPr>
    </p:bg>
    <p:spTree>
      <p:nvGrpSpPr>
        <p:cNvPr id="1" name=""/>
        <p:cNvGrpSpPr/>
        <p:nvPr/>
      </p:nvGrpSpPr>
      <p:grpSpPr>
        <a:xfrm>
          <a:off x="0" y="0"/>
          <a:ext cx="0" cy="0"/>
          <a:chOff x="0" y="0"/>
          <a:chExt cx="0" cy="0"/>
        </a:xfrm>
      </p:grpSpPr>
      <p:sp>
        <p:nvSpPr>
          <p:cNvPr id="2" name="Shape 0"/>
          <p:cNvSpPr/>
          <p:nvPr/>
        </p:nvSpPr>
        <p:spPr>
          <a:xfrm>
            <a:off x="-1097280" y="-731520"/>
            <a:ext cx="5029200" cy="4114800"/>
          </a:xfrm>
          <a:prstGeom prst="ellipse">
            <a:avLst/>
          </a:prstGeom>
          <a:solidFill>
            <a:srgbClr val="1DB954">
              <a:alpha val="10000"/>
            </a:srgbClr>
          </a:solidFill>
          <a:ln w="12700">
            <a:solidFill>
              <a:srgbClr val="1DB954"/>
            </a:solidFill>
            <a:prstDash val="solid"/>
          </a:ln>
        </p:spPr>
        <p:txBody>
          <a:bodyPr/>
          <a:lstStyle/>
          <a:p>
            <a:endParaRPr lang="de-CH"/>
          </a:p>
        </p:txBody>
      </p:sp>
      <p:sp>
        <p:nvSpPr>
          <p:cNvPr id="3" name="Shape 1"/>
          <p:cNvSpPr/>
          <p:nvPr/>
        </p:nvSpPr>
        <p:spPr>
          <a:xfrm>
            <a:off x="6400800" y="-731520"/>
            <a:ext cx="4572000" cy="3657600"/>
          </a:xfrm>
          <a:prstGeom prst="ellipse">
            <a:avLst/>
          </a:prstGeom>
          <a:solidFill>
            <a:srgbClr val="9B5DE5">
              <a:alpha val="10000"/>
            </a:srgbClr>
          </a:solidFill>
          <a:ln w="12700">
            <a:solidFill>
              <a:srgbClr val="9B5DE5"/>
            </a:solidFill>
            <a:prstDash val="solid"/>
          </a:ln>
        </p:spPr>
        <p:txBody>
          <a:bodyPr/>
          <a:lstStyle/>
          <a:p>
            <a:endParaRPr lang="de-CH"/>
          </a:p>
        </p:txBody>
      </p:sp>
      <p:sp>
        <p:nvSpPr>
          <p:cNvPr id="4" name="Shape 2"/>
          <p:cNvSpPr/>
          <p:nvPr/>
        </p:nvSpPr>
        <p:spPr>
          <a:xfrm>
            <a:off x="1417320" y="512064"/>
            <a:ext cx="6309360" cy="2980944"/>
          </a:xfrm>
          <a:prstGeom prst="rect">
            <a:avLst/>
          </a:prstGeom>
          <a:solidFill>
            <a:srgbClr val="1C1C28"/>
          </a:solidFill>
          <a:ln w="9525">
            <a:solidFill>
              <a:srgbClr val="2E2E42"/>
            </a:solidFill>
            <a:prstDash val="solid"/>
          </a:ln>
        </p:spPr>
        <p:txBody>
          <a:bodyPr/>
          <a:lstStyle/>
          <a:p>
            <a:endParaRPr lang="de-CH"/>
          </a:p>
        </p:txBody>
      </p:sp>
      <p:sp>
        <p:nvSpPr>
          <p:cNvPr id="5" name="Shape 3"/>
          <p:cNvSpPr/>
          <p:nvPr/>
        </p:nvSpPr>
        <p:spPr>
          <a:xfrm>
            <a:off x="4215384" y="786384"/>
            <a:ext cx="713232" cy="713232"/>
          </a:xfrm>
          <a:prstGeom prst="ellipse">
            <a:avLst/>
          </a:prstGeom>
          <a:solidFill>
            <a:srgbClr val="1DB954"/>
          </a:solidFill>
          <a:ln w="12700">
            <a:solidFill>
              <a:srgbClr val="1DB954"/>
            </a:solidFill>
            <a:prstDash val="solid"/>
          </a:ln>
        </p:spPr>
        <p:txBody>
          <a:bodyPr/>
          <a:lstStyle/>
          <a:p>
            <a:endParaRPr lang="de-CH"/>
          </a:p>
        </p:txBody>
      </p:sp>
      <p:sp>
        <p:nvSpPr>
          <p:cNvPr id="6" name="Text 4"/>
          <p:cNvSpPr/>
          <p:nvPr/>
        </p:nvSpPr>
        <p:spPr>
          <a:xfrm>
            <a:off x="4215384" y="786384"/>
            <a:ext cx="713232" cy="713232"/>
          </a:xfrm>
          <a:prstGeom prst="rect">
            <a:avLst/>
          </a:prstGeom>
          <a:noFill/>
          <a:ln/>
        </p:spPr>
        <p:txBody>
          <a:bodyPr wrap="square" lIns="0" tIns="0" rIns="0" bIns="0" rtlCol="0" anchor="ctr"/>
          <a:lstStyle/>
          <a:p>
            <a:pPr marL="0" indent="0" algn="ctr">
              <a:buNone/>
            </a:pPr>
            <a:r>
              <a:rPr lang="en-US" sz="2200" dirty="0">
                <a:solidFill>
                  <a:srgbClr val="0E0E16"/>
                </a:solidFill>
              </a:rPr>
              <a:t>♪</a:t>
            </a:r>
            <a:endParaRPr lang="en-US" sz="2200" dirty="0"/>
          </a:p>
        </p:txBody>
      </p:sp>
      <p:sp>
        <p:nvSpPr>
          <p:cNvPr id="7" name="Text 5"/>
          <p:cNvSpPr/>
          <p:nvPr/>
        </p:nvSpPr>
        <p:spPr>
          <a:xfrm>
            <a:off x="1417320" y="1645920"/>
            <a:ext cx="6309360" cy="329184"/>
          </a:xfrm>
          <a:prstGeom prst="rect">
            <a:avLst/>
          </a:prstGeom>
          <a:noFill/>
          <a:ln/>
        </p:spPr>
        <p:txBody>
          <a:bodyPr wrap="square" rtlCol="0" anchor="ctr"/>
          <a:lstStyle/>
          <a:p>
            <a:pPr marL="0" indent="0" algn="ctr">
              <a:buNone/>
            </a:pPr>
            <a:r>
              <a:rPr lang="en-US" sz="1150" b="1" kern="0" spc="500" dirty="0">
                <a:solidFill>
                  <a:srgbClr val="1DB954"/>
                </a:solidFill>
                <a:latin typeface="Calibri" pitchFamily="34" charset="0"/>
                <a:ea typeface="Calibri" pitchFamily="34" charset="-122"/>
                <a:cs typeface="Calibri" pitchFamily="34" charset="-120"/>
              </a:rPr>
              <a:t>THANK YOU</a:t>
            </a:r>
            <a:endParaRPr lang="en-US" sz="1150" dirty="0"/>
          </a:p>
        </p:txBody>
      </p:sp>
      <p:sp>
        <p:nvSpPr>
          <p:cNvPr id="8" name="Text 6"/>
          <p:cNvSpPr/>
          <p:nvPr/>
        </p:nvSpPr>
        <p:spPr>
          <a:xfrm>
            <a:off x="1920240" y="2029968"/>
            <a:ext cx="5303520" cy="914400"/>
          </a:xfrm>
          <a:prstGeom prst="rect">
            <a:avLst/>
          </a:prstGeom>
          <a:noFill/>
          <a:ln/>
        </p:spPr>
        <p:txBody>
          <a:bodyPr wrap="square" rtlCol="0" anchor="ctr"/>
          <a:lstStyle/>
          <a:p>
            <a:pPr marL="0" indent="0" algn="ctr">
              <a:buNone/>
            </a:pPr>
            <a:r>
              <a:rPr lang="en-US" sz="2200" b="1" dirty="0">
                <a:solidFill>
                  <a:srgbClr val="F4F4F8"/>
                </a:solidFill>
                <a:latin typeface="Calibri" pitchFamily="34" charset="0"/>
                <a:ea typeface="Calibri" pitchFamily="34" charset="-122"/>
                <a:cs typeface="Calibri" pitchFamily="34" charset="-120"/>
              </a:rPr>
              <a:t>The data tells a </a:t>
            </a:r>
            <a:r>
              <a:rPr lang="en-US" sz="2200" b="1" dirty="0">
                <a:solidFill>
                  <a:srgbClr val="1ED760"/>
                </a:solidFill>
                <a:latin typeface="Calibri" pitchFamily="34" charset="0"/>
                <a:ea typeface="Calibri" pitchFamily="34" charset="-122"/>
                <a:cs typeface="Calibri" pitchFamily="34" charset="-120"/>
              </a:rPr>
              <a:t>consistent story</a:t>
            </a:r>
            <a:r>
              <a:rPr lang="en-US" sz="2200" b="1" dirty="0">
                <a:solidFill>
                  <a:srgbClr val="F4F4F8"/>
                </a:solidFill>
                <a:latin typeface="Calibri" pitchFamily="34" charset="0"/>
                <a:ea typeface="Calibri" pitchFamily="34" charset="-122"/>
                <a:cs typeface="Calibri" pitchFamily="34" charset="-120"/>
              </a:rPr>
              <a:t>,</a:t>
            </a:r>
            <a:endParaRPr lang="en-US" sz="2200" dirty="0"/>
          </a:p>
          <a:p>
            <a:pPr marL="0" indent="0" algn="ctr">
              <a:buNone/>
            </a:pPr>
            <a:r>
              <a:rPr lang="en-US" sz="2200" b="1" dirty="0">
                <a:solidFill>
                  <a:srgbClr val="F4F4F8"/>
                </a:solidFill>
                <a:latin typeface="Calibri" pitchFamily="34" charset="0"/>
                <a:ea typeface="Calibri" pitchFamily="34" charset="-122"/>
                <a:cs typeface="Calibri" pitchFamily="34" charset="-120"/>
              </a:rPr>
              <a:t>but not the one most people expect.</a:t>
            </a:r>
            <a:endParaRPr lang="en-US" sz="2200" dirty="0"/>
          </a:p>
        </p:txBody>
      </p:sp>
      <p:sp>
        <p:nvSpPr>
          <p:cNvPr id="10" name="Text 8"/>
          <p:cNvSpPr/>
          <p:nvPr/>
        </p:nvSpPr>
        <p:spPr>
          <a:xfrm>
            <a:off x="3200400" y="3072384"/>
            <a:ext cx="2743200" cy="420624"/>
          </a:xfrm>
          <a:prstGeom prst="rect">
            <a:avLst/>
          </a:prstGeom>
          <a:noFill/>
          <a:ln/>
        </p:spPr>
        <p:txBody>
          <a:bodyPr wrap="square" lIns="0" tIns="0" rIns="0" bIns="0" rtlCol="0" anchor="ctr"/>
          <a:lstStyle/>
          <a:p>
            <a:pPr marL="0" indent="0" algn="ctr">
              <a:buNone/>
            </a:pPr>
            <a:r>
              <a:rPr lang="en-US" sz="1200" b="1" dirty="0">
                <a:solidFill>
                  <a:srgbClr val="0E0E16"/>
                </a:solidFill>
                <a:latin typeface="Calibri" pitchFamily="34" charset="0"/>
                <a:ea typeface="Calibri" pitchFamily="34" charset="-122"/>
                <a:cs typeface="Calibri" pitchFamily="34" charset="-120"/>
              </a:rPr>
              <a:t>Open the data story →</a:t>
            </a:r>
            <a:endParaRPr lang="en-US" sz="1200" dirty="0"/>
          </a:p>
        </p:txBody>
      </p:sp>
      <p:sp>
        <p:nvSpPr>
          <p:cNvPr id="11" name="Text 9"/>
          <p:cNvSpPr/>
          <p:nvPr/>
        </p:nvSpPr>
        <p:spPr>
          <a:xfrm>
            <a:off x="1417320" y="3621024"/>
            <a:ext cx="6309360" cy="274320"/>
          </a:xfrm>
          <a:prstGeom prst="rect">
            <a:avLst/>
          </a:prstGeom>
          <a:noFill/>
          <a:ln/>
        </p:spPr>
        <p:txBody>
          <a:bodyPr wrap="square" rtlCol="0" anchor="ctr"/>
          <a:lstStyle/>
          <a:p>
            <a:pPr marL="0" indent="0" algn="ctr">
              <a:buNone/>
            </a:pP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44C7259-49F7-F75C-683C-588EE75E0688}"/>
              </a:ext>
            </a:extLst>
          </p:cNvPr>
          <p:cNvSpPr>
            <a:spLocks noGrp="1"/>
          </p:cNvSpPr>
          <p:nvPr>
            <p:ph type="title"/>
          </p:nvPr>
        </p:nvSpPr>
        <p:spPr/>
        <p:txBody>
          <a:bodyPr/>
          <a:lstStyle/>
          <a:p>
            <a:r>
              <a:rPr lang="en-GB" dirty="0">
                <a:latin typeface="+mn-lt"/>
              </a:rPr>
              <a:t>References</a:t>
            </a:r>
            <a:endParaRPr lang="de-CH" dirty="0">
              <a:latin typeface="+mn-lt"/>
            </a:endParaRPr>
          </a:p>
        </p:txBody>
      </p:sp>
      <p:sp>
        <p:nvSpPr>
          <p:cNvPr id="5" name="Inhaltsplatzhalter 4">
            <a:extLst>
              <a:ext uri="{FF2B5EF4-FFF2-40B4-BE49-F238E27FC236}">
                <a16:creationId xmlns:a16="http://schemas.microsoft.com/office/drawing/2014/main" id="{9C635FDF-AD03-B4FB-2643-7ACFB10F2C80}"/>
              </a:ext>
            </a:extLst>
          </p:cNvPr>
          <p:cNvSpPr txBox="1">
            <a:spLocks noGrp="1"/>
          </p:cNvSpPr>
          <p:nvPr>
            <p:ph idx="1"/>
          </p:nvPr>
        </p:nvSpPr>
        <p:spPr>
          <a:xfrm>
            <a:off x="628650" y="1370013"/>
            <a:ext cx="7429834" cy="1895904"/>
          </a:xfrm>
          <a:prstGeom prst="rect">
            <a:avLst/>
          </a:prstGeom>
          <a:noFill/>
        </p:spPr>
        <p:txBody>
          <a:bodyPr wrap="square" rtlCol="0">
            <a:spAutoFit/>
          </a:bodyPr>
          <a:lstStyle/>
          <a:p>
            <a:r>
              <a:rPr lang="de-CH" sz="1800" dirty="0"/>
              <a:t>[1] </a:t>
            </a:r>
            <a:r>
              <a:rPr lang="de-CH" sz="1800" dirty="0">
                <a:hlinkClick r:id="rId2"/>
              </a:rPr>
              <a:t>https://www.magnific.com/premium-photo/young-girl-student-smiling-against-university_5670223.html</a:t>
            </a:r>
            <a:endParaRPr lang="de-CH" sz="1800" dirty="0"/>
          </a:p>
          <a:p>
            <a:r>
              <a:rPr lang="de-CH" sz="1800" dirty="0"/>
              <a:t>[2] </a:t>
            </a:r>
            <a:r>
              <a:rPr lang="de-CH" sz="1800" dirty="0">
                <a:hlinkClick r:id="rId3"/>
              </a:rPr>
              <a:t>https://www.digitalmusicnews.com/2021/10/29/how-to-record-music-at-home/</a:t>
            </a:r>
            <a:endParaRPr lang="de-CH" sz="1800" dirty="0"/>
          </a:p>
          <a:p>
            <a:r>
              <a:rPr lang="de-CH" sz="1800" dirty="0"/>
              <a:t>Icons: From </a:t>
            </a:r>
            <a:r>
              <a:rPr lang="de-CH" sz="1800" dirty="0" err="1"/>
              <a:t>Powerpoint</a:t>
            </a:r>
            <a:endParaRPr lang="de-CH" sz="1800" dirty="0"/>
          </a:p>
          <a:p>
            <a:endParaRPr lang="de-CH" sz="1800" dirty="0"/>
          </a:p>
        </p:txBody>
      </p:sp>
    </p:spTree>
    <p:extLst>
      <p:ext uri="{BB962C8B-B14F-4D97-AF65-F5344CB8AC3E}">
        <p14:creationId xmlns:p14="http://schemas.microsoft.com/office/powerpoint/2010/main" val="1939629204"/>
      </p:ext>
    </p:extLst>
  </p:cSld>
  <p:clrMapOvr>
    <a:masterClrMapping/>
  </p:clrMapOvr>
</p:sld>
</file>

<file path=ppt/theme/theme1.xml><?xml version="1.0" encoding="utf-8"?>
<a:theme xmlns:a="http://schemas.openxmlformats.org/drawingml/2006/main" name="Office 2013 – 2022-Design">
  <a:themeElements>
    <a:clrScheme name="Office 2013 – 2022-Design">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Design">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Desig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1512</Words>
  <Application>Microsoft Office PowerPoint</Application>
  <PresentationFormat>Bildschirmpräsentation (16:9)</PresentationFormat>
  <Paragraphs>163</Paragraphs>
  <Slides>14</Slides>
  <Notes>13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Calibri Light</vt:lpstr>
      <vt:lpstr>Office 2013 – 2022-Design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Data Story</dc:title>
  <dc:subject>PptxGenJS Presentation</dc:subject>
  <dc:creator>PptxGenJS</dc:creator>
  <cp:lastModifiedBy>Zambroni Angelina (zambrang)</cp:lastModifiedBy>
  <cp:revision>4</cp:revision>
  <dcterms:created xsi:type="dcterms:W3CDTF">2026-05-27T13:28:44Z</dcterms:created>
  <dcterms:modified xsi:type="dcterms:W3CDTF">2026-05-27T14:25:40Z</dcterms:modified>
</cp:coreProperties>
</file>